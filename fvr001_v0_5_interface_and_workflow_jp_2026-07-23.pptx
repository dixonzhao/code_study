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46f0bc3c04a39" /><Relationship Type="http://schemas.openxmlformats.org/officeDocument/2006/relationships/extended-properties" Target="/docProps/app.xml" Id="R8e6e18a383274ff9" /><Relationship Type="http://schemas.openxmlformats.org/officeDocument/2006/relationships/officeDocument" Target="/ppt/presentation.xml" Id="Rccd8eef205d440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b2816c2874968"/>
  </p:sldMasterIdLst>
  <p:notesMasterIdLst>
    <p:notesMasterId xmlns:r="http://schemas.openxmlformats.org/officeDocument/2006/relationships" r:id="R492c9863fd074184"/>
  </p:notesMasterIdLst>
  <p:sldIdLst>
    <p:sldId xmlns:r="http://schemas.openxmlformats.org/officeDocument/2006/relationships" id="256" r:id="R430df95df3aa459b"/>
    <p:sldId xmlns:r="http://schemas.openxmlformats.org/officeDocument/2006/relationships" id="257" r:id="R93539b3f20ea4a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975fa856e4fed" /><Relationship Type="http://schemas.openxmlformats.org/officeDocument/2006/relationships/slideMaster" Target="/ppt/slideMasters/slideMaster1.xml" Id="Rae2b2816c2874968" /><Relationship Type="http://schemas.openxmlformats.org/officeDocument/2006/relationships/notesMaster" Target="/ppt/notesMasters/notesMaster1.xml" Id="R492c9863fd074184" /><Relationship Type="http://schemas.openxmlformats.org/officeDocument/2006/relationships/presProps" Target="/ppt/presProps.xml" Id="R4bd871b877f94b5d" /><Relationship Type="http://schemas.openxmlformats.org/officeDocument/2006/relationships/tableStyles" Target="/ppt/tableStyles.xml" Id="Rd9c8ab3f48c54602" /><Relationship Type="http://schemas.openxmlformats.org/officeDocument/2006/relationships/slide" Target="/ppt/slides/slide1.xml" Id="R430df95df3aa459b" /><Relationship Type="http://schemas.openxmlformats.org/officeDocument/2006/relationships/slide" Target="/ppt/slides/slide2.xml" Id="R93539b3f20ea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34a4c0fc3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c4db02e8549c3" /><Relationship Type="http://schemas.openxmlformats.org/officeDocument/2006/relationships/notesMaster" Target="/ppt/notesMasters/notesMaster1.xml" Id="R4bdf0d68d3504e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655adbcee45db" /><Relationship Type="http://schemas.openxmlformats.org/officeDocument/2006/relationships/notesMaster" Target="/ppt/notesMasters/notesMaster1.xml" Id="Ra2f6c4c371ea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86771f20d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11a23f96b4b53" /><Relationship Type="http://schemas.openxmlformats.org/officeDocument/2006/relationships/slideLayout" Target="/ppt/slideLayouts/slideLayout1.xml" Id="Rb977eb8aa9f9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77eb8aa9f9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9946f7ce47ae" /><Relationship Type="http://schemas.openxmlformats.org/officeDocument/2006/relationships/notesSlide" Target="/ppt/notesSlides/notesSlide1.xml" Id="R811718d34915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a9961e9f7436e" /><Relationship Type="http://schemas.openxmlformats.org/officeDocument/2006/relationships/notesSlide" Target="/ppt/notesSlides/notesSlide2.xml" Id="R17e1729525ce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27287-4BAA-4C94-8585-784CA74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FVR001 v0.5は映像・CAN確認を左右2ウィンドウで連携する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33D682-1249-4399-A8E9-FAFE6F7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候補区間への移動、Frame単位確認、Lag補正、Review記録、Plot用CSV出力を連続して実施</a:t>
            </a:r>
          </a:p>
        </p:txBody>
      </p:sp>
      <p:sp>
        <p:nvSpPr>
          <p:cNvPr id="3" name="screenshot-heading">
            <a:extLst xmlns:a="http://schemas.openxmlformats.org/drawingml/2006/main">
              <a:ext uri="{FF2B5EF4-FFF2-40B4-BE49-F238E27FC236}">
                <a16:creationId xmlns:a16="http://schemas.microsoft.com/office/drawing/2014/main" id="{5F06AB27-C098-4F7F-BFC2-030EF72D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実画面と主要機能</a:t>
            </a:r>
          </a:p>
        </p:txBody>
      </p:sp>
      <p:sp>
        <p:nvSpPr>
          <p:cNvPr id="4" name="main-window-placeholder">
            <a:extLst xmlns:a="http://schemas.openxmlformats.org/drawingml/2006/main">
              <a:ext uri="{FF2B5EF4-FFF2-40B4-BE49-F238E27FC236}">
                <a16:creationId xmlns:a16="http://schemas.microsoft.com/office/drawing/2014/main" id="{BA5E2A15-6121-476A-9A13-FB52E389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619750" cy="2667000"/>
          </a:xfrm>
          <a:prstGeom xmlns:a="http://schemas.openxmlformats.org/drawingml/2006/main" prst="roundRect">
            <a:avLst>
              <a:gd name="adj" fmla="val 1374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" name="can-window-placeholder">
            <a:extLst xmlns:a="http://schemas.openxmlformats.org/drawingml/2006/main">
              <a:ext uri="{FF2B5EF4-FFF2-40B4-BE49-F238E27FC236}">
                <a16:creationId xmlns:a16="http://schemas.microsoft.com/office/drawing/2014/main" id="{CEC8D656-06A8-40B5-8306-D0373A9F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619750" cy="2667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" name="main-window-header">
            <a:extLst xmlns:a="http://schemas.openxmlformats.org/drawingml/2006/main">
              <a:ext uri="{FF2B5EF4-FFF2-40B4-BE49-F238E27FC236}">
                <a16:creationId xmlns:a16="http://schemas.microsoft.com/office/drawing/2014/main" id="{577D3830-7922-4F57-A7D2-1B122B6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619750" cy="2857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1F4E78"/>
            </a:solidFill>
            <a:prstDash val="solid"/>
          </a:ln>
        </p:spPr>
      </p:sp>
      <p:sp>
        <p:nvSpPr>
          <p:cNvPr id="7" name="can-window-header">
            <a:extLst xmlns:a="http://schemas.openxmlformats.org/drawingml/2006/main">
              <a:ext uri="{FF2B5EF4-FFF2-40B4-BE49-F238E27FC236}">
                <a16:creationId xmlns:a16="http://schemas.microsoft.com/office/drawing/2014/main" id="{4C6AE81A-A87C-47A8-BD62-CB2F265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619750" cy="2857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1F4E78"/>
            </a:solidFill>
            <a:prstDash val="solid"/>
          </a:ln>
        </p:spPr>
      </p:sp>
      <p:sp>
        <p:nvSpPr>
          <p:cNvPr id="8" name="main-window-label">
            <a:extLst xmlns:a="http://schemas.openxmlformats.org/drawingml/2006/main">
              <a:ext uri="{FF2B5EF4-FFF2-40B4-BE49-F238E27FC236}">
                <a16:creationId xmlns:a16="http://schemas.microsoft.com/office/drawing/2014/main" id="{C6F4B2B3-671A-4E7B-8170-05C38221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90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Main Window：動画・Event・Review操作</a:t>
            </a:r>
          </a:p>
        </p:txBody>
      </p:sp>
      <p:sp>
        <p:nvSpPr>
          <p:cNvPr id="9" name="can-window-label">
            <a:extLst xmlns:a="http://schemas.openxmlformats.org/drawingml/2006/main">
              <a:ext uri="{FF2B5EF4-FFF2-40B4-BE49-F238E27FC236}">
                <a16:creationId xmlns:a16="http://schemas.microsoft.com/office/drawing/2014/main" id="{F6600678-306F-476B-A9A9-7AB597F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90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CAN Window：同期表・Lag・Plot CSV</a:t>
            </a:r>
          </a:p>
        </p:txBody>
      </p:sp>
      <p:sp>
        <p:nvSpPr>
          <p:cNvPr id="10" name="main-placeholder-note">
            <a:extLst xmlns:a="http://schemas.openxmlformats.org/drawingml/2006/main">
              <a:ext uri="{FF2B5EF4-FFF2-40B4-BE49-F238E27FC236}">
                <a16:creationId xmlns:a16="http://schemas.microsoft.com/office/drawing/2014/main" id="{684AD75F-67B0-4B89-B599-8AC64662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ここにMain Windowの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実画面キャプチャを貼付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貼付後は画像を最背面へ移動</a:t>
            </a:r>
          </a:p>
        </p:txBody>
      </p:sp>
      <p:sp>
        <p:nvSpPr>
          <p:cNvPr id="11" name="can-placeholder-note">
            <a:extLst xmlns:a="http://schemas.openxmlformats.org/drawingml/2006/main">
              <a:ext uri="{FF2B5EF4-FFF2-40B4-BE49-F238E27FC236}">
                <a16:creationId xmlns:a16="http://schemas.microsoft.com/office/drawing/2014/main" id="{1FA5E57C-3A26-4694-93A0-FE7FFCB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ここにCAN Windowの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実画面キャプチャを貼付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貼付後は画像を最背面へ移動</a:t>
            </a:r>
          </a:p>
        </p:txBody>
      </p:sp>
      <p:sp>
        <p:nvSpPr>
          <p:cNvPr id="16" name="callout-1">
            <a:extLst xmlns:a="http://schemas.openxmlformats.org/drawingml/2006/main">
              <a:ext uri="{FF2B5EF4-FFF2-40B4-BE49-F238E27FC236}">
                <a16:creationId xmlns:a16="http://schemas.microsoft.com/office/drawing/2014/main" id="{1FE13BA5-9449-4CF9-A57F-EABD32A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81500"/>
            <a:ext cx="2714625" cy="619125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7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3A9A6C97-9ADE-4848-8D6A-AD28F7F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1. 候補区間へ移動</a:t>
            </a:r>
          </a:p>
        </p:txBody>
      </p:sp>
      <p:sp>
        <p:nvSpPr>
          <p:cNvPr id="18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C8D15584-FC8A-487E-8112-8C2ADFE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76775"/>
            <a:ext cx="2486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Event IDから対象区間を検索</a:t>
            </a:r>
          </a:p>
        </p:txBody>
      </p:sp>
      <p:sp>
        <p:nvSpPr>
          <p:cNvPr id="19" name="callout-2">
            <a:extLst xmlns:a="http://schemas.openxmlformats.org/drawingml/2006/main">
              <a:ext uri="{FF2B5EF4-FFF2-40B4-BE49-F238E27FC236}">
                <a16:creationId xmlns:a16="http://schemas.microsoft.com/office/drawing/2014/main" id="{1F51C7FD-1776-4BFA-81CE-41F323E0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81500"/>
            <a:ext cx="2714625" cy="619125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D12AF5C7-766D-49A1-8513-35BF9E1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29125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2. FrameCountへ直接移動</a:t>
            </a:r>
          </a:p>
        </p:txBody>
      </p:sp>
      <p:sp>
        <p:nvSpPr>
          <p:cNvPr id="21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A2CA2ED9-F38F-459B-999E-3C32C46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76775"/>
            <a:ext cx="2486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指定CAN FrameCountへJump</a:t>
            </a:r>
          </a:p>
        </p:txBody>
      </p:sp>
      <p:sp>
        <p:nvSpPr>
          <p:cNvPr id="22" name="callout-3">
            <a:extLst xmlns:a="http://schemas.openxmlformats.org/drawingml/2006/main">
              <a:ext uri="{FF2B5EF4-FFF2-40B4-BE49-F238E27FC236}">
                <a16:creationId xmlns:a16="http://schemas.microsoft.com/office/drawing/2014/main" id="{315C9915-DB48-4CDA-88DA-97A14ADD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0"/>
            <a:ext cx="2714625" cy="619125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E9D66BB9-F3F5-4971-BFC8-7E1B5A6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3. 動画を精密確認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98B3F44E-89A6-4195-A320-F0251AE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38775"/>
            <a:ext cx="2486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1 Frame・速度変更・Event Loop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B68A3C0D-94CC-44E8-9439-479FFC9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43500"/>
            <a:ext cx="2714625" cy="619125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D2E7BFFB-7575-49B4-B2E8-A067623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91125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4. Event / Reviewを記録</a:t>
            </a:r>
          </a:p>
        </p:txBody>
      </p:sp>
      <p:sp>
        <p:nvSpPr>
          <p:cNvPr id="27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1C9CF76A-7FB5-405B-9AD1-26DF6C4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438775"/>
            <a:ext cx="2486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Event追加・Code・短いMemo</a:t>
            </a:r>
          </a:p>
        </p:txBody>
      </p:sp>
      <p:sp>
        <p:nvSpPr>
          <p:cNvPr id="33" name="pipeline-candidate">
            <a:extLst xmlns:a="http://schemas.openxmlformats.org/drawingml/2006/main">
              <a:ext uri="{FF2B5EF4-FFF2-40B4-BE49-F238E27FC236}">
                <a16:creationId xmlns:a16="http://schemas.microsoft.com/office/drawing/2014/main" id="{5D72DA6F-15E4-4812-8845-64A4B3A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714625" cy="619125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5. CAN同期表示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Review Data CSVの列を自動読込</a:t>
            </a:r>
          </a:p>
        </p:txBody>
      </p:sp>
      <p:sp>
        <p:nvSpPr>
          <p:cNvPr id="34" name="pipeline-fvr">
            <a:extLst xmlns:a="http://schemas.openxmlformats.org/drawingml/2006/main">
              <a:ext uri="{FF2B5EF4-FFF2-40B4-BE49-F238E27FC236}">
                <a16:creationId xmlns:a16="http://schemas.microsoft.com/office/drawing/2014/main" id="{03ACC2D9-87F6-4B49-AF08-3449628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43500"/>
            <a:ext cx="2714625" cy="619125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1F4E78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8. Plot用CSVを1件出力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Before / Afterを別指定</a:t>
            </a:r>
          </a:p>
        </p:txBody>
      </p:sp>
      <p:sp>
        <p:nvSpPr>
          <p:cNvPr id="35" name="pipeline-review">
            <a:extLst xmlns:a="http://schemas.openxmlformats.org/drawingml/2006/main">
              <a:ext uri="{FF2B5EF4-FFF2-40B4-BE49-F238E27FC236}">
                <a16:creationId xmlns:a16="http://schemas.microsoft.com/office/drawing/2014/main" id="{05470982-1530-43BD-B397-96BD2AC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81500"/>
            <a:ext cx="2714625" cy="619125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6. 黄色行で現在位置を表示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前後Frameを同時に比較</a:t>
            </a:r>
          </a:p>
        </p:txBody>
      </p:sp>
      <p:sp>
        <p:nvSpPr>
          <p:cNvPr id="36" name="pipeline-update">
            <a:extLst xmlns:a="http://schemas.openxmlformats.org/drawingml/2006/main">
              <a:ext uri="{FF2B5EF4-FFF2-40B4-BE49-F238E27FC236}">
                <a16:creationId xmlns:a16="http://schemas.microsoft.com/office/drawing/2014/main" id="{1876F47E-99BE-42F0-BE7F-D04516D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2714625" cy="619125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7. Lag補正・表示範囲指定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Highlight offsetを切替</a:t>
            </a:r>
          </a:p>
        </p:txBody>
      </p:sp>
      <p:sp>
        <p:nvSpPr>
          <p:cNvPr id="42" name="main-line-1">
            <a:extLst xmlns:a="http://schemas.openxmlformats.org/drawingml/2006/main">
              <a:ext uri="{FF2B5EF4-FFF2-40B4-BE49-F238E27FC236}">
                <a16:creationId xmlns:a16="http://schemas.microsoft.com/office/drawing/2014/main" id="{535FD978-26F0-4C97-9FCC-05CC7B8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38313" y="2686050"/>
            <a:ext cx="3214688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43" name="main-marker-1">
            <a:extLst xmlns:a="http://schemas.openxmlformats.org/drawingml/2006/main">
              <a:ext uri="{FF2B5EF4-FFF2-40B4-BE49-F238E27FC236}">
                <a16:creationId xmlns:a16="http://schemas.microsoft.com/office/drawing/2014/main" id="{A732EAEE-6402-4E1B-829F-1DFFDE70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90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main-line-2">
            <a:extLst xmlns:a="http://schemas.openxmlformats.org/drawingml/2006/main">
              <a:ext uri="{FF2B5EF4-FFF2-40B4-BE49-F238E27FC236}">
                <a16:creationId xmlns:a16="http://schemas.microsoft.com/office/drawing/2014/main" id="{AF87F035-FAAB-455D-8BDF-73FF26A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48188" y="2352675"/>
            <a:ext cx="671513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45" name="main-marker-2">
            <a:extLst xmlns:a="http://schemas.openxmlformats.org/drawingml/2006/main">
              <a:ext uri="{FF2B5EF4-FFF2-40B4-BE49-F238E27FC236}">
                <a16:creationId xmlns:a16="http://schemas.microsoft.com/office/drawing/2014/main" id="{1151ED37-AB4C-4006-A204-9F0FC59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57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main-line-3">
            <a:extLst xmlns:a="http://schemas.openxmlformats.org/drawingml/2006/main">
              <a:ext uri="{FF2B5EF4-FFF2-40B4-BE49-F238E27FC236}">
                <a16:creationId xmlns:a16="http://schemas.microsoft.com/office/drawing/2014/main" id="{BEC232BA-49ED-4963-A676-5870B6E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38313" y="3781425"/>
            <a:ext cx="690563" cy="1362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47" name="main-marker-3">
            <a:extLst xmlns:a="http://schemas.openxmlformats.org/drawingml/2006/main">
              <a:ext uri="{FF2B5EF4-FFF2-40B4-BE49-F238E27FC236}">
                <a16:creationId xmlns:a16="http://schemas.microsoft.com/office/drawing/2014/main" id="{C90ADF1D-F50F-4507-9BCE-CA999085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86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main-line-4">
            <a:extLst xmlns:a="http://schemas.openxmlformats.org/drawingml/2006/main">
              <a:ext uri="{FF2B5EF4-FFF2-40B4-BE49-F238E27FC236}">
                <a16:creationId xmlns:a16="http://schemas.microsoft.com/office/drawing/2014/main" id="{ABE52516-2BCB-40AF-8D81-549A2CBB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48188" y="3695700"/>
            <a:ext cx="547688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49" name="main-marker-4">
            <a:extLst xmlns:a="http://schemas.openxmlformats.org/drawingml/2006/main">
              <a:ext uri="{FF2B5EF4-FFF2-40B4-BE49-F238E27FC236}">
                <a16:creationId xmlns:a16="http://schemas.microsoft.com/office/drawing/2014/main" id="{D601CC8B-D162-49E2-A6D4-5D862AB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can-line-5">
            <a:extLst xmlns:a="http://schemas.openxmlformats.org/drawingml/2006/main">
              <a:ext uri="{FF2B5EF4-FFF2-40B4-BE49-F238E27FC236}">
                <a16:creationId xmlns:a16="http://schemas.microsoft.com/office/drawing/2014/main" id="{FB245EF7-695A-448D-B552-9C14EA40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810375" y="1857375"/>
            <a:ext cx="738188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51" name="can-marker-5">
            <a:extLst xmlns:a="http://schemas.openxmlformats.org/drawingml/2006/main">
              <a:ext uri="{FF2B5EF4-FFF2-40B4-BE49-F238E27FC236}">
                <a16:creationId xmlns:a16="http://schemas.microsoft.com/office/drawing/2014/main" id="{461B18C4-3FED-4ADE-9C13-5ED128D2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2" name="can-line-6">
            <a:extLst xmlns:a="http://schemas.openxmlformats.org/drawingml/2006/main">
              <a:ext uri="{FF2B5EF4-FFF2-40B4-BE49-F238E27FC236}">
                <a16:creationId xmlns:a16="http://schemas.microsoft.com/office/drawing/2014/main" id="{4C5F0E04-A160-4EEF-9503-73EF213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239250" y="3371850"/>
            <a:ext cx="1119188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53" name="can-marker-6">
            <a:extLst xmlns:a="http://schemas.openxmlformats.org/drawingml/2006/main">
              <a:ext uri="{FF2B5EF4-FFF2-40B4-BE49-F238E27FC236}">
                <a16:creationId xmlns:a16="http://schemas.microsoft.com/office/drawing/2014/main" id="{305B8CB0-DB7A-43EE-B5B7-828E4DC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4" name="can-line-7">
            <a:extLst xmlns:a="http://schemas.openxmlformats.org/drawingml/2006/main">
              <a:ext uri="{FF2B5EF4-FFF2-40B4-BE49-F238E27FC236}">
                <a16:creationId xmlns:a16="http://schemas.microsoft.com/office/drawing/2014/main" id="{E25FCC63-055A-42EB-86E6-385662BF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548563" y="2305050"/>
            <a:ext cx="785813" cy="2838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55" name="can-marker-7">
            <a:extLst xmlns:a="http://schemas.openxmlformats.org/drawingml/2006/main">
              <a:ext uri="{FF2B5EF4-FFF2-40B4-BE49-F238E27FC236}">
                <a16:creationId xmlns:a16="http://schemas.microsoft.com/office/drawing/2014/main" id="{C84D3B4D-5EC2-4115-BC9A-BC20D4D2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6" name="can-line-8">
            <a:extLst xmlns:a="http://schemas.openxmlformats.org/drawingml/2006/main">
              <a:ext uri="{FF2B5EF4-FFF2-40B4-BE49-F238E27FC236}">
                <a16:creationId xmlns:a16="http://schemas.microsoft.com/office/drawing/2014/main" id="{676F56EC-4F4B-4089-920F-DD6318B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358438" y="2628900"/>
            <a:ext cx="71438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F8C99"/>
            </a:solidFill>
            <a:prstDash val="solid"/>
          </a:ln>
        </p:spPr>
      </p:sp>
      <p:sp>
        <p:nvSpPr>
          <p:cNvPr id="57" name="can-marker-8">
            <a:extLst xmlns:a="http://schemas.openxmlformats.org/drawingml/2006/main">
              <a:ext uri="{FF2B5EF4-FFF2-40B4-BE49-F238E27FC236}">
                <a16:creationId xmlns:a16="http://schemas.microsoft.com/office/drawing/2014/main" id="{22354BEA-7DED-4DFE-BA1E-A33AB04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1806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27287-4BAA-4C94-8585-784CA74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FVR001 v0.5は候補抽出と報告作成をつなぐ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33D682-1249-4399-A8E9-FAFE6F7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自動抽出した候補をFrameCountで映像・CAN照合し、判断記録と報告用データへ変換</a:t>
            </a:r>
          </a:p>
        </p:txBody>
      </p:sp>
      <p:sp>
        <p:nvSpPr>
          <p:cNvPr id="16" name="callout-1">
            <a:extLst xmlns:a="http://schemas.openxmlformats.org/drawingml/2006/main">
              <a:ext uri="{FF2B5EF4-FFF2-40B4-BE49-F238E27FC236}">
                <a16:creationId xmlns:a16="http://schemas.microsoft.com/office/drawing/2014/main" id="{1FE13BA5-9449-4CF9-A57F-EABD32A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2286000" cy="2095500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7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3A9A6C97-9ADE-4848-8D6A-AD28F7F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1. 使用可能データを整理</a:t>
            </a:r>
          </a:p>
        </p:txBody>
      </p:sp>
      <p:sp>
        <p:nvSpPr>
          <p:cNvPr id="18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C8D15584-FC8A-487E-8112-8C2ADFE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1981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Raw CANをDecode / Clean。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FrameCount、Signal validity、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評価可能区間を確認し、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Analysis-ready dataを作成</a:t>
            </a:r>
          </a:p>
        </p:txBody>
      </p:sp>
      <p:sp>
        <p:nvSpPr>
          <p:cNvPr id="19" name="callout-2">
            <a:extLst xmlns:a="http://schemas.openxmlformats.org/drawingml/2006/main">
              <a:ext uri="{FF2B5EF4-FFF2-40B4-BE49-F238E27FC236}">
                <a16:creationId xmlns:a16="http://schemas.microsoft.com/office/drawing/2014/main" id="{1F51C7FD-1776-4BFA-81CE-41F323E0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286000" cy="2095500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D12AF5C7-766D-49A1-8513-35BF9E1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2. 候補を少数に圧縮</a:t>
            </a:r>
          </a:p>
        </p:txBody>
      </p:sp>
      <p:sp>
        <p:nvSpPr>
          <p:cNvPr id="21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A2CA2ED9-F38F-459B-999E-3C32C46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24225"/>
            <a:ext cx="1981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Residual、Rule、Event logicで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大量データをReview Windowへ圧縮。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この段階ではRoot Causeを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自動確定しない</a:t>
            </a:r>
          </a:p>
        </p:txBody>
      </p:sp>
      <p:sp>
        <p:nvSpPr>
          <p:cNvPr id="22" name="callout-3">
            <a:extLst xmlns:a="http://schemas.openxmlformats.org/drawingml/2006/main">
              <a:ext uri="{FF2B5EF4-FFF2-40B4-BE49-F238E27FC236}">
                <a16:creationId xmlns:a16="http://schemas.microsoft.com/office/drawing/2014/main" id="{315C9915-DB48-4CDA-88DA-97A14ADD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286000" cy="2095500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E9D66BB9-F3F5-4971-BFC8-7E1B5A6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3. 映像とCANで最終確認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98B3F44E-89A6-4195-A320-F0251AE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24225"/>
            <a:ext cx="1981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Event移動、Loop、1 Frame操作、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同期CAN表、Lag補正を使用。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Review Codeと短いMemoで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人の判断を残す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B68A3C0D-94CC-44E8-9439-479FFC9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2286000" cy="2095500"/>
          </a:xfrm>
          <a:prstGeom xmlns:a="http://schemas.openxmlformats.org/drawingml/2006/main" prst="roundRect">
            <a:avLst>
              <a:gd name="adj" fmla="val 60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D2E7BFFB-7575-49B4-B2E8-A067623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4E78"/>
                </a:solidFill>
                <a:latin typeface="Yu Gothic"/>
                <a:ea typeface="Yu Gothic"/>
                <a:cs typeface="Yu Gothic"/>
              </a:rPr>
              <a:t>4. 証拠を報告へ接続</a:t>
            </a:r>
          </a:p>
        </p:txBody>
      </p:sp>
      <p:sp>
        <p:nvSpPr>
          <p:cNvPr id="27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1C9CF76A-7FB5-405B-9AD1-26DF6C4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24225"/>
            <a:ext cx="1981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黄色行を中心に前後範囲を指定し、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Plot用CSVを1ファイル出力。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折れ線図・動画Captureと合わせて</a:t>
            </a:r>
          </a:p>
          <a:p xmlns:a="http://schemas.openxmlformats.org/drawingml/2006/main">
            <a:pPr>
              <a:buNone/>
              <a:defRPr sz="1200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Excel追加報告へ反映</a:t>
            </a:r>
          </a:p>
        </p:txBody>
      </p:sp>
      <p:sp>
        <p:nvSpPr>
          <p:cNvPr id="32" name="pipeline-heading">
            <a:extLst xmlns:a="http://schemas.openxmlformats.org/drawingml/2006/main">
              <a:ext uri="{FF2B5EF4-FFF2-40B4-BE49-F238E27FC236}">
                <a16:creationId xmlns:a16="http://schemas.microsoft.com/office/drawing/2014/main" id="{339113A9-82CA-4D45-80F4-52A3219E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分析チェーン全体</a:t>
            </a:r>
          </a:p>
        </p:txBody>
      </p:sp>
      <p:sp>
        <p:nvSpPr>
          <p:cNvPr id="33" name="pipeline-candidate">
            <a:extLst xmlns:a="http://schemas.openxmlformats.org/drawingml/2006/main">
              <a:ext uri="{FF2B5EF4-FFF2-40B4-BE49-F238E27FC236}">
                <a16:creationId xmlns:a16="http://schemas.microsoft.com/office/drawing/2014/main" id="{5D72DA6F-15E4-4812-8845-64A4B3A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81175"/>
            <a:ext cx="2095500" cy="6858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データ準備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Decode / Clean</a:t>
            </a:r>
          </a:p>
        </p:txBody>
      </p:sp>
      <p:sp>
        <p:nvSpPr>
          <p:cNvPr id="34" name="pipeline-fvr">
            <a:extLst xmlns:a="http://schemas.openxmlformats.org/drawingml/2006/main">
              <a:ext uri="{FF2B5EF4-FFF2-40B4-BE49-F238E27FC236}">
                <a16:creationId xmlns:a16="http://schemas.microsoft.com/office/drawing/2014/main" id="{03ACC2D9-87F6-4B49-AF08-3449628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81175"/>
            <a:ext cx="2095500" cy="6858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F4E78"/>
          </a:solidFill>
          <a:ln xmlns:a="http://schemas.openxmlformats.org/drawingml/2006/main" w="9525">
            <a:solidFill>
              <a:srgbClr val="1F4E78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FVR001 v0.5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Video + CAN Review</a:t>
            </a:r>
          </a:p>
        </p:txBody>
      </p:sp>
      <p:sp>
        <p:nvSpPr>
          <p:cNvPr id="35" name="pipeline-review">
            <a:extLst xmlns:a="http://schemas.openxmlformats.org/drawingml/2006/main">
              <a:ext uri="{FF2B5EF4-FFF2-40B4-BE49-F238E27FC236}">
                <a16:creationId xmlns:a16="http://schemas.microsoft.com/office/drawing/2014/main" id="{05470982-1530-43BD-B397-96BD2AC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81175"/>
            <a:ext cx="2095500" cy="6858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候補区間抽出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Residual / Rule</a:t>
            </a:r>
          </a:p>
        </p:txBody>
      </p:sp>
      <p:sp>
        <p:nvSpPr>
          <p:cNvPr id="36" name="pipeline-update">
            <a:extLst xmlns:a="http://schemas.openxmlformats.org/drawingml/2006/main">
              <a:ext uri="{FF2B5EF4-FFF2-40B4-BE49-F238E27FC236}">
                <a16:creationId xmlns:a16="http://schemas.microsoft.com/office/drawing/2014/main" id="{1876F47E-99BE-42F0-BE7F-D04516D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81175"/>
            <a:ext cx="2095500" cy="6858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報告・判断更新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22222"/>
                </a:solidFill>
                <a:latin typeface="Yu Gothic"/>
                <a:ea typeface="Yu Gothic"/>
                <a:cs typeface="Yu Gothic"/>
              </a:rPr>
              <a:t>Plot CSV / Evidence</a:t>
            </a:r>
          </a:p>
        </p:txBody>
      </p:sp>
      <p:sp>
        <p:nvSpPr>
          <p:cNvPr id="40" name="role-note">
            <a:extLst xmlns:a="http://schemas.openxmlformats.org/drawingml/2006/main">
              <a:ext uri="{FF2B5EF4-FFF2-40B4-BE49-F238E27FC236}">
                <a16:creationId xmlns:a16="http://schemas.microsoft.com/office/drawing/2014/main" id="{94924CA7-C964-4614-A0E4-48D847C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i="1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00" i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位置づけ：FVR001は自動判定器ではなく、「候補 → 映像・CAN証拠 → 人工判断 → 報告」をつなぐHuman-in-the-loop Tool</a:t>
            </a:r>
          </a:p>
        </p:txBody>
      </p:sp>
      <p:cxnSp>
        <p:nvCxnSpPr>
          <p:cNvPr id="65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590800" y="2124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35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372100" y="2124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153400" y="21240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761806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2026-07-23T07:05:20.5350000Z</dcterms:created>
  <dcterms:modified xsi:type="dcterms:W3CDTF">2026-07-23T07:05:20.5350000Z</dcterms:modified>
</coreProperties>
</file>