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1be9bea00741c8" /><Relationship Type="http://schemas.openxmlformats.org/officeDocument/2006/relationships/extended-properties" Target="/docProps/app.xml" Id="Rc9164b59d2b5498d" /><Relationship Type="http://schemas.openxmlformats.org/officeDocument/2006/relationships/officeDocument" Target="/ppt/presentation.xml" Id="Rdccd0a3d12964d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0ea40126b42ac"/>
  </p:sldMasterIdLst>
  <p:notesMasterIdLst>
    <p:notesMasterId xmlns:r="http://schemas.openxmlformats.org/officeDocument/2006/relationships" r:id="R65790ad42c2e4048"/>
  </p:notesMasterIdLst>
  <p:sldIdLst>
    <p:sldId xmlns:r="http://schemas.openxmlformats.org/officeDocument/2006/relationships" id="256" r:id="R3d9475c981cc4d6b"/>
    <p:sldId xmlns:r="http://schemas.openxmlformats.org/officeDocument/2006/relationships" id="257" r:id="R4bd66930080840c4"/>
    <p:sldId xmlns:r="http://schemas.openxmlformats.org/officeDocument/2006/relationships" id="258" r:id="R4cad590e93724316"/>
    <p:sldId xmlns:r="http://schemas.openxmlformats.org/officeDocument/2006/relationships" id="259" r:id="Rf6d8bce7e883423c"/>
    <p:sldId xmlns:r="http://schemas.openxmlformats.org/officeDocument/2006/relationships" id="260" r:id="Rea8cf7de900244da"/>
    <p:sldId xmlns:r="http://schemas.openxmlformats.org/officeDocument/2006/relationships" id="261" r:id="Rc457dba067f74e26"/>
    <p:sldId xmlns:r="http://schemas.openxmlformats.org/officeDocument/2006/relationships" id="262" r:id="Rf34628d8ffc04abd"/>
    <p:sldId xmlns:r="http://schemas.openxmlformats.org/officeDocument/2006/relationships" id="263" r:id="Rd8df906bc7ea4c45"/>
    <p:sldId xmlns:r="http://schemas.openxmlformats.org/officeDocument/2006/relationships" id="264" r:id="R5f0051552f4a4114"/>
    <p:sldId xmlns:r="http://schemas.openxmlformats.org/officeDocument/2006/relationships" id="265" r:id="R04939c990ab04f2e"/>
    <p:sldId xmlns:r="http://schemas.openxmlformats.org/officeDocument/2006/relationships" id="266" r:id="R3a06cb26a3fc4093"/>
    <p:sldId xmlns:r="http://schemas.openxmlformats.org/officeDocument/2006/relationships" id="267" r:id="Rf8a6c623a8f04f0c"/>
    <p:sldId xmlns:r="http://schemas.openxmlformats.org/officeDocument/2006/relationships" id="268" r:id="Ra1c48be4b12d4d10"/>
    <p:sldId xmlns:r="http://schemas.openxmlformats.org/officeDocument/2006/relationships" id="269" r:id="R7ced6cd64e54457e"/>
    <p:sldId xmlns:r="http://schemas.openxmlformats.org/officeDocument/2006/relationships" id="270" r:id="R566d50c0d5fd4f36"/>
    <p:sldId xmlns:r="http://schemas.openxmlformats.org/officeDocument/2006/relationships" id="271" r:id="R212b0260e6bf4da2"/>
    <p:sldId xmlns:r="http://schemas.openxmlformats.org/officeDocument/2006/relationships" id="272" r:id="R996a0655623d4dea"/>
    <p:sldId xmlns:r="http://schemas.openxmlformats.org/officeDocument/2006/relationships" id="273" r:id="R08d7fe626036425a"/>
    <p:sldId xmlns:r="http://schemas.openxmlformats.org/officeDocument/2006/relationships" id="274" r:id="Rb9698dd8d9404ff2"/>
    <p:sldId xmlns:r="http://schemas.openxmlformats.org/officeDocument/2006/relationships" id="275" r:id="R1e860b53e9754e49"/>
    <p:sldId xmlns:r="http://schemas.openxmlformats.org/officeDocument/2006/relationships" id="276" r:id="Rffb48eed6cce4c9b"/>
    <p:sldId xmlns:r="http://schemas.openxmlformats.org/officeDocument/2006/relationships" id="277" r:id="Rb6aa0ff8b59946e1"/>
    <p:sldId xmlns:r="http://schemas.openxmlformats.org/officeDocument/2006/relationships" id="278" r:id="R27cb002ac0984d4a"/>
    <p:sldId xmlns:r="http://schemas.openxmlformats.org/officeDocument/2006/relationships" id="279" r:id="R36c7f0c1e9b24a46"/>
    <p:sldId xmlns:r="http://schemas.openxmlformats.org/officeDocument/2006/relationships" id="280" r:id="Rba971b05fdf542ee"/>
    <p:sldId xmlns:r="http://schemas.openxmlformats.org/officeDocument/2006/relationships" id="281" r:id="R18cf122b062143ad"/>
    <p:sldId xmlns:r="http://schemas.openxmlformats.org/officeDocument/2006/relationships" id="282" r:id="R3b48d8c628734061"/>
    <p:sldId xmlns:r="http://schemas.openxmlformats.org/officeDocument/2006/relationships" id="283" r:id="R1026e59b0f7843b9"/>
    <p:sldId xmlns:r="http://schemas.openxmlformats.org/officeDocument/2006/relationships" id="284" r:id="R982e6605d08d42ce"/>
    <p:sldId xmlns:r="http://schemas.openxmlformats.org/officeDocument/2006/relationships" id="285" r:id="Raff9bbd972f44e7c"/>
    <p:sldId xmlns:r="http://schemas.openxmlformats.org/officeDocument/2006/relationships" id="286" r:id="R8894b50ba1204933"/>
    <p:sldId xmlns:r="http://schemas.openxmlformats.org/officeDocument/2006/relationships" id="287" r:id="R36382e2778b6466d"/>
    <p:sldId xmlns:r="http://schemas.openxmlformats.org/officeDocument/2006/relationships" id="288" r:id="R0c63e5de227d417f"/>
    <p:sldId xmlns:r="http://schemas.openxmlformats.org/officeDocument/2006/relationships" id="289" r:id="Ra7e42aee96274a4a"/>
    <p:sldId xmlns:r="http://schemas.openxmlformats.org/officeDocument/2006/relationships" id="290" r:id="Racaca60754b44b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aac4dfb8d40c4" /><Relationship Type="http://schemas.openxmlformats.org/officeDocument/2006/relationships/slideMaster" Target="/ppt/slideMasters/slideMaster1.xml" Id="R9230ea40126b42ac" /><Relationship Type="http://schemas.openxmlformats.org/officeDocument/2006/relationships/notesMaster" Target="/ppt/notesMasters/notesMaster1.xml" Id="R65790ad42c2e4048" /><Relationship Type="http://schemas.openxmlformats.org/officeDocument/2006/relationships/presProps" Target="/ppt/presProps.xml" Id="Rf1c1c050e85d4fae" /><Relationship Type="http://schemas.openxmlformats.org/officeDocument/2006/relationships/tableStyles" Target="/ppt/tableStyles.xml" Id="R78e4743775a9466b" /><Relationship Type="http://schemas.openxmlformats.org/officeDocument/2006/relationships/slide" Target="/ppt/slides/slide1.xml" Id="R3d9475c981cc4d6b" /><Relationship Type="http://schemas.openxmlformats.org/officeDocument/2006/relationships/slide" Target="/ppt/slides/slide2.xml" Id="R4bd66930080840c4" /><Relationship Type="http://schemas.openxmlformats.org/officeDocument/2006/relationships/slide" Target="/ppt/slides/slide3.xml" Id="R4cad590e93724316" /><Relationship Type="http://schemas.openxmlformats.org/officeDocument/2006/relationships/slide" Target="/ppt/slides/slide4.xml" Id="Rf6d8bce7e883423c" /><Relationship Type="http://schemas.openxmlformats.org/officeDocument/2006/relationships/slide" Target="/ppt/slides/slide5.xml" Id="Rea8cf7de900244da" /><Relationship Type="http://schemas.openxmlformats.org/officeDocument/2006/relationships/slide" Target="/ppt/slides/slide6.xml" Id="Rc457dba067f74e26" /><Relationship Type="http://schemas.openxmlformats.org/officeDocument/2006/relationships/slide" Target="/ppt/slides/slide7.xml" Id="Rf34628d8ffc04abd" /><Relationship Type="http://schemas.openxmlformats.org/officeDocument/2006/relationships/slide" Target="/ppt/slides/slide8.xml" Id="Rd8df906bc7ea4c45" /><Relationship Type="http://schemas.openxmlformats.org/officeDocument/2006/relationships/slide" Target="/ppt/slides/slide9.xml" Id="R5f0051552f4a4114" /><Relationship Type="http://schemas.openxmlformats.org/officeDocument/2006/relationships/slide" Target="/ppt/slides/slide10.xml" Id="R04939c990ab04f2e" /><Relationship Type="http://schemas.openxmlformats.org/officeDocument/2006/relationships/slide" Target="/ppt/slides/slide11.xml" Id="R3a06cb26a3fc4093" /><Relationship Type="http://schemas.openxmlformats.org/officeDocument/2006/relationships/slide" Target="/ppt/slides/slide12.xml" Id="Rf8a6c623a8f04f0c" /><Relationship Type="http://schemas.openxmlformats.org/officeDocument/2006/relationships/slide" Target="/ppt/slides/slide13.xml" Id="Ra1c48be4b12d4d10" /><Relationship Type="http://schemas.openxmlformats.org/officeDocument/2006/relationships/slide" Target="/ppt/slides/slide14.xml" Id="R7ced6cd64e54457e" /><Relationship Type="http://schemas.openxmlformats.org/officeDocument/2006/relationships/slide" Target="/ppt/slides/slide15.xml" Id="R566d50c0d5fd4f36" /><Relationship Type="http://schemas.openxmlformats.org/officeDocument/2006/relationships/slide" Target="/ppt/slides/slide16.xml" Id="R212b0260e6bf4da2" /><Relationship Type="http://schemas.openxmlformats.org/officeDocument/2006/relationships/slide" Target="/ppt/slides/slide17.xml" Id="R996a0655623d4dea" /><Relationship Type="http://schemas.openxmlformats.org/officeDocument/2006/relationships/slide" Target="/ppt/slides/slide18.xml" Id="R08d7fe626036425a" /><Relationship Type="http://schemas.openxmlformats.org/officeDocument/2006/relationships/slide" Target="/ppt/slides/slide19.xml" Id="Rb9698dd8d9404ff2" /><Relationship Type="http://schemas.openxmlformats.org/officeDocument/2006/relationships/slide" Target="/ppt/slides/slide20.xml" Id="R1e860b53e9754e49" /><Relationship Type="http://schemas.openxmlformats.org/officeDocument/2006/relationships/slide" Target="/ppt/slides/slide21.xml" Id="Rffb48eed6cce4c9b" /><Relationship Type="http://schemas.openxmlformats.org/officeDocument/2006/relationships/slide" Target="/ppt/slides/slide22.xml" Id="Rb6aa0ff8b59946e1" /><Relationship Type="http://schemas.openxmlformats.org/officeDocument/2006/relationships/slide" Target="/ppt/slides/slide23.xml" Id="R27cb002ac0984d4a" /><Relationship Type="http://schemas.openxmlformats.org/officeDocument/2006/relationships/slide" Target="/ppt/slides/slide24.xml" Id="R36c7f0c1e9b24a46" /><Relationship Type="http://schemas.openxmlformats.org/officeDocument/2006/relationships/slide" Target="/ppt/slides/slide25.xml" Id="Rba971b05fdf542ee" /><Relationship Type="http://schemas.openxmlformats.org/officeDocument/2006/relationships/slide" Target="/ppt/slides/slide26.xml" Id="R18cf122b062143ad" /><Relationship Type="http://schemas.openxmlformats.org/officeDocument/2006/relationships/slide" Target="/ppt/slides/slide27.xml" Id="R3b48d8c628734061" /><Relationship Type="http://schemas.openxmlformats.org/officeDocument/2006/relationships/slide" Target="/ppt/slides/slide28.xml" Id="R1026e59b0f7843b9" /><Relationship Type="http://schemas.openxmlformats.org/officeDocument/2006/relationships/slide" Target="/ppt/slides/slide29.xml" Id="R982e6605d08d42ce" /><Relationship Type="http://schemas.openxmlformats.org/officeDocument/2006/relationships/slide" Target="/ppt/slides/slide30.xml" Id="Raff9bbd972f44e7c" /><Relationship Type="http://schemas.openxmlformats.org/officeDocument/2006/relationships/slide" Target="/ppt/slides/slide31.xml" Id="R8894b50ba1204933" /><Relationship Type="http://schemas.openxmlformats.org/officeDocument/2006/relationships/slide" Target="/ppt/slides/slide32.xml" Id="R36382e2778b6466d" /><Relationship Type="http://schemas.openxmlformats.org/officeDocument/2006/relationships/slide" Target="/ppt/slides/slide33.xml" Id="R0c63e5de227d417f" /><Relationship Type="http://schemas.openxmlformats.org/officeDocument/2006/relationships/slide" Target="/ppt/slides/slide34.xml" Id="Ra7e42aee96274a4a" /><Relationship Type="http://schemas.openxmlformats.org/officeDocument/2006/relationships/slide" Target="/ppt/slides/slide35.xml" Id="Racaca60754b4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a3703f91344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dc8717bc6842bc" /><Relationship Type="http://schemas.openxmlformats.org/officeDocument/2006/relationships/notesMaster" Target="/ppt/notesMasters/notesMaster1.xml" Id="R176545d05bab4b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4afbab41a84247" /><Relationship Type="http://schemas.openxmlformats.org/officeDocument/2006/relationships/notesMaster" Target="/ppt/notesMasters/notesMaster1.xml" Id="R1ee7d61ff3f247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367a9f97f415b" /><Relationship Type="http://schemas.openxmlformats.org/officeDocument/2006/relationships/notesMaster" Target="/ppt/notesMasters/notesMaster1.xml" Id="Rd10cbd778a3444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2a71f11b6c4d79" /><Relationship Type="http://schemas.openxmlformats.org/officeDocument/2006/relationships/notesMaster" Target="/ppt/notesMasters/notesMaster1.xml" Id="Rf85681c7c0f5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637931ce5e49c2" /><Relationship Type="http://schemas.openxmlformats.org/officeDocument/2006/relationships/notesMaster" Target="/ppt/notesMasters/notesMaster1.xml" Id="R7960498356f74b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c567ee5e704ad3" /><Relationship Type="http://schemas.openxmlformats.org/officeDocument/2006/relationships/notesMaster" Target="/ppt/notesMasters/notesMaster1.xml" Id="Rd6d93b27532f4f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4ba6e03c74442b" /><Relationship Type="http://schemas.openxmlformats.org/officeDocument/2006/relationships/notesMaster" Target="/ppt/notesMasters/notesMaster1.xml" Id="Rfd198194196348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b9bbff16d94eac" /><Relationship Type="http://schemas.openxmlformats.org/officeDocument/2006/relationships/notesMaster" Target="/ppt/notesMasters/notesMaster1.xml" Id="R19cb78ad2dab44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097cf88dea4512" /><Relationship Type="http://schemas.openxmlformats.org/officeDocument/2006/relationships/notesMaster" Target="/ppt/notesMasters/notesMaster1.xml" Id="Rd5c635561c0044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635388c63c401c" /><Relationship Type="http://schemas.openxmlformats.org/officeDocument/2006/relationships/notesMaster" Target="/ppt/notesMasters/notesMaster1.xml" Id="R9ae4086044ba4a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f7d171ce5943df" /><Relationship Type="http://schemas.openxmlformats.org/officeDocument/2006/relationships/notesMaster" Target="/ppt/notesMasters/notesMaster1.xml" Id="Rafbdddda0a6640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77ea611dc74845" /><Relationship Type="http://schemas.openxmlformats.org/officeDocument/2006/relationships/notesMaster" Target="/ppt/notesMasters/notesMaster1.xml" Id="Rddb258d61e3a4d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519caea7c7439b" /><Relationship Type="http://schemas.openxmlformats.org/officeDocument/2006/relationships/notesMaster" Target="/ppt/notesMasters/notesMaster1.xml" Id="R60f18ff082d040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0015a6a9284925" /><Relationship Type="http://schemas.openxmlformats.org/officeDocument/2006/relationships/notesMaster" Target="/ppt/notesMasters/notesMaster1.xml" Id="Rd9bb822d0f6446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45d25cc5f14edc" /><Relationship Type="http://schemas.openxmlformats.org/officeDocument/2006/relationships/notesMaster" Target="/ppt/notesMasters/notesMaster1.xml" Id="R19ae80cc3dc241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a383cf383840de" /><Relationship Type="http://schemas.openxmlformats.org/officeDocument/2006/relationships/notesMaster" Target="/ppt/notesMasters/notesMaster1.xml" Id="Rbbc35b1773b242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5c4c3b792a49ab" /><Relationship Type="http://schemas.openxmlformats.org/officeDocument/2006/relationships/notesMaster" Target="/ppt/notesMasters/notesMaster1.xml" Id="R44f702f5f72842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3774b6c9f94751" /><Relationship Type="http://schemas.openxmlformats.org/officeDocument/2006/relationships/notesMaster" Target="/ppt/notesMasters/notesMaster1.xml" Id="R6d42bf86e60843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78fe3ffad54eed" /><Relationship Type="http://schemas.openxmlformats.org/officeDocument/2006/relationships/notesMaster" Target="/ppt/notesMasters/notesMaster1.xml" Id="R6b51880ba1134b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4aae7265a045bd" /><Relationship Type="http://schemas.openxmlformats.org/officeDocument/2006/relationships/notesMaster" Target="/ppt/notesMasters/notesMaster1.xml" Id="Rc8b0e5dc285e40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571c47186140b3" /><Relationship Type="http://schemas.openxmlformats.org/officeDocument/2006/relationships/notesMaster" Target="/ppt/notesMasters/notesMaster1.xml" Id="R818d2155afa345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5664f736fe4323" /><Relationship Type="http://schemas.openxmlformats.org/officeDocument/2006/relationships/notesMaster" Target="/ppt/notesMasters/notesMaster1.xml" Id="R5097fe79948043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00781a433a4c45" /><Relationship Type="http://schemas.openxmlformats.org/officeDocument/2006/relationships/notesMaster" Target="/ppt/notesMasters/notesMaster1.xml" Id="R13e632fd5eb84f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9c1794b44f4b93" /><Relationship Type="http://schemas.openxmlformats.org/officeDocument/2006/relationships/notesMaster" Target="/ppt/notesMasters/notesMaster1.xml" Id="R193f7bf388db409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750cb9f932c42b2" /><Relationship Type="http://schemas.openxmlformats.org/officeDocument/2006/relationships/notesMaster" Target="/ppt/notesMasters/notesMaster1.xml" Id="R036c4b54f3ff43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f4780a9f374d52" /><Relationship Type="http://schemas.openxmlformats.org/officeDocument/2006/relationships/notesMaster" Target="/ppt/notesMasters/notesMaster1.xml" Id="R8b7e2c7fc8a9428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e53a7adf1a4c45" /><Relationship Type="http://schemas.openxmlformats.org/officeDocument/2006/relationships/notesMaster" Target="/ppt/notesMasters/notesMaster1.xml" Id="Rd8446dd3038246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166a04e5bcd4e38" /><Relationship Type="http://schemas.openxmlformats.org/officeDocument/2006/relationships/notesMaster" Target="/ppt/notesMasters/notesMaster1.xml" Id="R3f160a10b6ec421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74929d36334882" /><Relationship Type="http://schemas.openxmlformats.org/officeDocument/2006/relationships/notesMaster" Target="/ppt/notesMasters/notesMaster1.xml" Id="R080fdb067f674d1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9ac72189be4f0b" /><Relationship Type="http://schemas.openxmlformats.org/officeDocument/2006/relationships/notesMaster" Target="/ppt/notesMasters/notesMaster1.xml" Id="Rbf97e197f4674ba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5a9e08ffb84170" /><Relationship Type="http://schemas.openxmlformats.org/officeDocument/2006/relationships/notesMaster" Target="/ppt/notesMasters/notesMaster1.xml" Id="R3126fb54c8f44f4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631b279fca74108" /><Relationship Type="http://schemas.openxmlformats.org/officeDocument/2006/relationships/notesMaster" Target="/ppt/notesMasters/notesMaster1.xml" Id="R2453c90f9f37477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a1ff0b08a1e4acc" /><Relationship Type="http://schemas.openxmlformats.org/officeDocument/2006/relationships/notesMaster" Target="/ppt/notesMasters/notesMaster1.xml" Id="R9b75a98cee634ae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fcf401f4a7d4f12" /><Relationship Type="http://schemas.openxmlformats.org/officeDocument/2006/relationships/notesMaster" Target="/ppt/notesMasters/notesMaster1.xml" Id="R69964aec0d56487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decdf1cc394ae8" /><Relationship Type="http://schemas.openxmlformats.org/officeDocument/2006/relationships/notesMaster" Target="/ppt/notesMasters/notesMaster1.xml" Id="Re24a4e33084b46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シリーズは、実車データの準備、分析候補の生成、映像とCANによる確認を一つの流れとして接続する仕組みです。目的はProgramを増やすことではありません。長時間のデータから確認すべき区間を絞り、なぜその区間を選んだかを説明できる状態で、ADAS評価を進めることです。今回、その基本経路を実車データで最後まで確認でき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开场先说把实车数据变成可以解释、可以复核的ADAS评价候选，不要先讲软件结构。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今回の最も重要な成果は、U001からU003までの経路が実車データで成立することを確認できた点です。Golden Runでは、50,198 Frameから16件の候補を作り、すべて映像とCANで確認しました。16件という数字そのものよりも、入力、分析理由、候補Frame、映像確認までを一つの経路として追跡できたことが重要です。この結果により、今後は骨格を作り直すのではなく、課題に合わせてModuleとProfileを追加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最大成果不是16个候选，而是证明Data-to-Evidence整条路可以运行。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最初の作業は、CameraとRadarの結果を映像で比較することでした。しかし、実際のデータには、更新周期の違い、信号ごとの無効値、古い値の保持、Camera Targetの切替があります。また、今回の映像との同期ではFrameCountが重要です。そのため、CSVに数字が入っているだけでは、正しく比較できるとは限りません。分析前に、どの値がいつ更新され、どの対象を表しているかを整理する必要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系统必要性来自数据复杂度。核心句：有数字不等于能直接比较。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001、U002、U003は役割を分けています。U001は元データを読み、信頼できる解析用データへ整理します。U002は分析Moduleを実行し、確認候補とその理由を作ります。U003は候補を映像とCANで確認し、人の判断を記録します。この分離により、問題が発生した時に、元データ、分析方法、人工判断のどこを確認すべきか分か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三个系统是三种职责，不是三个重复工具。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つのProgramは別々の責任を持ちますが、利用時は一つの流れとして接続します。U001でデータとSignalを選び、U002でModuleと実行順序を決め、U003で同じFrameCountの映像とCANを確認します。画面を分けることで内部の責任を守りながら、利用者はデータ準備から最終確認まで連続して作業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内部解耦，外部联动；不是让用户操作三个互不相关的软件。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システム間では、共通データ規則を決めています。U001は値だけでなく、その値が更新されたか、何Frame保持されたか、無効理由は何か、どこから来たかを渡します。U002は候補の開始、代表Frame、終了、選定理由をU003へ渡します。この規則を守れば、内部のModuleを変更しても、他の部分を作り直す必要が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固定的是传递规则和证据字段，不是把内部算法钉死。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学的な解析方法やCodeを書く能力があっても、それだけでは実車ADAS評価へ直接使用できません。実車データには、対象選択、無効値、時間合わせ、確認方法など、多くの工程条件があります。一方で、手作業だけでは大量のSignalと長時間データを繰り返し確認することが困難です。数学的な分析能力と複雑な実車データの間を接続するために、Uシリーズを作り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数学知识无法直接落地，实车数据复杂度又太高，所以需要U-Series作为桥梁。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私は物理を基礎として、数学的な考え方、Code作成、新しい知識を短期間で学ぶことを強みにしています。ただし、車両工学の知識を学ぶだけでは、実車評価の経験にはなりません。Uシリーズを使うことで、学んだ方法をModuleとして実装し、実車データで確認し、結果をProfileとして残せます。これにより、私の学習力をCamera評価とADAS工程へ継続的に接続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不要弱化数学和代码能力；它们是你的强项。U-Series让这些能力真正进入ADAS实车实践。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シリーズの対象は数値分析だけではありません。U003では、映像とCANの同期確認、候補区間の移動、GraphとExcel出力、画像Maskなど、確認と報告に必要な作業もModuleとして自動化できます。目的は単純に作業を速くすることではなく、確認理由と元データを残したまま、繰り返し作業を減らすことです。自動化しても、車両評価に必要な確認精度と追跡性は維持します。これにより、工程時間を、より重要な原因分析と判断へ使用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U003也承担办公自动化。目标是减少机械操作，同时保留车辆评价需要的精度与追溯。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は、数学、統計、車両判断、画像処理など、一つの能力を追加する単位です。入出力と役割が決まっているため、開発者は全体Programではなく、必要な計算や判断に集中できます。将来はMATLABで作成した解析も、U002のModuleとして接続する計画です。一方、どのSignal、順序、設定、確認範囲を使用したかはProfileとして保存します。Moduleは私の数学とCodeの能力を表し、実車で確認されたProfileは工程経験として蓄積さ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Module体现数学和代码能力，Profile把它变成经过实车考验的工程经验。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のEnd-to-End確認では、映像で判断しやすいRadar距離欠落を課題として選びました。Cameraの距離と横位置、Radarの有効状態を使い、全動画から16件の候補を作りました。U003で全件を確認し、15件は想定した現象と合い、1件は正面追従中の短時間欠落という別現象として分けました。Radarは今回の経路確認用であり、正式な主対象はCamera性能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Radar是容易验收的MVP题目；正式主角仍然是Camera。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コード化した現在の構成では、通常の解析でCore骨格を変更する必要はありません。利用者は、課題に合わせてModuleを選び、実行順序を決め、必要なら新しいModuleを作ります。実行条件はProfileとして保存します。通常の利用者が管理するのはModuleとProfileであり、Coreと最重要の共通データ規則は、必要がない限り変更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高代码重构后骨架已经稳定，使用者主要维护自己的Module和Profile。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U001からU003までの基盤開発は、一つの段階を完了しました。次は、Camera工程の実際の要求に合わせて、必要なAnalysis ModuleとProfileを作ります。私は現在研修員であるため、最初からすべての原因を断定するのではありません。各課題で必要な車両工学、Sensor、制御Algorithm、Data解析を学び、実車で確認しながら、工程経路とModuleの信頼性を段階的に高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基础骨架完成一个阶段。下一步随Camera任务开发Module/Profile，并在实践中补汽车工程与控制知识。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ここからは、Uシリーズの必要性、設計判断、分析結果の信頼性について補足します。必要な項目だけ選んで説明します。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公开材料只叫补充资料，不出现想定质问。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現在の成果、既存Toolとの関係、保守方法、他のSourceへの展開、次のCamera工程について補足します。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第二组覆盖成果、运用和团队展开。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は、少数区間の確認、Graph、最終報告に非常に有効です。一方、全動画では、更新時期の違い、無効値、Target切替、保持値を毎回手作業で整理することが難しくなります。Uシリーズは、その前段で比較可能な状態を作り、確認候補を絞ります。最後のGraphとReportでは、引き続きExcelを使用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不批评Excel；Excel适合最后确认，不适合独自承担全量整理。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dar欠落は、数値が無効になる時点と映像上のTarget位置を比較しやすく、人が正否を確認できるためです。そのため、U001からU003までの経路確認に使用しました。これはRadarを正解データとして扱うことでも、主課題をRadarへ変えることでもありません。正式な主対象はCamera性能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Radar只是Golden Run题目，Camera才是正式业务主角。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は連続させますが、内部の責任は分けます。データ変換、分析、人工判断を一つにすると、結果が変わった時に原因を確認しにくくなります。U001、U002、U003を分けることで、変更場所と確認場所が明確になります。利用者には連続した操作を提供し、内部では原因を追える構成に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外部操作可以连贯，内部职责必须分开。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処理を分けた目的は、複雑にすることではなく、変更範囲を小さくすることです。入出力と各Stageの役割が決まっているため、新しいModuleでは必要な計算だけを作ればよく、全体Programを書き直す必要がありません。この仕組みにより、後からMATLAB Moduleを追加する場合も、同じ分析の流れへ接続できます。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严格的进入退出规则反而降低新Module开发难度；未来支持MATLAB。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動確認で分かるのは、Programが決めた入出力で動き、必要な結果を出したことです。実車現象の説明が正しいかは別の問題です。そのため、U002が作った候補をU003で映像とCANに合わせ、別対象、時間差、無効値などを確認します。Programの動作確認と実車の意味確認を分け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软件能运行不等于工程结论正确，最终仍需实车语义确认。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のデータには、すべての区間で使える完全な正解データがありません。そのため、U002で長時間データを少数の候補へ絞り、U003で必要な区間だけを人が確認します。この確認は品質保証だけではありません。実車の特徴、失敗の形、判断理由を蓄積し、次のAlgorithm Card、Module、Profileへ反映する学習経路でもあります。私は研修員として、このReviewを通じて工程経験を増やし、より信頼できるModuleを作ります。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人机分工既保证当前结果，也让你积累汽车工程经验并反哺下一版Module。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つの値が違っても、すぐにCameraが間違っているとは判断できません。二つのSensorが別の車両を見ている場合、更新Timingがずれている場合、Radarが一時的に対象を見失う場合があるためです。まず、同じ時点に同じ対象を測定しているかを確認します。この段階では『Cameraの誤差』ではなく『二つのSensorの差』として扱い、映像や他の信号と合わせて原因を判断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减少专有名词，先让普通工程师听懂读数不同不等于Camera一定错。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001は、高コード化の段階で、新しいSourceを接続できる入口を準備しています。新しいCAN、GNSS、LiDARを追加する場合、U001からU003までを作り直す必要はありません。ただし、そのSource固有の形式を読むDriverと、共通データ規則へ変換するAdapterを作ります。この考え方には、PyGMIで使用した、装置固有Driverと共通処理を分ける設計経験を取り入れ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先说入口已准备，再说需要Driver/Adapter；体现PyGMI经验。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通形式へ変換した後は、U002とU003の既存Workflowを利用できます。ただし、新しいSourceごとに、時間基準、単位、座標系、無効値の意味を確認する必要があります。DriverやAdapterが読み取りに成功しただけでは正式使用しません。Sample Dataと実データで確認し、適用範囲を明確にしてからProfileへ入れます。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扩展有边界：不是任何Source接上就立即可信。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守性は、完成後に追加した条件ではなく、最初から設計条件にしています。Core、共通データ規則、Module、Profile、Reviewの役割を分けたため、変更場所を限定できます。必要であれば、一人でも利用、Module開発、日常保守を継続できます。通常の作業ではCore骨格を変更せず、担当するModuleとProfileを管理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一个人能维护，依靠的是职责分离，不是个人英雄主义。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一人で使えることと、Teamで共有できることを両立する設計です。読みやすいCode、英語Comment、Algorithm Card、Sample Data、Version、Manualを準備しています。入出力が固定されているため、新しいModuleを作る人が全体Programを理解する必要もありません。今後は実際の利用を通じて、資料と操作手順を改善します。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已经为团队维护做准备，但不说交接验证全部完成。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の中心作業は、Camera工程の要求に合わせた分析です。距離、横位置、車両姿勢、速度、追跡状態などから、Camera性能が低下する条件を段階的に調べます。各課題をModuleとして実装し、実車データで候補を作り、U003で確認します。確認した条件と実行順序はProfileとして保存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下一任务导向Camera与ADAS算法，而不是继续堆平台功能。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に、U001からU003までの分析経路が実車データで成立することを確認しました。第二に、課題に合わせてModuleを選び、並べ、追加できる骨格を作りました。第三に、U003で映像確認、Graph、Excel、画像Maskなどの業務自動化Moduleを実装しました。Golden Runの16候補と全件Reviewは、この三つの能力が実際に動くことを示す確認例です。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成果顺序：路线可行→模块化骨架→办公自动化→16候选作为实证。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現時点では、正式な工数測定は行っていません。確認できた結果は、50,198 Frameを16件の確認候補へ絞り、YMC向け説明に必要なFrame、映像、CAN Data、選定理由を整理できたことです。より詳細な原因診断が必要な場合は、車両工学、Sensor、制御Algorithmの知識と実車経験を補い、確認した方法をModuleとProfileへ反映します。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不虚构节省百分比；强调YMC需要的证据已可整理。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Uシリーズは、ExcelやMATLABを置き換えるものではなく、分析全体を接続する仕組みです。MATLABで作成したSystem Identification、車両Model、制御Algorithmは、U002のModule Interfaceから分析Moduleとして接続する設計です。U001の共通Dataを受け取り、結果と理由を同じ形式で返します。Excelは最終GraphとReport、U003は映像とCANの確認に使用します。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明确MATLAB从U002 Module进入；U-Series负责串联Workflow。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ENGのCanViewは、必要に応じて引き続き使用できます。UシリーズはCanViewを置き換えるものではありません。UシリーズのCodeをHIENGへ提示してReviewや実装支援を受けることができ、Module開発を依頼することも可能です。ただし、通常の追加要求はModule、Adapter、Profileで対応し、必要がない限りCore骨格と最重要の共通データ規則は変更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代码和Module开发可以给HIENG看；无必要不动Core和Data Contract。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は、一つの計算や判断を実行する能力です。しかし、実際の工程問題では、どのSignalを使い、どの順序で動かし、どの設定と範囲で確認したかも必要です。これらを保存するのがProfileです。Moduleは数学とCodeの能力を増やし、実車で確認されたProfileは、再利用できる工程経験になります。Uシリーズでは、両方を蓄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Module和Profile都重要；不要弱化数学代码能力。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過去のProfileと実行結果は上書きしません。Algorithmや設定を変更した場合は、新しいVersionとして保存します。実行時に使用した入力、Module、設定、結果の関係を記録するため、結果が変わった時に、データ、方法、設定のどこが変わったかを確認できます。通常利用者はCoreを変更せず、自分のModuleとProfileをVersion管理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高代码骨架完成后，维护重点转为Module与Profile的版本管理。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正式なModuleには、解く問題、使用する入力、計算方法、適用条件、限界、確認方法をAlgorithm Cardへ記録します。実行時もScoreだけではなく、使用したSignal、除外理由、開始、代表、終了Frame、Review Memoを残します。複雑なModelを導入する場合も、結果だけでなく、確認できる根拠を一緒に出すことを条件にします。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强调解释与证据，不需要堆Governance等词。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盤開発は一つの段階を完了しました。次は、Camera工程の実際の課題とともにModuleとProfileを増やします。私は研修員として、各課題で必要な車両工学、Sensor、制御Algorithmを学び、実車で確認します。確認できた知識をModuleとProfileへ残すことで、個人の学習をTeamで再利用できるADAS工程能力へ段階的に変えてい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[中文理解]</a:t>
            </a:r>
          </a:p>
          <a:p xmlns:a="http://schemas.openxmlformats.org/drawingml/2006/main">
            <a:r>
              <a:t>最后既表现完成基础建设，也保留研修员应有的谨慎。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CORE_OPERATING_LOGIC_THEORY_MODULE_PROFILE_PLAYBOOK_v0_1_2026-08-30.txt</a:t>
            </a:r>
          </a:p>
          <a:p xmlns:a="http://schemas.openxmlformats.org/drawingml/2006/main">
            <a:r>
              <a:t>- CAMERA_PERFORMANCE_DEGRADATION_FACTOR_MINING_CAMPAIGN_v0_1_2026-08-30.txt</a:t>
            </a:r>
          </a:p>
          <a:p xmlns:a="http://schemas.openxmlformats.org/drawingml/2006/main">
            <a:r>
              <a:t>- PYGMI_ENGINEERING_ARCHAEOLOGY_AND_U_SERIES_TRANSFER_GUIDE_v0_1_2026-08-30.txt</a:t>
            </a:r>
          </a:p>
          <a:p xmlns:a="http://schemas.openxmlformats.org/drawingml/2006/main">
            <a:r>
              <a:t>- Golden Run review record: 50,198 frames, 16 candidates, all reviewed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584b973844a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8e4b78d78943e3" /><Relationship Type="http://schemas.openxmlformats.org/officeDocument/2006/relationships/slideLayout" Target="/ppt/slideLayouts/slideLayout1.xml" Id="R46617d318492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17d318492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e993a7d64410c" /><Relationship Type="http://schemas.openxmlformats.org/officeDocument/2006/relationships/notesSlide" Target="/ppt/notesSlides/notesSlide1.xml" Id="R323cd88aa1454f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585ce930a4c3f" /><Relationship Type="http://schemas.openxmlformats.org/officeDocument/2006/relationships/notesSlide" Target="/ppt/notesSlides/notesSlide2.xml" Id="R5241c1af93e2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6d695479f44b0" /><Relationship Type="http://schemas.openxmlformats.org/officeDocument/2006/relationships/notesSlide" Target="/ppt/notesSlides/notesSlide3.xml" Id="R13d8692d6dff4f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f21fde9694601" /><Relationship Type="http://schemas.openxmlformats.org/officeDocument/2006/relationships/notesSlide" Target="/ppt/notesSlides/notesSlide4.xml" Id="Rbd753812afba4d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c6cb6c54845dd" /><Relationship Type="http://schemas.openxmlformats.org/officeDocument/2006/relationships/notesSlide" Target="/ppt/notesSlides/notesSlide5.xml" Id="Rcea59148bbb740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f4e24e709485b" /><Relationship Type="http://schemas.openxmlformats.org/officeDocument/2006/relationships/notesSlide" Target="/ppt/notesSlides/notesSlide6.xml" Id="Rca938b3b955745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665eee23f4f6f" /><Relationship Type="http://schemas.openxmlformats.org/officeDocument/2006/relationships/notesSlide" Target="/ppt/notesSlides/notesSlide7.xml" Id="R877e77dc83e049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f0b5af2354804" /><Relationship Type="http://schemas.openxmlformats.org/officeDocument/2006/relationships/notesSlide" Target="/ppt/notesSlides/notesSlide8.xml" Id="R14226413107742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8cdf9c170417e" /><Relationship Type="http://schemas.openxmlformats.org/officeDocument/2006/relationships/notesSlide" Target="/ppt/notesSlides/notesSlide9.xml" Id="R3dc5a8fa83a74f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092b456de4442" /><Relationship Type="http://schemas.openxmlformats.org/officeDocument/2006/relationships/notesSlide" Target="/ppt/notesSlides/notesSlide10.xml" Id="Ra4f7d8e3fc6242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be5dc8d194f2b" /><Relationship Type="http://schemas.openxmlformats.org/officeDocument/2006/relationships/notesSlide" Target="/ppt/notesSlides/notesSlide11.xml" Id="R621b0804cf4f42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23c2a53204c35" /><Relationship Type="http://schemas.openxmlformats.org/officeDocument/2006/relationships/notesSlide" Target="/ppt/notesSlides/notesSlide12.xml" Id="R53b6ed1adb174e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0f8e43af748ab" /><Relationship Type="http://schemas.openxmlformats.org/officeDocument/2006/relationships/notesSlide" Target="/ppt/notesSlides/notesSlide13.xml" Id="Ra3e16c883aa14a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0a9038f834b8e" /><Relationship Type="http://schemas.openxmlformats.org/officeDocument/2006/relationships/notesSlide" Target="/ppt/notesSlides/notesSlide14.xml" Id="R0abb264e1ef447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c556a88cc4578" /><Relationship Type="http://schemas.openxmlformats.org/officeDocument/2006/relationships/notesSlide" Target="/ppt/notesSlides/notesSlide15.xml" Id="R3c6f58f9b1d744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fdc68acc4f8c" /><Relationship Type="http://schemas.openxmlformats.org/officeDocument/2006/relationships/notesSlide" Target="/ppt/notesSlides/notesSlide16.xml" Id="Ra3fbe2e0aa9c4a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1a245368e4d87" /><Relationship Type="http://schemas.openxmlformats.org/officeDocument/2006/relationships/notesSlide" Target="/ppt/notesSlides/notesSlide17.xml" Id="Rf8d5ade2b4054b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de4b3b55642bb" /><Relationship Type="http://schemas.openxmlformats.org/officeDocument/2006/relationships/notesSlide" Target="/ppt/notesSlides/notesSlide18.xml" Id="R3415b26ff7004f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7b7a035114e75" /><Relationship Type="http://schemas.openxmlformats.org/officeDocument/2006/relationships/notesSlide" Target="/ppt/notesSlides/notesSlide19.xml" Id="R659dfbc03c4e4c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4611d0a3e4679" /><Relationship Type="http://schemas.openxmlformats.org/officeDocument/2006/relationships/notesSlide" Target="/ppt/notesSlides/notesSlide20.xml" Id="Rde78e3ff67434f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69ce26356410a" /><Relationship Type="http://schemas.openxmlformats.org/officeDocument/2006/relationships/notesSlide" Target="/ppt/notesSlides/notesSlide21.xml" Id="Ra435aa1156c84f5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57ce21032433f" /><Relationship Type="http://schemas.openxmlformats.org/officeDocument/2006/relationships/notesSlide" Target="/ppt/notesSlides/notesSlide22.xml" Id="R7ac218012b0846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de669f453473b" /><Relationship Type="http://schemas.openxmlformats.org/officeDocument/2006/relationships/notesSlide" Target="/ppt/notesSlides/notesSlide23.xml" Id="Rf05db646233645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ad6b4f762462a" /><Relationship Type="http://schemas.openxmlformats.org/officeDocument/2006/relationships/notesSlide" Target="/ppt/notesSlides/notesSlide24.xml" Id="R4b750f177b5b42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e1383a56643fc" /><Relationship Type="http://schemas.openxmlformats.org/officeDocument/2006/relationships/notesSlide" Target="/ppt/notesSlides/notesSlide25.xml" Id="Rc03723b4a8ba47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1b6e1c98245a8" /><Relationship Type="http://schemas.openxmlformats.org/officeDocument/2006/relationships/notesSlide" Target="/ppt/notesSlides/notesSlide26.xml" Id="R93abb31c75e041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efb5806414065" /><Relationship Type="http://schemas.openxmlformats.org/officeDocument/2006/relationships/notesSlide" Target="/ppt/notesSlides/notesSlide27.xml" Id="R26c2f936e8214b9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3aa44e6644864" /><Relationship Type="http://schemas.openxmlformats.org/officeDocument/2006/relationships/notesSlide" Target="/ppt/notesSlides/notesSlide28.xml" Id="Rdc5b553d8c5d413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563f2128d43a0" /><Relationship Type="http://schemas.openxmlformats.org/officeDocument/2006/relationships/notesSlide" Target="/ppt/notesSlides/notesSlide29.xml" Id="Rb06ec7a4994e4e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8b2b54a77474e" /><Relationship Type="http://schemas.openxmlformats.org/officeDocument/2006/relationships/notesSlide" Target="/ppt/notesSlides/notesSlide30.xml" Id="R82eb44a43dc2431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a2eb4a02a46a7" /><Relationship Type="http://schemas.openxmlformats.org/officeDocument/2006/relationships/notesSlide" Target="/ppt/notesSlides/notesSlide31.xml" Id="R8a54dca5705a42d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c4896f5ee433d" /><Relationship Type="http://schemas.openxmlformats.org/officeDocument/2006/relationships/notesSlide" Target="/ppt/notesSlides/notesSlide32.xml" Id="R1de43bdf763740b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e45eb1c644003" /><Relationship Type="http://schemas.openxmlformats.org/officeDocument/2006/relationships/notesSlide" Target="/ppt/notesSlides/notesSlide33.xml" Id="Rc4e2ee3ed51943f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bf0b7568b4944" /><Relationship Type="http://schemas.openxmlformats.org/officeDocument/2006/relationships/notesSlide" Target="/ppt/notesSlides/notesSlide34.xml" Id="Ra4c799f417f7474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38b1d351f40ed" /><Relationship Type="http://schemas.openxmlformats.org/officeDocument/2006/relationships/notesSlide" Target="/ppt/notesSlides/notesSlide35.xml" Id="R53ee80fe54904e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band">
            <a:extLst xmlns:a="http://schemas.openxmlformats.org/drawingml/2006/main">
              <a:ext uri="{FF2B5EF4-FFF2-40B4-BE49-F238E27FC236}">
                <a16:creationId xmlns:a16="http://schemas.microsoft.com/office/drawing/2014/main" id="{E9A6BF0D-B4F6-4B51-9CC4-E3FD2AC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CD7462D-A5CC-46C9-B7F5-48F61FCB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DD6"/>
          </a:solidFill>
          <a:ln xmlns:a="http://schemas.openxmlformats.org/drawingml/2006/main" w="0">
            <a:solidFill>
              <a:srgbClr val="91BDD6"/>
            </a:solidFill>
            <a:prstDash val="solid"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EEACB4B2-818F-4C8E-B3DE-5DD8247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91BDD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91BDD6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6EA13E-C19A-41B0-8D88-553D42C8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81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実車データから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説明できるADAS評価候補を作る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9A69086-5922-452C-889B-7EA8F981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rPr>
              <a:t>U001–U003：数学・Code・実車確認を一つの工程へ</a:t>
            </a:r>
          </a:p>
        </p:txBody>
      </p:sp>
      <p:sp>
        <p:nvSpPr>
          <p:cNvPr id="6" name="title-points">
            <a:extLst xmlns:a="http://schemas.openxmlformats.org/drawingml/2006/main">
              <a:ext uri="{FF2B5EF4-FFF2-40B4-BE49-F238E27FC236}">
                <a16:creationId xmlns:a16="http://schemas.microsoft.com/office/drawing/2014/main" id="{A6D21C30-57C3-4FE3-9FCF-CC4B7E7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信頼できるデータ　｜　分析候補　｜　映像・CAN確認</a:t>
            </a:r>
          </a:p>
        </p:txBody>
      </p:sp>
      <p:sp>
        <p:nvSpPr>
          <p:cNvPr id="7" name="owner">
            <a:extLst xmlns:a="http://schemas.openxmlformats.org/drawingml/2006/main">
              <a:ext uri="{FF2B5EF4-FFF2-40B4-BE49-F238E27FC236}">
                <a16:creationId xmlns:a16="http://schemas.microsoft.com/office/drawing/2014/main" id="{52057A66-692D-4DEA-85FF-16AE352A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rPr>
              <a:t>開発担当：ZHAO ZHILI</a:t>
            </a:r>
          </a:p>
        </p:txBody>
      </p:sp>
      <p:sp>
        <p:nvSpPr>
          <p:cNvPr id="8" name="date">
            <a:extLst xmlns:a="http://schemas.openxmlformats.org/drawingml/2006/main">
              <a:ext uri="{FF2B5EF4-FFF2-40B4-BE49-F238E27FC236}">
                <a16:creationId xmlns:a16="http://schemas.microsoft.com/office/drawing/2014/main" id="{218AF3E8-5B8A-4E67-B871-CEB396DE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0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>
                <a:solidFill>
                  <a:srgbClr val="DDEAF2"/>
                </a:solidFill>
                <a:latin typeface="Hiragino Kaku Gothic ProN"/>
                <a:ea typeface="Hiragino Kaku Gothic ProN"/>
                <a:cs typeface="Hiragino Kaku Gothic ProN"/>
              </a:rPr>
              <a:t>2026-08-31</a:t>
            </a:r>
          </a:p>
        </p:txBody>
      </p:sp>
    </p:spTree>
    <p:extLst>
      <p:ext uri="{BB962C8B-B14F-4D97-AF65-F5344CB8AC3E}">
        <p14:creationId xmlns:p14="http://schemas.microsoft.com/office/powerpoint/2010/main" val="1713636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最も重要な成果は、分析経路が実車データで成立したこと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50,198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評価したFrame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確認候補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全件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映像・CANで確認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入力、分析理由、候補Frame、映像確認を一つの経路として追跡できた。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今後は骨格を作り直さず、課題に合わせてModuleとProfileを追加できる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D29C0E-8851-475B-B0F5-B217551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BB3C47BB-F314-452D-8A17-3E4FBF6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2A0E13-A5D8-4B5C-9CFE-B471BA0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実車データは、数字があってもそのまま比較できない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0DE6A1-4B81-4C8F-BD34-94378F3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D3A1F6-159A-4154-BB7E-1A04F55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3A81D-07D9-4398-84AC-8B66169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7" name="bullet-surface">
            <a:extLst xmlns:a="http://schemas.openxmlformats.org/drawingml/2006/main">
              <a:ext uri="{FF2B5EF4-FFF2-40B4-BE49-F238E27FC236}">
                <a16:creationId xmlns:a16="http://schemas.microsoft.com/office/drawing/2014/main" id="{125E00DB-BCBB-49A5-858C-EE43778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047750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bullet-list">
            <a:extLst xmlns:a="http://schemas.openxmlformats.org/drawingml/2006/main">
              <a:ext uri="{FF2B5EF4-FFF2-40B4-BE49-F238E27FC236}">
                <a16:creationId xmlns:a16="http://schemas.microsoft.com/office/drawing/2014/main" id="{278478C9-3462-456F-92F4-B684683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9829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信号ごとに更新周期が異なる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無効値の意味が信号ごとに違う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古い値が次のFrameまで残る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 Targetが途中で切り替わる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映像との同期にはFrameCountを使う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対象と更新時点を整理してから比較する</a:t>
            </a:r>
          </a:p>
        </p:txBody>
      </p:sp>
      <p:sp>
        <p:nvSpPr>
          <p:cNvPr id="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ABD679A-60F1-4ACE-9C18-79315CC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BDED84F5-1A2A-45FD-9FDD-0C94473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「値がある」ことと「正しく比較できる」ことは同じではない</a:t>
            </a:r>
          </a:p>
        </p:txBody>
      </p:sp>
    </p:spTree>
    <p:extLst>
      <p:ext uri="{BB962C8B-B14F-4D97-AF65-F5344CB8AC3E}">
        <p14:creationId xmlns:p14="http://schemas.microsoft.com/office/powerpoint/2010/main" val="1524336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U001・U002・U003で、準備・分析・判断を分ける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U001：信頼データを作る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元データ・更新状態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無効理由・来歴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U002：候補と理由を作る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分析Module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開始・代表・終了Frame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U003：映像で判断する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映像＋CAN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判断・Memo・報告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データ準備　→　分析　→　人工確認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問題が起きた時、どの責任を確認すべきか分かる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-accent">
            <a:extLst xmlns:a="http://schemas.openxmlformats.org/drawingml/2006/main">
              <a:ext uri="{FF2B5EF4-FFF2-40B4-BE49-F238E27FC236}">
                <a16:creationId xmlns:a16="http://schemas.microsoft.com/office/drawing/2014/main" id="{5BBC0B47-11AC-4446-8EE6-944F566F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7DBAAAE9-9372-43CE-935E-2A306FF9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367580-D172-4805-84D6-0C757C3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三つの画面を、一つの確認経路として使用する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2A3C2A-1BDC-42C1-9563-2CEB007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1499501-156A-4D66-BBBD-9B1890C2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1AB4E3-4FA8-40C1-B8EA-29361E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7" name="ui-panel-0-frame">
            <a:extLst xmlns:a="http://schemas.openxmlformats.org/drawingml/2006/main">
              <a:ext uri="{FF2B5EF4-FFF2-40B4-BE49-F238E27FC236}">
                <a16:creationId xmlns:a16="http://schemas.microsoft.com/office/drawing/2014/main" id="{BE6F5AE7-C448-4780-884C-934FF97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467100" cy="24003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ui-panel-0-bar">
            <a:extLst xmlns:a="http://schemas.openxmlformats.org/drawingml/2006/main">
              <a:ext uri="{FF2B5EF4-FFF2-40B4-BE49-F238E27FC236}">
                <a16:creationId xmlns:a16="http://schemas.microsoft.com/office/drawing/2014/main" id="{E69A188C-9290-4AD1-921F-5004ECCD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46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9" name="ui-panel-0-label">
            <a:extLst xmlns:a="http://schemas.openxmlformats.org/drawingml/2006/main">
              <a:ext uri="{FF2B5EF4-FFF2-40B4-BE49-F238E27FC236}">
                <a16:creationId xmlns:a16="http://schemas.microsoft.com/office/drawing/2014/main" id="{FE2157B5-5BD8-4933-8D7E-E1A89FB0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U001：データ準備</a:t>
            </a:r>
          </a:p>
        </p:txBody>
      </p:sp>
      <p:sp>
        <p:nvSpPr>
          <p:cNvPr id="10" name="ui-panel-0-placeholder">
            <a:extLst xmlns:a="http://schemas.openxmlformats.org/drawingml/2006/main">
              <a:ext uri="{FF2B5EF4-FFF2-40B4-BE49-F238E27FC236}">
                <a16:creationId xmlns:a16="http://schemas.microsoft.com/office/drawing/2014/main" id="{0806FAED-B61C-4E6F-B767-9878F90C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33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U001実画面を貼付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Source名・File名は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必要に応じてMask</a:t>
            </a:r>
          </a:p>
        </p:txBody>
      </p:sp>
      <p:sp>
        <p:nvSpPr>
          <p:cNvPr id="11" name="ui-panel-1-frame">
            <a:extLst xmlns:a="http://schemas.openxmlformats.org/drawingml/2006/main">
              <a:ext uri="{FF2B5EF4-FFF2-40B4-BE49-F238E27FC236}">
                <a16:creationId xmlns:a16="http://schemas.microsoft.com/office/drawing/2014/main" id="{35057089-D15C-460A-A859-3E6ACEEC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67100" cy="24003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2" name="ui-panel-1-bar">
            <a:extLst xmlns:a="http://schemas.openxmlformats.org/drawingml/2006/main">
              <a:ext uri="{FF2B5EF4-FFF2-40B4-BE49-F238E27FC236}">
                <a16:creationId xmlns:a16="http://schemas.microsoft.com/office/drawing/2014/main" id="{29B46B91-CDCF-4E96-996F-B9C63D2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6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3" name="ui-panel-1-label">
            <a:extLst xmlns:a="http://schemas.openxmlformats.org/drawingml/2006/main">
              <a:ext uri="{FF2B5EF4-FFF2-40B4-BE49-F238E27FC236}">
                <a16:creationId xmlns:a16="http://schemas.microsoft.com/office/drawing/2014/main" id="{B109E950-6414-4591-A01F-64A58E1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U002：分析計画</a:t>
            </a:r>
          </a:p>
        </p:txBody>
      </p:sp>
      <p:sp>
        <p:nvSpPr>
          <p:cNvPr id="14" name="ui-panel-1-placeholder">
            <a:extLst xmlns:a="http://schemas.openxmlformats.org/drawingml/2006/main">
              <a:ext uri="{FF2B5EF4-FFF2-40B4-BE49-F238E27FC236}">
                <a16:creationId xmlns:a16="http://schemas.microsoft.com/office/drawing/2014/main" id="{55A8D37C-582C-4BAC-A4DE-DB755F8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933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U002実画面を貼付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Profile / Module名は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必要に応じてMask</a:t>
            </a:r>
          </a:p>
        </p:txBody>
      </p:sp>
      <p:sp>
        <p:nvSpPr>
          <p:cNvPr id="15" name="ui-panel-2-frame">
            <a:extLst xmlns:a="http://schemas.openxmlformats.org/drawingml/2006/main">
              <a:ext uri="{FF2B5EF4-FFF2-40B4-BE49-F238E27FC236}">
                <a16:creationId xmlns:a16="http://schemas.microsoft.com/office/drawing/2014/main" id="{2B97FDF2-94ED-4EB7-BFDB-83C3FE29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467100" cy="24003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ui-panel-2-bar">
            <a:extLst xmlns:a="http://schemas.openxmlformats.org/drawingml/2006/main">
              <a:ext uri="{FF2B5EF4-FFF2-40B4-BE49-F238E27FC236}">
                <a16:creationId xmlns:a16="http://schemas.microsoft.com/office/drawing/2014/main" id="{C15CEFD8-6A84-4D1A-A64C-96C7687F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46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0">
            <a:solidFill>
              <a:srgbClr val="2F7D68"/>
            </a:solidFill>
            <a:prstDash val="solid"/>
          </a:ln>
        </p:spPr>
      </p:sp>
      <p:sp>
        <p:nvSpPr>
          <p:cNvPr id="17" name="ui-panel-2-label">
            <a:extLst xmlns:a="http://schemas.openxmlformats.org/drawingml/2006/main">
              <a:ext uri="{FF2B5EF4-FFF2-40B4-BE49-F238E27FC236}">
                <a16:creationId xmlns:a16="http://schemas.microsoft.com/office/drawing/2014/main" id="{801A0D7A-8D51-4456-97CD-CEC886D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U003：映像確認</a:t>
            </a:r>
          </a:p>
        </p:txBody>
      </p:sp>
      <p:sp>
        <p:nvSpPr>
          <p:cNvPr id="18" name="ui-panel-2-placeholder">
            <a:extLst xmlns:a="http://schemas.openxmlformats.org/drawingml/2006/main">
              <a:ext uri="{FF2B5EF4-FFF2-40B4-BE49-F238E27FC236}">
                <a16:creationId xmlns:a16="http://schemas.microsoft.com/office/drawing/2014/main" id="{C1C47E56-C8FE-4B62-8442-786C54BE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933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U003実画面を貼付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Video / CAN表示は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共有範囲に調整</a:t>
            </a:r>
          </a:p>
        </p:txBody>
      </p:sp>
      <p:sp>
        <p:nvSpPr>
          <p:cNvPr id="19" name="ui-callout-0-line">
            <a:extLst xmlns:a="http://schemas.openxmlformats.org/drawingml/2006/main">
              <a:ext uri="{FF2B5EF4-FFF2-40B4-BE49-F238E27FC236}">
                <a16:creationId xmlns:a16="http://schemas.microsoft.com/office/drawing/2014/main" id="{6D4D86A8-D449-44CC-81C3-DA112865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47775" y="3790950"/>
            <a:ext cx="10191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20" name="ui-callout-0-dot">
            <a:extLst xmlns:a="http://schemas.openxmlformats.org/drawingml/2006/main">
              <a:ext uri="{FF2B5EF4-FFF2-40B4-BE49-F238E27FC236}">
                <a16:creationId xmlns:a16="http://schemas.microsoft.com/office/drawing/2014/main" id="{1878C61D-F08D-46F7-BF33-EB7EB8E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ui-callout-0-box">
            <a:extLst xmlns:a="http://schemas.openxmlformats.org/drawingml/2006/main">
              <a:ext uri="{FF2B5EF4-FFF2-40B4-BE49-F238E27FC236}">
                <a16:creationId xmlns:a16="http://schemas.microsoft.com/office/drawing/2014/main" id="{251D0EFF-887A-4E60-9FDA-60984A0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ui-callout-0-title">
            <a:extLst xmlns:a="http://schemas.openxmlformats.org/drawingml/2006/main">
              <a:ext uri="{FF2B5EF4-FFF2-40B4-BE49-F238E27FC236}">
                <a16:creationId xmlns:a16="http://schemas.microsoft.com/office/drawing/2014/main" id="{D7B56B13-4F32-4CCD-9266-EC1510A0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Sourceと信号を選ぶ</a:t>
            </a:r>
          </a:p>
        </p:txBody>
      </p:sp>
      <p:sp>
        <p:nvSpPr>
          <p:cNvPr id="23" name="ui-callout-0-body">
            <a:extLst xmlns:a="http://schemas.openxmlformats.org/drawingml/2006/main">
              <a:ext uri="{FF2B5EF4-FFF2-40B4-BE49-F238E27FC236}">
                <a16:creationId xmlns:a16="http://schemas.microsoft.com/office/drawing/2014/main" id="{3ACA735E-7F60-4C9F-89F3-B42DC6EA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入力形式を確認</a:t>
            </a:r>
          </a:p>
        </p:txBody>
      </p:sp>
      <p:sp>
        <p:nvSpPr>
          <p:cNvPr id="24" name="ui-callout-1-line">
            <a:extLst xmlns:a="http://schemas.openxmlformats.org/drawingml/2006/main">
              <a:ext uri="{FF2B5EF4-FFF2-40B4-BE49-F238E27FC236}">
                <a16:creationId xmlns:a16="http://schemas.microsoft.com/office/drawing/2014/main" id="{F9E03F83-8E78-427C-B96A-A5E800F5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66950" y="3790950"/>
            <a:ext cx="98107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25" name="ui-callout-1-dot">
            <a:extLst xmlns:a="http://schemas.openxmlformats.org/drawingml/2006/main">
              <a:ext uri="{FF2B5EF4-FFF2-40B4-BE49-F238E27FC236}">
                <a16:creationId xmlns:a16="http://schemas.microsoft.com/office/drawing/2014/main" id="{882983B7-46F4-467A-B11C-9BD47C3D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ui-callout-1-box">
            <a:extLst xmlns:a="http://schemas.openxmlformats.org/drawingml/2006/main">
              <a:ext uri="{FF2B5EF4-FFF2-40B4-BE49-F238E27FC236}">
                <a16:creationId xmlns:a16="http://schemas.microsoft.com/office/drawing/2014/main" id="{1B840565-8E73-403E-B7A1-1CE04FF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7" name="ui-callout-1-title">
            <a:extLst xmlns:a="http://schemas.openxmlformats.org/drawingml/2006/main">
              <a:ext uri="{FF2B5EF4-FFF2-40B4-BE49-F238E27FC236}">
                <a16:creationId xmlns:a16="http://schemas.microsoft.com/office/drawing/2014/main" id="{0EAA2C8E-87AF-4F25-8F4A-8ED3B01F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条件をProfileに保存</a:t>
            </a:r>
          </a:p>
        </p:txBody>
      </p:sp>
      <p:sp>
        <p:nvSpPr>
          <p:cNvPr id="28" name="ui-callout-1-body">
            <a:extLst xmlns:a="http://schemas.openxmlformats.org/drawingml/2006/main">
              <a:ext uri="{FF2B5EF4-FFF2-40B4-BE49-F238E27FC236}">
                <a16:creationId xmlns:a16="http://schemas.microsoft.com/office/drawing/2014/main" id="{A0A5D210-8D88-44DD-A500-54D9796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同じ条件を再利用</a:t>
            </a:r>
          </a:p>
        </p:txBody>
      </p:sp>
      <p:sp>
        <p:nvSpPr>
          <p:cNvPr id="29" name="ui-callout-2-line">
            <a:extLst xmlns:a="http://schemas.openxmlformats.org/drawingml/2006/main">
              <a:ext uri="{FF2B5EF4-FFF2-40B4-BE49-F238E27FC236}">
                <a16:creationId xmlns:a16="http://schemas.microsoft.com/office/drawing/2014/main" id="{5A85D4F2-4303-408C-824C-F46EDE2C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076825" y="3790950"/>
            <a:ext cx="10191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30" name="ui-callout-2-dot">
            <a:extLst xmlns:a="http://schemas.openxmlformats.org/drawingml/2006/main">
              <a:ext uri="{FF2B5EF4-FFF2-40B4-BE49-F238E27FC236}">
                <a16:creationId xmlns:a16="http://schemas.microsoft.com/office/drawing/2014/main" id="{B01F832A-2169-4439-8FB2-A769841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ui-callout-2-box">
            <a:extLst xmlns:a="http://schemas.openxmlformats.org/drawingml/2006/main">
              <a:ext uri="{FF2B5EF4-FFF2-40B4-BE49-F238E27FC236}">
                <a16:creationId xmlns:a16="http://schemas.microsoft.com/office/drawing/2014/main" id="{1F2645E4-4EB9-434E-96D7-42C547CF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32" name="ui-callout-2-title">
            <a:extLst xmlns:a="http://schemas.openxmlformats.org/drawingml/2006/main">
              <a:ext uri="{FF2B5EF4-FFF2-40B4-BE49-F238E27FC236}">
                <a16:creationId xmlns:a16="http://schemas.microsoft.com/office/drawing/2014/main" id="{10CFFFA4-02E8-4655-8896-E1C808FA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9102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Moduleを配置する</a:t>
            </a:r>
          </a:p>
        </p:txBody>
      </p:sp>
      <p:sp>
        <p:nvSpPr>
          <p:cNvPr id="33" name="ui-callout-2-body">
            <a:extLst xmlns:a="http://schemas.openxmlformats.org/drawingml/2006/main">
              <a:ext uri="{FF2B5EF4-FFF2-40B4-BE49-F238E27FC236}">
                <a16:creationId xmlns:a16="http://schemas.microsoft.com/office/drawing/2014/main" id="{1AA1E689-0DB3-4A03-A741-F067C7B2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課題に合わせて選択</a:t>
            </a:r>
          </a:p>
        </p:txBody>
      </p:sp>
      <p:sp>
        <p:nvSpPr>
          <p:cNvPr id="34" name="ui-callout-3-line">
            <a:extLst xmlns:a="http://schemas.openxmlformats.org/drawingml/2006/main">
              <a:ext uri="{FF2B5EF4-FFF2-40B4-BE49-F238E27FC236}">
                <a16:creationId xmlns:a16="http://schemas.microsoft.com/office/drawing/2014/main" id="{839017FA-4AE9-4E08-884B-B121147A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3790950"/>
            <a:ext cx="98107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35" name="ui-callout-3-dot">
            <a:extLst xmlns:a="http://schemas.openxmlformats.org/drawingml/2006/main">
              <a:ext uri="{FF2B5EF4-FFF2-40B4-BE49-F238E27FC236}">
                <a16:creationId xmlns:a16="http://schemas.microsoft.com/office/drawing/2014/main" id="{273335DC-FBC6-4C7F-97B4-76DE5AB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ui-callout-3-box">
            <a:extLst xmlns:a="http://schemas.openxmlformats.org/drawingml/2006/main">
              <a:ext uri="{FF2B5EF4-FFF2-40B4-BE49-F238E27FC236}">
                <a16:creationId xmlns:a16="http://schemas.microsoft.com/office/drawing/2014/main" id="{0FAD6739-90A9-445A-9B28-F24B7D7C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5300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37" name="ui-callout-3-title">
            <a:extLst xmlns:a="http://schemas.openxmlformats.org/drawingml/2006/main">
              <a:ext uri="{FF2B5EF4-FFF2-40B4-BE49-F238E27FC236}">
                <a16:creationId xmlns:a16="http://schemas.microsoft.com/office/drawing/2014/main" id="{CCD4CB1A-C54B-4E51-83FE-5BEA58BD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96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処理状況を確認</a:t>
            </a:r>
          </a:p>
        </p:txBody>
      </p:sp>
      <p:sp>
        <p:nvSpPr>
          <p:cNvPr id="38" name="ui-callout-3-body">
            <a:extLst xmlns:a="http://schemas.openxmlformats.org/drawingml/2006/main">
              <a:ext uri="{FF2B5EF4-FFF2-40B4-BE49-F238E27FC236}">
                <a16:creationId xmlns:a16="http://schemas.microsoft.com/office/drawing/2014/main" id="{51A569F6-1C7E-4D3E-B176-4DA2013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3875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停止位置も分かる</a:t>
            </a:r>
          </a:p>
        </p:txBody>
      </p:sp>
      <p:sp>
        <p:nvSpPr>
          <p:cNvPr id="39" name="ui-callout-4-line">
            <a:extLst xmlns:a="http://schemas.openxmlformats.org/drawingml/2006/main">
              <a:ext uri="{FF2B5EF4-FFF2-40B4-BE49-F238E27FC236}">
                <a16:creationId xmlns:a16="http://schemas.microsoft.com/office/drawing/2014/main" id="{35FDE3F8-2A33-454E-8CCC-E5CB163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905875" y="3790950"/>
            <a:ext cx="10191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40" name="ui-callout-4-dot">
            <a:extLst xmlns:a="http://schemas.openxmlformats.org/drawingml/2006/main">
              <a:ext uri="{FF2B5EF4-FFF2-40B4-BE49-F238E27FC236}">
                <a16:creationId xmlns:a16="http://schemas.microsoft.com/office/drawing/2014/main" id="{EF09A0E2-DD67-4ABF-AD43-187D86C7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ui-callout-4-box">
            <a:extLst xmlns:a="http://schemas.openxmlformats.org/drawingml/2006/main">
              <a:ext uri="{FF2B5EF4-FFF2-40B4-BE49-F238E27FC236}">
                <a16:creationId xmlns:a16="http://schemas.microsoft.com/office/drawing/2014/main" id="{C5D052A3-1935-41F7-956E-6A7DA4D8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42" name="ui-callout-4-title">
            <a:extLst xmlns:a="http://schemas.openxmlformats.org/drawingml/2006/main">
              <a:ext uri="{FF2B5EF4-FFF2-40B4-BE49-F238E27FC236}">
                <a16:creationId xmlns:a16="http://schemas.microsoft.com/office/drawing/2014/main" id="{1091212E-2860-4164-9987-E07E9EEC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9102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同じFrameで比較</a:t>
            </a:r>
          </a:p>
        </p:txBody>
      </p:sp>
      <p:sp>
        <p:nvSpPr>
          <p:cNvPr id="43" name="ui-callout-4-body">
            <a:extLst xmlns:a="http://schemas.openxmlformats.org/drawingml/2006/main">
              <a:ext uri="{FF2B5EF4-FFF2-40B4-BE49-F238E27FC236}">
                <a16:creationId xmlns:a16="http://schemas.microsoft.com/office/drawing/2014/main" id="{76810BBE-4D34-486A-8B42-DFFCD88F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Video + CAN</a:t>
            </a:r>
          </a:p>
        </p:txBody>
      </p:sp>
      <p:sp>
        <p:nvSpPr>
          <p:cNvPr id="44" name="ui-callout-5-line">
            <a:extLst xmlns:a="http://schemas.openxmlformats.org/drawingml/2006/main">
              <a:ext uri="{FF2B5EF4-FFF2-40B4-BE49-F238E27FC236}">
                <a16:creationId xmlns:a16="http://schemas.microsoft.com/office/drawing/2014/main" id="{122F5056-99BC-46F2-9CDE-B6B37344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25050" y="3790950"/>
            <a:ext cx="98107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70A9C7"/>
            </a:solidFill>
            <a:prstDash val="solid"/>
          </a:ln>
        </p:spPr>
      </p:sp>
      <p:sp>
        <p:nvSpPr>
          <p:cNvPr id="45" name="ui-callout-5-dot">
            <a:extLst xmlns:a="http://schemas.openxmlformats.org/drawingml/2006/main">
              <a:ext uri="{FF2B5EF4-FFF2-40B4-BE49-F238E27FC236}">
                <a16:creationId xmlns:a16="http://schemas.microsoft.com/office/drawing/2014/main" id="{1AB1A5F9-C45D-4CFE-B4D7-26FAEE7C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ui-callout-5-box">
            <a:extLst xmlns:a="http://schemas.openxmlformats.org/drawingml/2006/main">
              <a:ext uri="{FF2B5EF4-FFF2-40B4-BE49-F238E27FC236}">
                <a16:creationId xmlns:a16="http://schemas.microsoft.com/office/drawing/2014/main" id="{4C9E031D-A0C9-40FB-BC0C-AD8C04E0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34671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47" name="ui-callout-5-title">
            <a:extLst xmlns:a="http://schemas.openxmlformats.org/drawingml/2006/main">
              <a:ext uri="{FF2B5EF4-FFF2-40B4-BE49-F238E27FC236}">
                <a16:creationId xmlns:a16="http://schemas.microsoft.com/office/drawing/2014/main" id="{B54B8581-27B8-4389-8736-E08C966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96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判断と証拠を保存</a:t>
            </a:r>
          </a:p>
        </p:txBody>
      </p:sp>
      <p:sp>
        <p:nvSpPr>
          <p:cNvPr id="48" name="ui-callout-5-body">
            <a:extLst xmlns:a="http://schemas.openxmlformats.org/drawingml/2006/main">
              <a:ext uri="{FF2B5EF4-FFF2-40B4-BE49-F238E27FC236}">
                <a16:creationId xmlns:a16="http://schemas.microsoft.com/office/drawing/2014/main" id="{6E90C267-EAA4-40F6-9A83-298CF90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327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788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Memo・Graph・Excel</a:t>
            </a:r>
          </a:p>
        </p:txBody>
      </p:sp>
      <p:sp>
        <p:nvSpPr>
          <p:cNvPr id="49" name="ui-conclusion">
            <a:extLst xmlns:a="http://schemas.openxmlformats.org/drawingml/2006/main">
              <a:ext uri="{FF2B5EF4-FFF2-40B4-BE49-F238E27FC236}">
                <a16:creationId xmlns:a16="http://schemas.microsoft.com/office/drawing/2014/main" id="{4D19EDA8-09F5-4505-8918-1FCBC8BA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81700"/>
            <a:ext cx="9144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50" name="ui-conclusion-text">
            <a:extLst xmlns:a="http://schemas.openxmlformats.org/drawingml/2006/main">
              <a:ext uri="{FF2B5EF4-FFF2-40B4-BE49-F238E27FC236}">
                <a16:creationId xmlns:a16="http://schemas.microsoft.com/office/drawing/2014/main" id="{D84F561D-85ED-4F7E-8477-3A9C97D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3885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内部の責任を分けながら、利用者は連続して作業できる</a:t>
            </a:r>
          </a:p>
        </p:txBody>
      </p:sp>
    </p:spTree>
    <p:extLst>
      <p:ext uri="{BB962C8B-B14F-4D97-AF65-F5344CB8AC3E}">
        <p14:creationId xmlns:p14="http://schemas.microsoft.com/office/powerpoint/2010/main" val="1038808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共通データ規則が、異なる処理を安全に接続する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U001から渡す情報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FrameCountと元の時刻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信号名・単位・値の種類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値・更新有無・保持Frame数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無効理由・入力元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信号一覧と品質結果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U002から渡す情報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候補ID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開始・代表・終了Frame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候補にした理由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使用信号とModule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Review用Memoと表示設定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固定するのは伝達規則であり、内部の分析方法は交換できる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数学やCodeを、実車ADAS評価へ接続する橋が必要だった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数学・Code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統計・SysID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車両Model・自動化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Uシリーズ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対象・無効値・同期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確認方法を管理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実車ADAS評価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全量分析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映像確認・工程判断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知識だけでも、手作業だけでも、大量の実車データには届かない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分析能力と複雑な実車データの間を接続するために作った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私の学習力と数学・Codeの強みを、ADAS工程能力へ変える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学ぶ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車両・Sensor
制御・数学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定義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工程課題を
測れる形にする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Module化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数式とCodeを
実行可能にする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全量実行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実車データで
候補を作る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映像確認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現象と理由を
人が確認する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Profile化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確認した経路を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次へ残す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学習を実車評価へ接続し、確認した経験を再利用できる形にする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確認と報告を自動化し、原因分析に使う時間を増やす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U003で支援する作業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VideoとCANの同期確認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候補区間への直接移動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Graph・Excel出力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画像のMask処理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Review Memoの整理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自動化しても残すもの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元データ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候補を選んだ理由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確認したFrame範囲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技術者の判断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再確認できる出力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確認精度と追跡性を保ち、単純作業を減らして分析と判断へ時間を使う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Moduleで能力を増やし、Profileで実車経験を残す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Module：分析能力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数学・統計・車両判断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明確な入力と出力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必要な計算へ集中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Pythonでも作成可能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将来はMATLABも接続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Profile：確認済み経路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使用する信号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Moduleの順序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設定値と対象範囲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映像で確認したCase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再利用できる工程経験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数学とCodeの強みを、実車で確認された工程資産へ変える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Golden Runで、全量分析から映像確認までを実証した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50,198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全量評価Frame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全件Review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15 + 1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想定現象 + 別現象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映像で判断しやすいRadar距離欠落を、最初の経路確認課題として使用した。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Radarは経路確認用であり、正式な主対象はCamera性能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基盤完成後は、課題に合わせてModuleを選び、並べ、作る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固定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Core骨格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通常の分析では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変更しない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選択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 + Profile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課題に合わせて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選択・順序・設定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追加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新しい分析能力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必要な計算だけを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新Moduleとして作る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高コード化後：通常利用者が扱うのはModuleとProfile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最重要の共通データ規則は、必要がない限り変更しない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次はCamera工程の課題とともに、ModuleとProfileを育てる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工程要求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Cameraの
何を確認するか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必要知識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車両・Sensor
制御・解析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測れる方法へ
実装する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全量分析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候補と理由を
作る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実車確認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映像・CANで
意味を確認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適用範囲を付け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次へ残す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研修と実車課題を結び、信頼できるADAS工程能力を段階的に増やす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accent">
            <a:extLst xmlns:a="http://schemas.openxmlformats.org/drawingml/2006/main">
              <a:ext uri="{FF2B5EF4-FFF2-40B4-BE49-F238E27FC236}">
                <a16:creationId xmlns:a16="http://schemas.microsoft.com/office/drawing/2014/main" id="{43C3869A-2446-49CE-BF92-A806E879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83E163-4A5F-474A-B73E-864F3C20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CC43D0-25F9-4DEB-A37F-948C08F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補足資料：価値・必要性・設計判断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E7C4F2-C960-4C4E-A752-21C532A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95B925A-AE08-4F5D-9DC3-BA175C0E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E30254-8831-43D2-9F36-CDAD3B7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  <p:sp>
        <p:nvSpPr>
          <p:cNvPr id="7" name="q-index-0-0">
            <a:extLst xmlns:a="http://schemas.openxmlformats.org/drawingml/2006/main">
              <a:ext uri="{FF2B5EF4-FFF2-40B4-BE49-F238E27FC236}">
                <a16:creationId xmlns:a16="http://schemas.microsoft.com/office/drawing/2014/main" id="{23D2C955-C489-44F2-A9BF-BC72720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8" name="q-index-text-0-0">
            <a:extLst xmlns:a="http://schemas.openxmlformats.org/drawingml/2006/main">
              <a:ext uri="{FF2B5EF4-FFF2-40B4-BE49-F238E27FC236}">
                <a16:creationId xmlns:a16="http://schemas.microsoft.com/office/drawing/2014/main" id="{4F89CC7E-0F02-4763-AE16-D3E4FE18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Excelとの役割分担</a:t>
            </a:r>
          </a:p>
        </p:txBody>
      </p:sp>
      <p:sp>
        <p:nvSpPr>
          <p:cNvPr id="9" name="q-index-rule-0-0">
            <a:extLst xmlns:a="http://schemas.openxmlformats.org/drawingml/2006/main">
              <a:ext uri="{FF2B5EF4-FFF2-40B4-BE49-F238E27FC236}">
                <a16:creationId xmlns:a16="http://schemas.microsoft.com/office/drawing/2014/main" id="{0DBDA3DD-69BF-4CB4-91DE-8D312CF3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0" name="q-index-0-1">
            <a:extLst xmlns:a="http://schemas.openxmlformats.org/drawingml/2006/main">
              <a:ext uri="{FF2B5EF4-FFF2-40B4-BE49-F238E27FC236}">
                <a16:creationId xmlns:a16="http://schemas.microsoft.com/office/drawing/2014/main" id="{C4ABB386-F922-4941-B3EA-BA1D1355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1" name="q-index-text-0-1">
            <a:extLst xmlns:a="http://schemas.openxmlformats.org/drawingml/2006/main">
              <a:ext uri="{FF2B5EF4-FFF2-40B4-BE49-F238E27FC236}">
                <a16:creationId xmlns:a16="http://schemas.microsoft.com/office/drawing/2014/main" id="{00ACF83B-B70F-402E-AA88-0CD5DE5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Radarを最初に選んだ理由</a:t>
            </a:r>
          </a:p>
        </p:txBody>
      </p:sp>
      <p:sp>
        <p:nvSpPr>
          <p:cNvPr id="12" name="q-index-rule-0-1">
            <a:extLst xmlns:a="http://schemas.openxmlformats.org/drawingml/2006/main">
              <a:ext uri="{FF2B5EF4-FFF2-40B4-BE49-F238E27FC236}">
                <a16:creationId xmlns:a16="http://schemas.microsoft.com/office/drawing/2014/main" id="{A5F2FBC0-A876-4B92-9217-26E7101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3" name="q-index-0-2">
            <a:extLst xmlns:a="http://schemas.openxmlformats.org/drawingml/2006/main">
              <a:ext uri="{FF2B5EF4-FFF2-40B4-BE49-F238E27FC236}">
                <a16:creationId xmlns:a16="http://schemas.microsoft.com/office/drawing/2014/main" id="{935E23EB-C210-476C-9BD7-BFF43120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4" name="q-index-text-0-2">
            <a:extLst xmlns:a="http://schemas.openxmlformats.org/drawingml/2006/main">
              <a:ext uri="{FF2B5EF4-FFF2-40B4-BE49-F238E27FC236}">
                <a16:creationId xmlns:a16="http://schemas.microsoft.com/office/drawing/2014/main" id="{771747AD-8529-4219-935A-F62B55E9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三つに分ける理由</a:t>
            </a:r>
          </a:p>
        </p:txBody>
      </p:sp>
      <p:sp>
        <p:nvSpPr>
          <p:cNvPr id="15" name="q-index-rule-0-2">
            <a:extLst xmlns:a="http://schemas.openxmlformats.org/drawingml/2006/main">
              <a:ext uri="{FF2B5EF4-FFF2-40B4-BE49-F238E27FC236}">
                <a16:creationId xmlns:a16="http://schemas.microsoft.com/office/drawing/2014/main" id="{C99ECE1A-599A-4647-BFED-E2E9272F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6" name="q-index-0-3">
            <a:extLst xmlns:a="http://schemas.openxmlformats.org/drawingml/2006/main">
              <a:ext uri="{FF2B5EF4-FFF2-40B4-BE49-F238E27FC236}">
                <a16:creationId xmlns:a16="http://schemas.microsoft.com/office/drawing/2014/main" id="{0A1B3187-15F6-48C8-B93D-80588171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7" name="q-index-text-0-3">
            <a:extLst xmlns:a="http://schemas.openxmlformats.org/drawingml/2006/main">
              <a:ext uri="{FF2B5EF4-FFF2-40B4-BE49-F238E27FC236}">
                <a16:creationId xmlns:a16="http://schemas.microsoft.com/office/drawing/2014/main" id="{F87DEA3A-EF01-47AE-92B5-8C3BB338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StageとModuleの意味</a:t>
            </a:r>
          </a:p>
        </p:txBody>
      </p:sp>
      <p:sp>
        <p:nvSpPr>
          <p:cNvPr id="18" name="q-index-rule-0-3">
            <a:extLst xmlns:a="http://schemas.openxmlformats.org/drawingml/2006/main">
              <a:ext uri="{FF2B5EF4-FFF2-40B4-BE49-F238E27FC236}">
                <a16:creationId xmlns:a16="http://schemas.microsoft.com/office/drawing/2014/main" id="{CBD81FA5-1864-41E8-8087-7EF7B3B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9" name="q-index-0-4">
            <a:extLst xmlns:a="http://schemas.openxmlformats.org/drawingml/2006/main">
              <a:ext uri="{FF2B5EF4-FFF2-40B4-BE49-F238E27FC236}">
                <a16:creationId xmlns:a16="http://schemas.microsoft.com/office/drawing/2014/main" id="{FAF19F54-38EF-437C-8E22-81DD3082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20" name="q-index-text-0-4">
            <a:extLst xmlns:a="http://schemas.openxmlformats.org/drawingml/2006/main">
              <a:ext uri="{FF2B5EF4-FFF2-40B4-BE49-F238E27FC236}">
                <a16:creationId xmlns:a16="http://schemas.microsoft.com/office/drawing/2014/main" id="{933A5477-882E-4313-A05F-A733DF2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自動確認の限界</a:t>
            </a:r>
          </a:p>
        </p:txBody>
      </p:sp>
      <p:sp>
        <p:nvSpPr>
          <p:cNvPr id="21" name="q-index-rule-0-4">
            <a:extLst xmlns:a="http://schemas.openxmlformats.org/drawingml/2006/main">
              <a:ext uri="{FF2B5EF4-FFF2-40B4-BE49-F238E27FC236}">
                <a16:creationId xmlns:a16="http://schemas.microsoft.com/office/drawing/2014/main" id="{65C06157-4E75-4A35-A92D-71DE4D19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2" name="q-index-1-0">
            <a:extLst xmlns:a="http://schemas.openxmlformats.org/drawingml/2006/main">
              <a:ext uri="{FF2B5EF4-FFF2-40B4-BE49-F238E27FC236}">
                <a16:creationId xmlns:a16="http://schemas.microsoft.com/office/drawing/2014/main" id="{74FC7105-850E-4C9A-B8B9-E0C63FC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23" name="q-index-text-1-0">
            <a:extLst xmlns:a="http://schemas.openxmlformats.org/drawingml/2006/main">
              <a:ext uri="{FF2B5EF4-FFF2-40B4-BE49-F238E27FC236}">
                <a16:creationId xmlns:a16="http://schemas.microsoft.com/office/drawing/2014/main" id="{7DA5F63E-B68B-4A31-9854-D15D0933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人が映像を見る理由</a:t>
            </a:r>
          </a:p>
        </p:txBody>
      </p:sp>
      <p:sp>
        <p:nvSpPr>
          <p:cNvPr id="24" name="q-index-rule-1-0">
            <a:extLst xmlns:a="http://schemas.openxmlformats.org/drawingml/2006/main">
              <a:ext uri="{FF2B5EF4-FFF2-40B4-BE49-F238E27FC236}">
                <a16:creationId xmlns:a16="http://schemas.microsoft.com/office/drawing/2014/main" id="{08E4A4BD-1E11-4169-88D6-0A9F606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5" name="q-index-1-1">
            <a:extLst xmlns:a="http://schemas.openxmlformats.org/drawingml/2006/main">
              <a:ext uri="{FF2B5EF4-FFF2-40B4-BE49-F238E27FC236}">
                <a16:creationId xmlns:a16="http://schemas.microsoft.com/office/drawing/2014/main" id="{11A34164-5858-46CE-A3A0-B820EBA3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26" name="q-index-text-1-1">
            <a:extLst xmlns:a="http://schemas.openxmlformats.org/drawingml/2006/main">
              <a:ext uri="{FF2B5EF4-FFF2-40B4-BE49-F238E27FC236}">
                <a16:creationId xmlns:a16="http://schemas.microsoft.com/office/drawing/2014/main" id="{B2D79117-CC04-45BF-A78F-259C3FD8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Sensor差の読み方</a:t>
            </a:r>
          </a:p>
        </p:txBody>
      </p:sp>
      <p:sp>
        <p:nvSpPr>
          <p:cNvPr id="27" name="q-index-rule-1-1">
            <a:extLst xmlns:a="http://schemas.openxmlformats.org/drawingml/2006/main">
              <a:ext uri="{FF2B5EF4-FFF2-40B4-BE49-F238E27FC236}">
                <a16:creationId xmlns:a16="http://schemas.microsoft.com/office/drawing/2014/main" id="{57F77F76-2E5C-4B1A-87C2-81491134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8" name="q-index-1-2">
            <a:extLst xmlns:a="http://schemas.openxmlformats.org/drawingml/2006/main">
              <a:ext uri="{FF2B5EF4-FFF2-40B4-BE49-F238E27FC236}">
                <a16:creationId xmlns:a16="http://schemas.microsoft.com/office/drawing/2014/main" id="{169B2FF8-565E-4C85-A81B-37E882ED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29" name="q-index-text-1-2">
            <a:extLst xmlns:a="http://schemas.openxmlformats.org/drawingml/2006/main">
              <a:ext uri="{FF2B5EF4-FFF2-40B4-BE49-F238E27FC236}">
                <a16:creationId xmlns:a16="http://schemas.microsoft.com/office/drawing/2014/main" id="{91ED6978-63DA-46E5-B8AB-8D1AE217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新Sourceへの展開</a:t>
            </a:r>
          </a:p>
        </p:txBody>
      </p:sp>
      <p:sp>
        <p:nvSpPr>
          <p:cNvPr id="30" name="q-index-rule-1-2">
            <a:extLst xmlns:a="http://schemas.openxmlformats.org/drawingml/2006/main">
              <a:ext uri="{FF2B5EF4-FFF2-40B4-BE49-F238E27FC236}">
                <a16:creationId xmlns:a16="http://schemas.microsoft.com/office/drawing/2014/main" id="{EEBC9D6A-2F5D-48F8-8FB8-3E75D88C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1" name="q-index-1-3">
            <a:extLst xmlns:a="http://schemas.openxmlformats.org/drawingml/2006/main">
              <a:ext uri="{FF2B5EF4-FFF2-40B4-BE49-F238E27FC236}">
                <a16:creationId xmlns:a16="http://schemas.microsoft.com/office/drawing/2014/main" id="{95B7E20A-4B8B-4050-BC70-2A0B7C96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32" name="q-index-text-1-3">
            <a:extLst xmlns:a="http://schemas.openxmlformats.org/drawingml/2006/main">
              <a:ext uri="{FF2B5EF4-FFF2-40B4-BE49-F238E27FC236}">
                <a16:creationId xmlns:a16="http://schemas.microsoft.com/office/drawing/2014/main" id="{B5463B9B-D677-4819-9A36-0491AFEB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一人での保守</a:t>
            </a:r>
          </a:p>
        </p:txBody>
      </p:sp>
      <p:sp>
        <p:nvSpPr>
          <p:cNvPr id="33" name="q-index-rule-1-3">
            <a:extLst xmlns:a="http://schemas.openxmlformats.org/drawingml/2006/main">
              <a:ext uri="{FF2B5EF4-FFF2-40B4-BE49-F238E27FC236}">
                <a16:creationId xmlns:a16="http://schemas.microsoft.com/office/drawing/2014/main" id="{9675D9D1-007C-44E7-A109-FD77DA69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4" name="q-index-1-4">
            <a:extLst xmlns:a="http://schemas.openxmlformats.org/drawingml/2006/main">
              <a:ext uri="{FF2B5EF4-FFF2-40B4-BE49-F238E27FC236}">
                <a16:creationId xmlns:a16="http://schemas.microsoft.com/office/drawing/2014/main" id="{365AE045-0847-4B59-A61B-F12A1A3F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  <p:sp>
        <p:nvSpPr>
          <p:cNvPr id="35" name="q-index-text-1-4">
            <a:extLst xmlns:a="http://schemas.openxmlformats.org/drawingml/2006/main">
              <a:ext uri="{FF2B5EF4-FFF2-40B4-BE49-F238E27FC236}">
                <a16:creationId xmlns:a16="http://schemas.microsoft.com/office/drawing/2014/main" id="{19DE6E01-B427-4421-80F9-2B64328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Teamでの保守</a:t>
            </a:r>
          </a:p>
        </p:txBody>
      </p:sp>
      <p:sp>
        <p:nvSpPr>
          <p:cNvPr id="36" name="q-index-rule-1-4">
            <a:extLst xmlns:a="http://schemas.openxmlformats.org/drawingml/2006/main">
              <a:ext uri="{FF2B5EF4-FFF2-40B4-BE49-F238E27FC236}">
                <a16:creationId xmlns:a16="http://schemas.microsoft.com/office/drawing/2014/main" id="{471E644E-3485-4DDE-8153-4404C753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7" name="index-hint">
            <a:extLst xmlns:a="http://schemas.openxmlformats.org/drawingml/2006/main">
              <a:ext uri="{FF2B5EF4-FFF2-40B4-BE49-F238E27FC236}">
                <a16:creationId xmlns:a16="http://schemas.microsoft.com/office/drawing/2014/main" id="{944B3DB4-011C-49E6-B483-BFE29749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436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必要な項目だけ選んで説明します</a:t>
            </a:r>
          </a:p>
        </p:txBody>
      </p:sp>
    </p:spTree>
    <p:extLst>
      <p:ext uri="{BB962C8B-B14F-4D97-AF65-F5344CB8AC3E}">
        <p14:creationId xmlns:p14="http://schemas.microsoft.com/office/powerpoint/2010/main" val="11374046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0861A8-65DC-4F53-9635-27F117E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EB0DB4D3-7C0A-47A5-B87A-255C3D2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0DB9E0-1B0F-4868-B784-C5E2ED5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補足資料：成果・運用・保守・展開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1818F8C-CB97-43E6-90DB-1B0A04C6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3FB087A-C685-4F8C-AFBF-3579D75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7759E3-6883-4E72-ACA4-5776840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  <p:sp>
        <p:nvSpPr>
          <p:cNvPr id="7" name="q-index-0-0">
            <a:extLst xmlns:a="http://schemas.openxmlformats.org/drawingml/2006/main">
              <a:ext uri="{FF2B5EF4-FFF2-40B4-BE49-F238E27FC236}">
                <a16:creationId xmlns:a16="http://schemas.microsoft.com/office/drawing/2014/main" id="{6481938D-8BD5-40AF-B246-2B024B5A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8" name="q-index-text-0-0">
            <a:extLst xmlns:a="http://schemas.openxmlformats.org/drawingml/2006/main">
              <a:ext uri="{FF2B5EF4-FFF2-40B4-BE49-F238E27FC236}">
                <a16:creationId xmlns:a16="http://schemas.microsoft.com/office/drawing/2014/main" id="{9A77A31A-6FC6-4840-9BBA-BB871C1D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次のCamera評価</a:t>
            </a:r>
          </a:p>
        </p:txBody>
      </p:sp>
      <p:sp>
        <p:nvSpPr>
          <p:cNvPr id="9" name="q-index-rule-0-0">
            <a:extLst xmlns:a="http://schemas.openxmlformats.org/drawingml/2006/main">
              <a:ext uri="{FF2B5EF4-FFF2-40B4-BE49-F238E27FC236}">
                <a16:creationId xmlns:a16="http://schemas.microsoft.com/office/drawing/2014/main" id="{6D90EF3A-8911-4955-810C-915C8B6E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0" name="q-index-0-1">
            <a:extLst xmlns:a="http://schemas.openxmlformats.org/drawingml/2006/main">
              <a:ext uri="{FF2B5EF4-FFF2-40B4-BE49-F238E27FC236}">
                <a16:creationId xmlns:a16="http://schemas.microsoft.com/office/drawing/2014/main" id="{8D4BFB3E-1038-44F3-9045-4D44F2D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1" name="q-index-text-0-1">
            <a:extLst xmlns:a="http://schemas.openxmlformats.org/drawingml/2006/main">
              <a:ext uri="{FF2B5EF4-FFF2-40B4-BE49-F238E27FC236}">
                <a16:creationId xmlns:a16="http://schemas.microsoft.com/office/drawing/2014/main" id="{3A1865AE-CA8C-498C-8B5D-48513143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今回完成したもの</a:t>
            </a:r>
          </a:p>
        </p:txBody>
      </p:sp>
      <p:sp>
        <p:nvSpPr>
          <p:cNvPr id="12" name="q-index-rule-0-1">
            <a:extLst xmlns:a="http://schemas.openxmlformats.org/drawingml/2006/main">
              <a:ext uri="{FF2B5EF4-FFF2-40B4-BE49-F238E27FC236}">
                <a16:creationId xmlns:a16="http://schemas.microsoft.com/office/drawing/2014/main" id="{1A208F60-AEAF-4940-83E4-FF8DE05E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3" name="q-index-0-2">
            <a:extLst xmlns:a="http://schemas.openxmlformats.org/drawingml/2006/main">
              <a:ext uri="{FF2B5EF4-FFF2-40B4-BE49-F238E27FC236}">
                <a16:creationId xmlns:a16="http://schemas.microsoft.com/office/drawing/2014/main" id="{F01AF619-2298-4AC2-B24E-48858016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4" name="q-index-text-0-2">
            <a:extLst xmlns:a="http://schemas.openxmlformats.org/drawingml/2006/main">
              <a:ext uri="{FF2B5EF4-FFF2-40B4-BE49-F238E27FC236}">
                <a16:creationId xmlns:a16="http://schemas.microsoft.com/office/drawing/2014/main" id="{953E4407-1057-487D-AF3F-EA5D6AA4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確認作業の削減</a:t>
            </a:r>
          </a:p>
        </p:txBody>
      </p:sp>
      <p:sp>
        <p:nvSpPr>
          <p:cNvPr id="15" name="q-index-rule-0-2">
            <a:extLst xmlns:a="http://schemas.openxmlformats.org/drawingml/2006/main">
              <a:ext uri="{FF2B5EF4-FFF2-40B4-BE49-F238E27FC236}">
                <a16:creationId xmlns:a16="http://schemas.microsoft.com/office/drawing/2014/main" id="{46641A12-3609-475F-90D5-890112A1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6" name="q-index-0-3">
            <a:extLst xmlns:a="http://schemas.openxmlformats.org/drawingml/2006/main">
              <a:ext uri="{FF2B5EF4-FFF2-40B4-BE49-F238E27FC236}">
                <a16:creationId xmlns:a16="http://schemas.microsoft.com/office/drawing/2014/main" id="{9B5305B0-693E-435B-AE7C-28A2215A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7" name="q-index-text-0-3">
            <a:extLst xmlns:a="http://schemas.openxmlformats.org/drawingml/2006/main">
              <a:ext uri="{FF2B5EF4-FFF2-40B4-BE49-F238E27FC236}">
                <a16:creationId xmlns:a16="http://schemas.microsoft.com/office/drawing/2014/main" id="{DC997CCE-0730-4C55-9E6E-5E2F6745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MATLABとの接続</a:t>
            </a:r>
          </a:p>
        </p:txBody>
      </p:sp>
      <p:sp>
        <p:nvSpPr>
          <p:cNvPr id="18" name="q-index-rule-0-3">
            <a:extLst xmlns:a="http://schemas.openxmlformats.org/drawingml/2006/main">
              <a:ext uri="{FF2B5EF4-FFF2-40B4-BE49-F238E27FC236}">
                <a16:creationId xmlns:a16="http://schemas.microsoft.com/office/drawing/2014/main" id="{0CE3DB66-BB11-4F65-8AE2-2AB3FE8C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19" name="q-index-0-4">
            <a:extLst xmlns:a="http://schemas.openxmlformats.org/drawingml/2006/main">
              <a:ext uri="{FF2B5EF4-FFF2-40B4-BE49-F238E27FC236}">
                <a16:creationId xmlns:a16="http://schemas.microsoft.com/office/drawing/2014/main" id="{5C6FE2A6-BE04-40C3-B893-B8C5685C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20" name="q-index-text-0-4">
            <a:extLst xmlns:a="http://schemas.openxmlformats.org/drawingml/2006/main">
              <a:ext uri="{FF2B5EF4-FFF2-40B4-BE49-F238E27FC236}">
                <a16:creationId xmlns:a16="http://schemas.microsoft.com/office/drawing/2014/main" id="{FA2FFE61-704F-4AF1-B309-B402D11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HIENG・CanViewとの分担</a:t>
            </a:r>
          </a:p>
        </p:txBody>
      </p:sp>
      <p:sp>
        <p:nvSpPr>
          <p:cNvPr id="21" name="q-index-rule-0-4">
            <a:extLst xmlns:a="http://schemas.openxmlformats.org/drawingml/2006/main">
              <a:ext uri="{FF2B5EF4-FFF2-40B4-BE49-F238E27FC236}">
                <a16:creationId xmlns:a16="http://schemas.microsoft.com/office/drawing/2014/main" id="{2F565136-55DA-421B-9B13-8BCAC6F2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0970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2" name="q-index-1-0">
            <a:extLst xmlns:a="http://schemas.openxmlformats.org/drawingml/2006/main">
              <a:ext uri="{FF2B5EF4-FFF2-40B4-BE49-F238E27FC236}">
                <a16:creationId xmlns:a16="http://schemas.microsoft.com/office/drawing/2014/main" id="{4FF3BEB7-CCCC-472C-869E-91F3F8D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23" name="q-index-text-1-0">
            <a:extLst xmlns:a="http://schemas.openxmlformats.org/drawingml/2006/main">
              <a:ext uri="{FF2B5EF4-FFF2-40B4-BE49-F238E27FC236}">
                <a16:creationId xmlns:a16="http://schemas.microsoft.com/office/drawing/2014/main" id="{76F4EF0E-B613-4A23-8C6F-94FE9B1F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ModuleとProfile</a:t>
            </a:r>
          </a:p>
        </p:txBody>
      </p:sp>
      <p:sp>
        <p:nvSpPr>
          <p:cNvPr id="24" name="q-index-rule-1-0">
            <a:extLst xmlns:a="http://schemas.openxmlformats.org/drawingml/2006/main">
              <a:ext uri="{FF2B5EF4-FFF2-40B4-BE49-F238E27FC236}">
                <a16:creationId xmlns:a16="http://schemas.microsoft.com/office/drawing/2014/main" id="{5BEE287C-0CEA-4F24-90E4-6281C28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23241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5" name="q-index-1-1">
            <a:extLst xmlns:a="http://schemas.openxmlformats.org/drawingml/2006/main">
              <a:ext uri="{FF2B5EF4-FFF2-40B4-BE49-F238E27FC236}">
                <a16:creationId xmlns:a16="http://schemas.microsoft.com/office/drawing/2014/main" id="{1FDF88BA-1713-4205-A9D7-8D7AC00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26" name="q-index-text-1-1">
            <a:extLst xmlns:a="http://schemas.openxmlformats.org/drawingml/2006/main">
              <a:ext uri="{FF2B5EF4-FFF2-40B4-BE49-F238E27FC236}">
                <a16:creationId xmlns:a16="http://schemas.microsoft.com/office/drawing/2014/main" id="{29AA4497-7E4B-4B0E-98BE-AC0279B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変更履歴の確認</a:t>
            </a:r>
          </a:p>
        </p:txBody>
      </p:sp>
      <p:sp>
        <p:nvSpPr>
          <p:cNvPr id="27" name="q-index-rule-1-1">
            <a:extLst xmlns:a="http://schemas.openxmlformats.org/drawingml/2006/main">
              <a:ext uri="{FF2B5EF4-FFF2-40B4-BE49-F238E27FC236}">
                <a16:creationId xmlns:a16="http://schemas.microsoft.com/office/drawing/2014/main" id="{800D762F-9C85-4267-8BF7-A8FDA2F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1432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28" name="q-index-1-2">
            <a:extLst xmlns:a="http://schemas.openxmlformats.org/drawingml/2006/main">
              <a:ext uri="{FF2B5EF4-FFF2-40B4-BE49-F238E27FC236}">
                <a16:creationId xmlns:a16="http://schemas.microsoft.com/office/drawing/2014/main" id="{EA86D336-CE47-427B-B723-16393BA6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29" name="q-index-text-1-2">
            <a:extLst xmlns:a="http://schemas.openxmlformats.org/drawingml/2006/main">
              <a:ext uri="{FF2B5EF4-FFF2-40B4-BE49-F238E27FC236}">
                <a16:creationId xmlns:a16="http://schemas.microsoft.com/office/drawing/2014/main" id="{DE920510-4127-46AB-9C3D-719330E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Black Box防止</a:t>
            </a:r>
          </a:p>
        </p:txBody>
      </p:sp>
      <p:sp>
        <p:nvSpPr>
          <p:cNvPr id="30" name="q-index-rule-1-2">
            <a:extLst xmlns:a="http://schemas.openxmlformats.org/drawingml/2006/main">
              <a:ext uri="{FF2B5EF4-FFF2-40B4-BE49-F238E27FC236}">
                <a16:creationId xmlns:a16="http://schemas.microsoft.com/office/drawing/2014/main" id="{903B4F11-A6D9-44C6-9529-FE0B4D88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39624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1" name="q-index-1-3">
            <a:extLst xmlns:a="http://schemas.openxmlformats.org/drawingml/2006/main">
              <a:ext uri="{FF2B5EF4-FFF2-40B4-BE49-F238E27FC236}">
                <a16:creationId xmlns:a16="http://schemas.microsoft.com/office/drawing/2014/main" id="{9BD2D476-A67F-453D-8A11-A8535B5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32" name="q-index-text-1-3">
            <a:extLst xmlns:a="http://schemas.openxmlformats.org/drawingml/2006/main">
              <a:ext uri="{FF2B5EF4-FFF2-40B4-BE49-F238E27FC236}">
                <a16:creationId xmlns:a16="http://schemas.microsoft.com/office/drawing/2014/main" id="{AE76BEE4-08A6-43A9-A80A-C27247EC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新Sourceの確認項目</a:t>
            </a:r>
          </a:p>
        </p:txBody>
      </p:sp>
      <p:sp>
        <p:nvSpPr>
          <p:cNvPr id="33" name="q-index-rule-1-3">
            <a:extLst xmlns:a="http://schemas.openxmlformats.org/drawingml/2006/main">
              <a:ext uri="{FF2B5EF4-FFF2-40B4-BE49-F238E27FC236}">
                <a16:creationId xmlns:a16="http://schemas.microsoft.com/office/drawing/2014/main" id="{074BE772-E6C6-4EE9-9485-39B637B0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478155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4" name="q-index-1-4">
            <a:extLst xmlns:a="http://schemas.openxmlformats.org/drawingml/2006/main">
              <a:ext uri="{FF2B5EF4-FFF2-40B4-BE49-F238E27FC236}">
                <a16:creationId xmlns:a16="http://schemas.microsoft.com/office/drawing/2014/main" id="{D57C2EF0-6B86-4997-9590-46E681BF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  <p:sp>
        <p:nvSpPr>
          <p:cNvPr id="35" name="q-index-text-1-4">
            <a:extLst xmlns:a="http://schemas.openxmlformats.org/drawingml/2006/main">
              <a:ext uri="{FF2B5EF4-FFF2-40B4-BE49-F238E27FC236}">
                <a16:creationId xmlns:a16="http://schemas.microsoft.com/office/drawing/2014/main" id="{1A2C8B18-13AB-4EDD-B0DC-F7A5413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Projectの育て方</a:t>
            </a:r>
          </a:p>
        </p:txBody>
      </p:sp>
      <p:sp>
        <p:nvSpPr>
          <p:cNvPr id="36" name="q-index-rule-1-4">
            <a:extLst xmlns:a="http://schemas.openxmlformats.org/drawingml/2006/main">
              <a:ext uri="{FF2B5EF4-FFF2-40B4-BE49-F238E27FC236}">
                <a16:creationId xmlns:a16="http://schemas.microsoft.com/office/drawing/2014/main" id="{B3731E99-F48A-437E-80BC-F480A12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38950" y="5600700"/>
            <a:ext cx="421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1"/>
            </a:solidFill>
            <a:prstDash val="solid"/>
          </a:ln>
        </p:spPr>
      </p:sp>
      <p:sp>
        <p:nvSpPr>
          <p:cNvPr id="37" name="index-hint">
            <a:extLst xmlns:a="http://schemas.openxmlformats.org/drawingml/2006/main">
              <a:ext uri="{FF2B5EF4-FFF2-40B4-BE49-F238E27FC236}">
                <a16:creationId xmlns:a16="http://schemas.microsoft.com/office/drawing/2014/main" id="{8A18B386-AFEB-45FE-881F-DD4745DC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436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現在の成果と、次のCamera工程への展開を説明します</a:t>
            </a:r>
          </a:p>
        </p:txBody>
      </p:sp>
    </p:spTree>
    <p:extLst>
      <p:ext uri="{BB962C8B-B14F-4D97-AF65-F5344CB8AC3E}">
        <p14:creationId xmlns:p14="http://schemas.microsoft.com/office/powerpoint/2010/main" val="19955374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Excelで確認すれば十分ではありませんか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Excelが得意なこと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少数区間の確認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Graph作成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最終Report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数値の手動確認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説明資料の編集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Uシリーズが前段で行うこと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更新時点をそろえる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無効値を区別する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対象切替を整理する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全量から候補を絞る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確認理由を残す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Excelを残し、Excelで確認する範囲を減らす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F318FEFC-863C-4173-B73F-5D6EB4C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EB14CB8C-FCBD-449D-B92F-2BE0A27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CA0735-1BE7-4FE3-A63E-337A84C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なぜ最初の確認課題にRadar欠落を選びましたか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2E46F6-D864-4E44-8D90-B06A3AA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62E90C-712C-4C4F-A2C1-23246C9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70C079-B10F-44C2-80FB-0751A873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BD36DCA6-C446-4F2D-87E3-B3878398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経路確認に向いていた理由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93FF6806-D3D9-49A6-8E76-2B5E171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68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033A33C3-9ED3-494B-A6F9-EADCCAA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E86F7B16-F6ED-4ED1-AC07-3A87D888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無効になる時点が明確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映像でTarget位置を確認できる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人が正否を判断できる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全量候補を作りやすい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U001–U003を一度に試せる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082BC540-85D2-4265-A96F-7BACC3A1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58B2A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C58B2A"/>
                </a:solidFill>
                <a:latin typeface="Hiragino Kaku Gothic ProN"/>
                <a:ea typeface="Hiragino Kaku Gothic ProN"/>
                <a:cs typeface="Hiragino Kaku Gothic ProN"/>
              </a:rPr>
              <a:t>この結果が意味しないこと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57B5CEC-665D-4833-9CA5-C5B2C8D8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8B2A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619A4563-F921-4012-9FA2-C3FEE78A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BF0D9"/>
          </a:solidFill>
          <a:ln xmlns:a="http://schemas.openxmlformats.org/drawingml/2006/main" w="14288">
            <a:solidFill>
              <a:srgbClr val="C58B2A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2CE8596D-BD0B-449E-B2A2-A0F5B95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Radarを正解データにしない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Camera評価の完了ではない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Radar主課題への変更ではない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全道路への一般化ではない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正式な主対象はCamera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9BDCE72-EBC0-484E-9907-A1C7B16E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E62E4593-9CB5-4D11-89F8-A975ADA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Radarは経路確認用の課題、正式な主対象はCamera性能</a:t>
            </a:r>
          </a:p>
        </p:txBody>
      </p:sp>
    </p:spTree>
    <p:extLst>
      <p:ext uri="{BB962C8B-B14F-4D97-AF65-F5344CB8AC3E}">
        <p14:creationId xmlns:p14="http://schemas.microsoft.com/office/powerpoint/2010/main" val="908660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0BC29236-82AF-4C3B-A88B-51465605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AFF29F6C-D71E-43C3-8DB9-15C76B3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BC7CF-00D8-409C-811A-F7F9FC7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一つのProgramにまとめた方が簡単ではありませんか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30827-9340-49C9-B1B7-7BD2119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44DF7E-2A1A-42A4-9A88-FB5FA19B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0E4D3F-608D-4B49-8739-F70BD3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4D06CFF-8CAB-42AA-90FE-7DEF281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7035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CAC6DAA-7F2F-4C71-8458-5485523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97800" y="3190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box-1">
            <a:extLst xmlns:a="http://schemas.openxmlformats.org/drawingml/2006/main">
              <a:ext uri="{FF2B5EF4-FFF2-40B4-BE49-F238E27FC236}">
                <a16:creationId xmlns:a16="http://schemas.microsoft.com/office/drawing/2014/main" id="{CBA1CEF3-DA0F-45B3-A858-1F43C202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flow-badge-1">
            <a:extLst xmlns:a="http://schemas.openxmlformats.org/drawingml/2006/main">
              <a:ext uri="{FF2B5EF4-FFF2-40B4-BE49-F238E27FC236}">
                <a16:creationId xmlns:a16="http://schemas.microsoft.com/office/drawing/2014/main" id="{7E2AF246-7C4A-4AEE-9D79-5A38E13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60ED1C-266E-4230-AA4B-8C9C38F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U001：データ変換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0C3D12F-EEB6-4220-A195-22A0F7C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元データと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品質を確認</a:t>
            </a:r>
          </a:p>
        </p:txBody>
      </p:sp>
      <p:sp>
        <p:nvSpPr>
          <p:cNvPr id="13" name="flow-box-2">
            <a:extLst xmlns:a="http://schemas.openxmlformats.org/drawingml/2006/main">
              <a:ext uri="{FF2B5EF4-FFF2-40B4-BE49-F238E27FC236}">
                <a16:creationId xmlns:a16="http://schemas.microsoft.com/office/drawing/2014/main" id="{221E531E-4684-44FE-96E2-AB6347B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flow-badge-2">
            <a:extLst xmlns:a="http://schemas.openxmlformats.org/drawingml/2006/main">
              <a:ext uri="{FF2B5EF4-FFF2-40B4-BE49-F238E27FC236}">
                <a16:creationId xmlns:a16="http://schemas.microsoft.com/office/drawing/2014/main" id="{43EECA2A-6B83-44CD-97B6-3994ED1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42A1A31-020D-4BA9-8643-667F536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U002：分析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4E765A2-C89A-46CF-A1C0-631A6DE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Moduleと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候補理由を確認</a:t>
            </a:r>
          </a:p>
        </p:txBody>
      </p:sp>
      <p:sp>
        <p:nvSpPr>
          <p:cNvPr id="17" name="flow-box-3">
            <a:extLst xmlns:a="http://schemas.openxmlformats.org/drawingml/2006/main">
              <a:ext uri="{FF2B5EF4-FFF2-40B4-BE49-F238E27FC236}">
                <a16:creationId xmlns:a16="http://schemas.microsoft.com/office/drawing/2014/main" id="{70093573-6196-4C7B-A604-38291B3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333625"/>
            <a:ext cx="347980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8" name="flow-badge-3">
            <a:extLst xmlns:a="http://schemas.openxmlformats.org/drawingml/2006/main">
              <a:ext uri="{FF2B5EF4-FFF2-40B4-BE49-F238E27FC236}">
                <a16:creationId xmlns:a16="http://schemas.microsoft.com/office/drawing/2014/main" id="{BB7435CF-AFE2-4FB6-B970-3DACECE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850" y="2009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0E22A2C-8AD7-44A0-BFEB-3C5FAFA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0325"/>
            <a:ext cx="321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U003：人工判断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85BD930-BA69-4D49-9AA8-EF17C7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81350"/>
            <a:ext cx="3213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映像とCANで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最終確認</a:t>
            </a:r>
          </a:p>
        </p:txBody>
      </p:sp>
      <p:sp>
        <p:nvSpPr>
          <p:cNvPr id="21" name="flow-kicker">
            <a:extLst xmlns:a="http://schemas.openxmlformats.org/drawingml/2006/main">
              <a:ext uri="{FF2B5EF4-FFF2-40B4-BE49-F238E27FC236}">
                <a16:creationId xmlns:a16="http://schemas.microsoft.com/office/drawing/2014/main" id="{54010D7A-D943-4ED3-9788-B305C31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操作は連続、内部の責任は分離</a:t>
            </a:r>
          </a:p>
        </p:txBody>
      </p:sp>
      <p:sp>
        <p:nvSpPr>
          <p:cNvPr id="22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36FBEF3C-20A7-4D99-97E8-8C48979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23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45D54776-8780-4AA0-BFF1-5046A85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結果が変わった時、原因の場所を追える構成にする</a:t>
            </a:r>
          </a:p>
        </p:txBody>
      </p:sp>
    </p:spTree>
    <p:extLst>
      <p:ext uri="{BB962C8B-B14F-4D97-AF65-F5344CB8AC3E}">
        <p14:creationId xmlns:p14="http://schemas.microsoft.com/office/powerpoint/2010/main" val="3923131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StageとModuleは複雑すぎませんか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共通入力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信号とFrame
形式を固定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Stage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各段階の
役割を固定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必要な計算
だけを書く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自動確認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Sampleで
動作を確認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全量実行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他のStageは
作り直さない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MATLAB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同じ入口から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将来接続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厳しい入出力規則が、新Module開発の範囲を小さくする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自動確認が通れば、工程結論も正しいですか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Programの動作確認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入力形式を読める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計算が終了する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必要な出力がある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Sample結果と一致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異常時に停止できる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実車での意味確認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同じ対象を見ているか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時間差がないか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無効値ではないか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映像現象と一致するか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別の原因ではないか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Programが動くことと、工程説明が正しいことを分けて確認する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自動分析の後に、なぜ人が映像を確認しますか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全量データ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長時間・多数信号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少数候補へ
圧縮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必要区間だけ
映像確認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工程判断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現象と原因を
区別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工程経験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失敗の形と
判断理由を学ぶ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改善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判断結果をModuleと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Profileへ反映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現在の品質保証と、将来の工程経験の蓄積を同時に行う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D29C0E-8851-475B-B0F5-B217551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BB3C47BB-F314-452D-8A17-3E4FBF6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2A0E13-A5D8-4B5C-9CFE-B471BA0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RadarとCameraの値が違えば、Cameraが間違っていますか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0DE6A1-4B81-4C8F-BD34-94378F3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D3A1F6-159A-4154-BB7E-1A04F55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3A81D-07D9-4398-84AC-8B66169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  <p:sp>
        <p:nvSpPr>
          <p:cNvPr id="7" name="bullet-surface">
            <a:extLst xmlns:a="http://schemas.openxmlformats.org/drawingml/2006/main">
              <a:ext uri="{FF2B5EF4-FFF2-40B4-BE49-F238E27FC236}">
                <a16:creationId xmlns:a16="http://schemas.microsoft.com/office/drawing/2014/main" id="{125E00DB-BCBB-49A5-858C-EE43778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047750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bullet-list">
            <a:extLst xmlns:a="http://schemas.openxmlformats.org/drawingml/2006/main">
              <a:ext uri="{FF2B5EF4-FFF2-40B4-BE49-F238E27FC236}">
                <a16:creationId xmlns:a16="http://schemas.microsoft.com/office/drawing/2014/main" id="{278478C9-3462-456F-92F4-B684683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9829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二つのセンサが別の車両を見ている場合がある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信号の更新時刻がずれる場合がある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Radarが一時的に対象を見失う場合がある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測定する位置や定義が異なる場合がある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まず同じ時点・同じ対象かを確認する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確認前は『Camera誤差』ではなく『二つのセンサの差』と呼ぶ</a:t>
            </a:r>
          </a:p>
        </p:txBody>
      </p:sp>
      <p:sp>
        <p:nvSpPr>
          <p:cNvPr id="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ABD679A-60F1-4ACE-9C18-79315CC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BDED84F5-1A2A-45FD-9FDD-0C94473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読数が違うだけでは、どちらが間違っているか決められない</a:t>
            </a:r>
          </a:p>
        </p:txBody>
      </p:sp>
    </p:spTree>
    <p:extLst>
      <p:ext uri="{BB962C8B-B14F-4D97-AF65-F5344CB8AC3E}">
        <p14:creationId xmlns:p14="http://schemas.microsoft.com/office/powerpoint/2010/main" val="15243366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69684B9-BFE4-4359-8FB8-52A1636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519D2CFC-5ECD-4EFC-9200-86358A6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F207-1034-4A10-A6BA-1913ED7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他の車両、GNSS、LiDARにも使用できますか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22F048-659D-44AB-9BD3-DB0C8E6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5705AB-3231-4D60-A934-71BBC7A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7116A-C582-488C-ABE0-4E89758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284D5C2-F5D9-406F-824C-11F1ACD5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0D9E487-2E92-4DF2-A977-B37F286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A5257C4-F9B2-4B70-B156-D3A10E8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CE3205CD-7559-4D2D-8684-78E4232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3FF7F08E-27F4-4814-B9EA-1C62443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A088A2E4-5779-4705-B15C-B198B4E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61820BE-EE2B-468B-8414-A4FE2CD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新しい入力源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92B20B9-0C04-4E0F-A73C-EA35BCC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CAN・GNSS
LiDAR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33EAA83E-D56E-4263-9F59-FEB606C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DCDF98B7-FD32-4030-AC02-F0C1F8C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Driver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A7103A8-036A-44A4-843A-B144FFB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固有形式を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読み取る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40B06EBC-6CA4-4A54-AFEB-5F6E19F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FCBE8D-038E-4DEA-AF86-46D2E7A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Adapter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F67A01A-E845-4032-A60B-5FBE06A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単位・時刻・
有効性を変換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3DBBF726-7BA7-4752-921B-9CF0E36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057DAC3-F07C-4068-94B9-0E08FF1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D55E78B-C5C2-4DFB-A34F-5043C49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解析用の共通表へ
整理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FB870EE1-B56F-449B-9DF2-760A1B2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3784CC1-3D5D-4FB8-92A5-A62A678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F5F06B8-8ABF-44B7-8FB2-A9F5980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既存の分析を
再利用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EEE93533-BA63-41CE-958D-F4AC9D2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14231920-2C03-425E-9A6D-AA7FA40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E1E2F060-7F73-41DE-8C6E-734E760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映像・データ確認を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再利用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1A468857-ED6E-4BCB-B158-2203B07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98B85BF1-D65E-4AB8-B803-3BE8DD5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新しい入力源用の入口だけを作り、後段の分析とReviewを再利用する</a:t>
            </a:r>
          </a:p>
        </p:txBody>
      </p:sp>
    </p:spTree>
    <p:extLst>
      <p:ext uri="{BB962C8B-B14F-4D97-AF65-F5344CB8AC3E}">
        <p14:creationId xmlns:p14="http://schemas.microsoft.com/office/powerpoint/2010/main" val="5862252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D29C0E-8851-475B-B0F5-B217551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BB3C47BB-F314-452D-8A17-3E4FBF6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2A0E13-A5D8-4B5C-9CFE-B471BA0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新しいSourceを追加する時、何を確認しますか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0DE6A1-4B81-4C8F-BD34-94378F3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D3A1F6-159A-4154-BB7E-1A04F55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83A81D-07D9-4398-84AC-8B66169F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  <p:sp>
        <p:nvSpPr>
          <p:cNvPr id="7" name="bullet-surface">
            <a:extLst xmlns:a="http://schemas.openxmlformats.org/drawingml/2006/main">
              <a:ext uri="{FF2B5EF4-FFF2-40B4-BE49-F238E27FC236}">
                <a16:creationId xmlns:a16="http://schemas.microsoft.com/office/drawing/2014/main" id="{125E00DB-BCBB-49A5-858C-EE43778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047750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bullet-list">
            <a:extLst xmlns:a="http://schemas.openxmlformats.org/drawingml/2006/main">
              <a:ext uri="{FF2B5EF4-FFF2-40B4-BE49-F238E27FC236}">
                <a16:creationId xmlns:a16="http://schemas.microsoft.com/office/drawing/2014/main" id="{278478C9-3462-456F-92F4-B684683C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9829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Source固有の時間基準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信号の単位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座標系と正負方向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無効値の意味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更新周期と保持方法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6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Sampleと実データで適用範囲を確認</a:t>
            </a:r>
          </a:p>
        </p:txBody>
      </p:sp>
      <p:sp>
        <p:nvSpPr>
          <p:cNvPr id="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ABD679A-60F1-4ACE-9C18-79315CC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477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BDED84F5-1A2A-45FD-9FDD-0C94473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読み取り成功だけでは正式使用せず、確認後にProfileへ入れる</a:t>
            </a:r>
          </a:p>
        </p:txBody>
      </p:sp>
    </p:spTree>
    <p:extLst>
      <p:ext uri="{BB962C8B-B14F-4D97-AF65-F5344CB8AC3E}">
        <p14:creationId xmlns:p14="http://schemas.microsoft.com/office/powerpoint/2010/main" val="15243366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現在、一人でも開発・保守できますか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一人で扱える理由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役割ごとに場所を分けた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通常はCoreを変更しない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Module単位で追加する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Profileで条件を再利用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失敗位置を記録する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属人化を防ぐ準備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人が読めるCode構造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英語Comment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算法説明書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Sample Dataと自動確認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版管理と操作手順書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必要なら一人で継続でき、同時にTeamへ渡せる形にする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Team全体でも維持できますか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読みやすい設計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人が読める構造
英語Comment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算法説明書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目的・入力・
計算・限界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Sample Data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実データなしでも
動作確認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版管理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変更前後を
分けて保存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操作手順書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利用・開発・
排障を分離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Module単位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担当部分だけを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追加・変更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一人で使えることと、Teamで共有できることを両立する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7D244C-5535-471F-A9A1-1E894EF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055ED64B-6F35-4651-A022-F4D71F81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0DF82-6F1B-435D-A5F1-A3F0327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次に何を評価し、何を成果として出しますか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FE170D-56EB-40FD-BB5B-DD7345C5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5AE7CC-62BB-46A5-9524-DCC1A25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680B74-4583-494E-9002-CFD51A2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91C86C6-D8B5-475B-ABD9-554FEB81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AE02D62-3441-4F21-9034-A72572E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A0CD59C-6867-431D-9C2A-8A62C4E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FA5163AE-4F90-4180-A153-CB57872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AB2435DD-00F5-48C8-9428-56B6130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3F7CED79-7990-4B3E-AE9B-5414CB8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5AB5390-3AB9-4548-9422-4617226F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Camera課題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C24D2B1-ED98-4A53-BAE7-2F468F5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2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対象検出・追跡・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復帰を評価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2D9A0A43-4738-4AD6-9864-2DBAAA29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F74FE5D-1B22-4329-9030-E013D1CB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信号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B05740-727F-4E05-A49B-DE2E6C2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距離・横位置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姿勢・速度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AB7DB3CB-39B9-4DC3-8906-C783AB1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F82C685-7A74-47BF-9F07-12F8FA9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09631CA-8B64-4ACE-A934-8C8AC0C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分析方法を
実装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4DC2ADD3-37A2-4CD2-853E-546DD92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AD1D3577-AFF7-4E12-AE37-F6D851B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全量解析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E17810F-6119-42AB-AEE3-1483EC25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候補と理由を
生成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4E434097-8B1C-4403-859B-18F8023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1E14005-63ED-4B45-9EE3-8325DB5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15AF96C9-379D-4616-B8FF-10F38B0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映像とCANで
確認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44AFD022-D47E-4B89-990A-E9B28F1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68A2584B-A239-4C78-AC5A-C3E778E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85C5ACB4-F36E-4CB4-A6A1-91E7738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確認済み経路を
保存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B667461-51A9-449C-98E7-94DB2EC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80610380-53FB-4656-8482-E71ECCA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次の中心作業は、Camera性能に関する工程結論を作ること</a:t>
            </a:r>
          </a:p>
        </p:txBody>
      </p:sp>
    </p:spTree>
    <p:extLst>
      <p:ext uri="{BB962C8B-B14F-4D97-AF65-F5344CB8AC3E}">
        <p14:creationId xmlns:p14="http://schemas.microsoft.com/office/powerpoint/2010/main" val="4879954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今回、具体的に何が完成しましたか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実車で経路成立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Module式の骨格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確認・報告の自動化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Golden Runの16候補と全件Reviewは、三つの能力が実際に動くことを示した。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最重要の成果は、課題に合わせてModuleを展開できる実行基盤が成立したこと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6530FA-F39F-4D53-A5CC-3FD1F8E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CCAB3FFC-EEEC-48D8-80F3-E807EE9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58916-9909-46DC-93AF-47F31A6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実際にどの程度、確認作業を減らせますか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B93324-D2DA-4FD9-BCF2-DA74209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A0A0F2-0180-4C7B-B8F0-4F029F8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69C8DC-401B-441E-A285-F8EC06E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29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6D7892D0-6E68-4875-AE53-69E1376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8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0726FBE8-FDF2-463E-BD0B-D6111C9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50,198</a:t>
            </a:r>
          </a:p>
        </p:txBody>
      </p:sp>
      <p:sp>
        <p:nvSpPr>
          <p:cNvPr id="9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B330E28-0D9A-4A81-8ACD-606A248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評価Frame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018913C9-7D68-44CA-AA82-CBF53BA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12EC52E-1F8D-4ED1-89E0-E00A8D16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E6F9E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  <p:sp>
        <p:nvSpPr>
          <p:cNvPr id="12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6841A41E-D79C-44D6-8E8A-B1F10449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確認候補</a:t>
            </a:r>
          </a:p>
        </p:txBody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79F0B500-8C60-44ED-8400-68A538B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3274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14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E87C321-7A2B-4102-8978-C10593C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2095500"/>
            <a:ext cx="309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F7D68"/>
                </a:solidFill>
                <a:latin typeface="Hiragino Kaku Gothic ProN"/>
                <a:ea typeface="Hiragino Kaku Gothic ProN"/>
                <a:cs typeface="Hiragino Kaku Gothic ProN"/>
              </a:rPr>
              <a:t>4点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608F5A2-8E33-4688-886C-B39BD8B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914650"/>
            <a:ext cx="302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Frame・映像・CAN・理由</a:t>
            </a:r>
          </a:p>
        </p:txBody>
      </p:sp>
      <p:sp>
        <p:nvSpPr>
          <p:cNvPr id="16" name="metric-explain">
            <a:extLst xmlns:a="http://schemas.openxmlformats.org/drawingml/2006/main">
              <a:ext uri="{FF2B5EF4-FFF2-40B4-BE49-F238E27FC236}">
                <a16:creationId xmlns:a16="http://schemas.microsoft.com/office/drawing/2014/main" id="{B1395408-979C-4213-A9F8-9745075A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rPr>
              <a:t>正式な工数測定は未実施だが、全動画探索を理由付き候補の確認へ変換した。</a:t>
            </a:r>
          </a:p>
        </p:txBody>
      </p:sp>
      <p:sp>
        <p:nvSpPr>
          <p:cNvPr id="17" name="metric-conclusion">
            <a:extLst xmlns:a="http://schemas.openxmlformats.org/drawingml/2006/main">
              <a:ext uri="{FF2B5EF4-FFF2-40B4-BE49-F238E27FC236}">
                <a16:creationId xmlns:a16="http://schemas.microsoft.com/office/drawing/2014/main" id="{E0A0A2DD-3892-4C71-9D81-7E986E5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8" name="metric-conclusion-text">
            <a:extLst xmlns:a="http://schemas.openxmlformats.org/drawingml/2006/main">
              <a:ext uri="{FF2B5EF4-FFF2-40B4-BE49-F238E27FC236}">
                <a16:creationId xmlns:a16="http://schemas.microsoft.com/office/drawing/2014/main" id="{92FF0B22-A860-44C1-A315-50ABAC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YMC向け説明に必要な証拠を整理し、深い診断は次の学習と実践へ接続する</a:t>
            </a:r>
          </a:p>
        </p:txBody>
      </p:sp>
    </p:spTree>
    <p:extLst>
      <p:ext uri="{BB962C8B-B14F-4D97-AF65-F5344CB8AC3E}">
        <p14:creationId xmlns:p14="http://schemas.microsoft.com/office/powerpoint/2010/main" val="11393682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69684B9-BFE4-4359-8FB8-52A1636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519D2CFC-5ECD-4EFC-9200-86358A6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F207-1034-4A10-A6BA-1913ED7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MATLABや既存Toolを、どのように使いますか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22F048-659D-44AB-9BD3-DB0C8E6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5705AB-3231-4D60-A934-71BBC7A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7116A-C582-488C-ABE0-4E89758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30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284D5C2-F5D9-406F-824C-11F1ACD5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0D9E487-2E92-4DF2-A977-B37F286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A5257C4-F9B2-4B70-B156-D3A10E8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CE3205CD-7559-4D2D-8684-78E4232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3FF7F08E-27F4-4814-B9EA-1C62443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A088A2E4-5779-4705-B15C-B198B4E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61820BE-EE2B-468B-8414-A4FE2CD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92B20B9-0C04-4E0F-A73C-EA35BCC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共通形式の
信頼データ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33EAA83E-D56E-4263-9F59-FEB606C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DCDF98B7-FD32-4030-AC02-F0C1F8C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U002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A7103A8-036A-44A4-843A-B144FFB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Moduleを選択・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実行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40B06EBC-6CA4-4A54-AFEB-5F6E19F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FCBE8D-038E-4DEA-AF86-46D2E7A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Python Module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F67A01A-E845-4032-A60B-5FBE06A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整理・統計
候補生成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3DBBF726-7BA7-4752-921B-9CF0E36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057DAC3-F07C-4068-94B9-0E08FF1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MATLAB Module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D55E78B-C5C2-4DFB-A34F-5043C49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SysID・車両Model
制御Algorithm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FB870EE1-B56F-449B-9DF2-760A1B2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3784CC1-3D5D-4FB8-92A5-A62A678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F5F06B8-8ABF-44B7-8FB2-A9F5980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映像・CANで
確認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EEE93533-BA63-41CE-958D-F4AC9D2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14231920-2C03-425E-9A6D-AA7FA40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Excel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E1E2F060-7F73-41DE-8C6E-734E760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Graph・Report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作成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1A468857-ED6E-4BCB-B158-2203B07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98B85BF1-D65E-4AB8-B803-3BE8DD5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既存Toolを置き換えず、得意な場所で使いながら全体を接続する</a:t>
            </a:r>
          </a:p>
        </p:txBody>
      </p:sp>
    </p:spTree>
    <p:extLst>
      <p:ext uri="{BB962C8B-B14F-4D97-AF65-F5344CB8AC3E}">
        <p14:creationId xmlns:p14="http://schemas.microsoft.com/office/powerpoint/2010/main" val="5862252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HIENGや既存CanViewとは、どのように分担しますか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31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継続して活用するもの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HIENG CanView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既存の信号確認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Code Review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Module実装支援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外部の専門知識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社内で固定するもの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共通データ規則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Camera評価の定義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確認方法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Moduleの適用条件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実車で確認したProfile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外部支援を活用し、必要がない限りCoreと共通データ規則は変更しない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B1BDF6-03BC-4C3F-9677-0A27F32D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3861B3C5-9405-413A-8204-B05C31B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9A2D4E-FE20-4EF8-BC6D-8E9F1F9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Moduleがあれば、Profileは不要ではありませんか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9F4BF3-9F8E-48F4-8C57-3E3E80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D92D56-D695-4835-80AF-3F11336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4DD73-79DC-45F4-A1D0-49D5133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32</a:t>
            </a:r>
          </a:p>
        </p:txBody>
      </p:sp>
      <p:sp>
        <p:nvSpPr>
          <p:cNvPr id="7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7297E31-7236-495A-91DF-7985963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8" name="col-rule-0">
            <a:extLst xmlns:a="http://schemas.openxmlformats.org/drawingml/2006/main">
              <a:ext uri="{FF2B5EF4-FFF2-40B4-BE49-F238E27FC236}">
                <a16:creationId xmlns:a16="http://schemas.microsoft.com/office/drawing/2014/main" id="{B4BA3290-BDA0-48F5-B80F-8FE83B4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9" name="col-box-0">
            <a:extLst xmlns:a="http://schemas.openxmlformats.org/drawingml/2006/main">
              <a:ext uri="{FF2B5EF4-FFF2-40B4-BE49-F238E27FC236}">
                <a16:creationId xmlns:a16="http://schemas.microsoft.com/office/drawing/2014/main" id="{184224BD-89D4-4F16-A58F-429BFC7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62BC1BB1-E2D3-4EF5-AD7A-5210808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一つの計算・判断能力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数学・統計・画像処理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固定した入力と出力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単独で動作確認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再利用できる部品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3EFE1CE-03DC-4B8B-BBC1-F6B1ECDC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Profile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7FBA8354-BC2F-48AE-BE75-9909033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77000" y="2209800"/>
            <a:ext cx="419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5F"/>
            </a:solidFill>
            <a:prstDash val="solid"/>
          </a:ln>
        </p:spPr>
      </p:sp>
      <p:sp>
        <p:nvSpPr>
          <p:cNvPr id="13" name="col-box-1">
            <a:extLst xmlns:a="http://schemas.openxmlformats.org/drawingml/2006/main">
              <a:ext uri="{FF2B5EF4-FFF2-40B4-BE49-F238E27FC236}">
                <a16:creationId xmlns:a16="http://schemas.microsoft.com/office/drawing/2014/main" id="{8CFD4C8D-1B84-43C6-96C7-081D51A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4" name="col-body-1">
            <a:extLst xmlns:a="http://schemas.openxmlformats.org/drawingml/2006/main">
              <a:ext uri="{FF2B5EF4-FFF2-40B4-BE49-F238E27FC236}">
                <a16:creationId xmlns:a16="http://schemas.microsoft.com/office/drawing/2014/main" id="{9A970003-CC05-42C2-B419-53E3348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11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使う信号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実行する順序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設定値と対象範囲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確認した実車Case</a:t>
            </a:r>
          </a:p>
          <a:p xmlns:a="http://schemas.openxmlformats.org/drawingml/2006/main">
            <a:pPr marL="20" indent="-10">
              <a:spcAft>
                <a:spcPts val="7"/>
              </a:spcAft>
              <a:buChar char="•"/>
              <a:defRPr sz="135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再利用できる工程経験</a:t>
            </a:r>
          </a:p>
        </p:txBody>
      </p:sp>
      <p:sp>
        <p:nvSpPr>
          <p:cNvPr id="15" name="two-col-conclusion">
            <a:extLst xmlns:a="http://schemas.openxmlformats.org/drawingml/2006/main">
              <a:ext uri="{FF2B5EF4-FFF2-40B4-BE49-F238E27FC236}">
                <a16:creationId xmlns:a16="http://schemas.microsoft.com/office/drawing/2014/main" id="{DA6BFA64-F67F-4A79-8E4B-B80C28D4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16" name="two-col-conclusion-text">
            <a:extLst xmlns:a="http://schemas.openxmlformats.org/drawingml/2006/main">
              <a:ext uri="{FF2B5EF4-FFF2-40B4-BE49-F238E27FC236}">
                <a16:creationId xmlns:a16="http://schemas.microsoft.com/office/drawing/2014/main" id="{1434F208-0620-482A-9807-7DDB7629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ModuleとProfileの両方を蓄積し、能力を経験へ変える</a:t>
            </a:r>
          </a:p>
        </p:txBody>
      </p:sp>
    </p:spTree>
    <p:extLst>
      <p:ext uri="{BB962C8B-B14F-4D97-AF65-F5344CB8AC3E}">
        <p14:creationId xmlns:p14="http://schemas.microsoft.com/office/powerpoint/2010/main" val="152135804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9E79B-4422-45DE-8BB5-CC29FAC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1721907B-1DF8-4F2D-BDBB-DAB06DAD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7C8DA-7DD1-419C-A3AE-99CE4E5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Algorithmや設定を変更した時、過去結果を確認できますか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EFA1F30-76A2-47F0-8A13-0CBBD62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28F57-D5B9-45C1-9455-3040FBA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359C7-3D18-486D-B7D3-8B78B12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33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862D7B0-2861-4E20-9D97-DDBAEBC0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F901E21-8F61-4ED9-B4B2-6BA70A0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6810145-9195-4D09-B390-BB5D34B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270CEFFB-F459-40AB-8F54-A23993E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E7F6AEBF-1B67-4184-B216-7A65972A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FC60123A-00CE-4E12-B489-6861E9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EE7FC25-7FFE-4D70-93AE-1B6D5C1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旧版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AA49447-9CB0-4B5D-9DEE-357F4D1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上書きしない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DECDDACA-EAE8-4472-A0C2-6138131E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2AD66484-68DE-4C47-858E-E8F1578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新版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E51EAA8-6C6F-495D-A2A6-1FCFEE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変更内容を分ける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EB27E90C-C6FA-4AE5-B9FE-E71CD8D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D58DB3E-444E-4715-B5DF-BEF642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入力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272BC13-54AD-4973-8A0E-A40678E9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使用データを記録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147506D8-3B0B-4FE0-83E9-AA1D9A7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D2F25FDA-CDC4-4A90-AABF-84F3106E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1D64EF8-C131-4CA0-A0BC-95C070F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使用版を記録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10A7A31A-DB7F-4239-8CEC-5A14FFD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B27E271A-2807-43EE-8A4A-AD0C08A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設定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6661279-26D5-4DE0-89AC-565BC7D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Profileを保存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9DCC640B-9B50-49EA-97FF-A72D70D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7CAC8D28-CC0C-40DA-B770-A6E3FCA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比較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C44E7A93-251D-49F9-A085-B3F329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旧結果と新結果の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差を確認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2BAB2AF-9512-4A51-8A8A-E333685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AEC4F46B-95DC-4797-A40A-B187925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通常利用者はCoreを変えず、自分のModuleとProfileを版管理する</a:t>
            </a:r>
          </a:p>
        </p:txBody>
      </p:sp>
    </p:spTree>
    <p:extLst>
      <p:ext uri="{BB962C8B-B14F-4D97-AF65-F5344CB8AC3E}">
        <p14:creationId xmlns:p14="http://schemas.microsoft.com/office/powerpoint/2010/main" val="8088687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69684B9-BFE4-4359-8FB8-52A1636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519D2CFC-5ECD-4EFC-9200-86358A6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F207-1034-4A10-A6BA-1913ED7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この仕組みはBlack Boxになりませんか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22F048-659D-44AB-9BD3-DB0C8E6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5705AB-3231-4D60-A934-71BBC7A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7116A-C582-488C-ABE0-4E897586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34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284D5C2-F5D9-406F-824C-11F1ACD5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0D9E487-2E92-4DF2-A977-B37F286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A5257C4-F9B2-4B70-B156-D3A10E8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CE3205CD-7559-4D2D-8684-78E4232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3FF7F08E-27F4-4814-B9EA-1C62443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A088A2E4-5779-4705-B15C-B198B4E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61820BE-EE2B-468B-8414-A4FE2CD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課題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92B20B9-0C04-4E0F-A73C-EA35BCC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何を解くか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33EAA83E-D56E-4263-9F59-FEB606C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DCDF98B7-FD32-4030-AC02-F0C1F8C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入力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A7103A8-036A-44A4-843A-B144FFB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使用信号・単位・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対象条件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40B06EBC-6CA4-4A54-AFEB-5F6E19F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FCBE8D-038E-4DEA-AF86-46D2E7A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方法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F67A01A-E845-4032-A60B-5FBE06A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数式・計算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3DBBF726-7BA7-4752-921B-9CF0E36E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057DAC3-F07C-4068-94B9-0E08FF12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条件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2D55E78B-C5C2-4DFB-A34F-5043C49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いつ使えるか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FB870EE1-B56F-449B-9DF2-760A1B2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3784CC1-3D5D-4FB8-92A5-A62A678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候補理由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CF5F06B8-8ABF-44B7-8FB2-A9F5980C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なぜ選んだか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EEE93533-BA63-41CE-958D-F4AC9D2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14231920-2C03-425E-9A6D-AA7FA40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U003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E1E2F060-7F73-41DE-8C6E-734E760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映像・CANと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人の判断を残す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1A468857-ED6E-4BCB-B158-2203B07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98B85BF1-D65E-4AB8-B803-3BE8DD5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Scoreだけでなく、使用信号・理由・Frame・人の判断を一緒に残す</a:t>
            </a:r>
          </a:p>
        </p:txBody>
      </p:sp>
    </p:spTree>
    <p:extLst>
      <p:ext uri="{BB962C8B-B14F-4D97-AF65-F5344CB8AC3E}">
        <p14:creationId xmlns:p14="http://schemas.microsoft.com/office/powerpoint/2010/main" val="5862252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7D244C-5535-471F-A9A1-1E894EF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deck-name">
            <a:extLst xmlns:a="http://schemas.openxmlformats.org/drawingml/2006/main">
              <a:ext uri="{FF2B5EF4-FFF2-40B4-BE49-F238E27FC236}">
                <a16:creationId xmlns:a16="http://schemas.microsoft.com/office/drawing/2014/main" id="{055ED64B-6F35-4651-A022-F4D71F81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U001–U003 全体説明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0DF82-6F1B-435D-A5F1-A3F0327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7324D"/>
                </a:solidFill>
                <a:latin typeface="Hiragino Kaku Gothic ProN"/>
                <a:ea typeface="Hiragino Kaku Gothic ProN"/>
                <a:cs typeface="Hiragino Kaku Gothic ProN"/>
              </a:rPr>
              <a:t>このProjectを、次にどのように育てますか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FE170D-56EB-40FD-BB5B-DD7345C5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" y="1381125"/>
            <a:ext cx="11010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8D6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5AE7CC-62BB-46A5-9524-DCC1A25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ZHAO ZHILI  |  U-Series Analysis Platform  |  2026-08-31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680B74-4583-494E-9002-CFD51A2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24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>
                <a:solidFill>
                  <a:srgbClr val="6A7987"/>
                </a:solidFill>
                <a:latin typeface="Hiragino Kaku Gothic ProN"/>
                <a:ea typeface="Hiragino Kaku Gothic ProN"/>
                <a:cs typeface="Hiragino Kaku Gothic ProN"/>
              </a:rPr>
              <a:t>35</a:t>
            </a:r>
          </a:p>
        </p:txBody>
      </p:sp>
      <p:sp>
        <p:nvSpPr>
          <p:cNvPr id="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91C86C6-D8B5-475B-ABD9-554FEB81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860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AE02D62-3441-4F21-9034-A72572E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338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A0CD59C-6867-431D-9C2A-8A62C4E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FA5163AE-4F90-4180-A153-CB57872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1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AB2435DD-00F5-48C8-9428-56B6130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77400" y="3190875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C8D6"/>
            </a:solidFill>
            <a:prstDash val="solid"/>
          </a:ln>
        </p:spPr>
      </p:sp>
      <p:sp>
        <p:nvSpPr>
          <p:cNvPr id="12" name="flow-box-1">
            <a:extLst xmlns:a="http://schemas.openxmlformats.org/drawingml/2006/main">
              <a:ext uri="{FF2B5EF4-FFF2-40B4-BE49-F238E27FC236}">
                <a16:creationId xmlns:a16="http://schemas.microsoft.com/office/drawing/2014/main" id="{3F7CED79-7990-4B3E-AE9B-5414CB86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5AB5390-3AB9-4548-9422-4617226F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基盤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C24D2B1-ED98-4A53-BAE7-2F468F5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92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U001–U003の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基本経路を整備</a:t>
            </a:r>
          </a:p>
        </p:txBody>
      </p:sp>
      <p:sp>
        <p:nvSpPr>
          <p:cNvPr id="15" name="flow-box-2">
            <a:extLst xmlns:a="http://schemas.openxmlformats.org/drawingml/2006/main">
              <a:ext uri="{FF2B5EF4-FFF2-40B4-BE49-F238E27FC236}">
                <a16:creationId xmlns:a16="http://schemas.microsoft.com/office/drawing/2014/main" id="{2D9A0A43-4738-4AD6-9864-2DBAAA29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CF74FE5D-1B22-4329-9030-E013D1CB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Camera課題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B05740-727F-4E05-A49B-DE2E6C2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実際の要求を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選ぶ</a:t>
            </a:r>
          </a:p>
        </p:txBody>
      </p:sp>
      <p:sp>
        <p:nvSpPr>
          <p:cNvPr id="18" name="flow-box-3">
            <a:extLst xmlns:a="http://schemas.openxmlformats.org/drawingml/2006/main">
              <a:ext uri="{FF2B5EF4-FFF2-40B4-BE49-F238E27FC236}">
                <a16:creationId xmlns:a16="http://schemas.microsoft.com/office/drawing/2014/main" id="{AB7DB3CB-39B9-4DC3-8906-C783AB1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F82C685-7A74-47BF-9F07-12F8FA9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学習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09631CA-8B64-4ACE-A934-8C8AC0C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車両・Sensor
制御Algorithm</a:t>
            </a:r>
          </a:p>
        </p:txBody>
      </p:sp>
      <p:sp>
        <p:nvSpPr>
          <p:cNvPr id="21" name="flow-box-4">
            <a:extLst xmlns:a="http://schemas.openxmlformats.org/drawingml/2006/main">
              <a:ext uri="{FF2B5EF4-FFF2-40B4-BE49-F238E27FC236}">
                <a16:creationId xmlns:a16="http://schemas.microsoft.com/office/drawing/2014/main" id="{4DC2ADD3-37A2-4CD2-853E-546DD92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AD1D3577-AFF7-4E12-AE37-F6D851B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Module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E17810F-6119-42AB-AEE3-1483EC25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分析能力として
実装</a:t>
            </a:r>
          </a:p>
        </p:txBody>
      </p:sp>
      <p:sp>
        <p:nvSpPr>
          <p:cNvPr id="24" name="flow-box-5">
            <a:extLst xmlns:a="http://schemas.openxmlformats.org/drawingml/2006/main">
              <a:ext uri="{FF2B5EF4-FFF2-40B4-BE49-F238E27FC236}">
                <a16:creationId xmlns:a16="http://schemas.microsoft.com/office/drawing/2014/main" id="{4E434097-8B1C-4403-859B-18F8023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8D6"/>
            </a:solidFill>
            <a:prstDash val="solid"/>
          </a:ln>
        </p:spPr>
      </p:sp>
      <p:sp>
        <p:nvSpPr>
          <p:cNvPr id="25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1E14005-63ED-4B45-9EE3-8325DB5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実車確認</a:t>
            </a:r>
          </a:p>
        </p:txBody>
      </p:sp>
      <p:sp>
        <p:nvSpPr>
          <p:cNvPr id="26" name="flow-body-5">
            <a:extLst xmlns:a="http://schemas.openxmlformats.org/drawingml/2006/main">
              <a:ext uri="{FF2B5EF4-FFF2-40B4-BE49-F238E27FC236}">
                <a16:creationId xmlns:a16="http://schemas.microsoft.com/office/drawing/2014/main" id="{15AF96C9-379D-4616-B8FF-10F38B0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映像とCANで
確かめる</a:t>
            </a:r>
          </a:p>
        </p:txBody>
      </p:sp>
      <p:sp>
        <p:nvSpPr>
          <p:cNvPr id="27" name="flow-box-6">
            <a:extLst xmlns:a="http://schemas.openxmlformats.org/drawingml/2006/main">
              <a:ext uri="{FF2B5EF4-FFF2-40B4-BE49-F238E27FC236}">
                <a16:creationId xmlns:a16="http://schemas.microsoft.com/office/drawing/2014/main" id="{44AFD022-D47E-4B89-990A-E9B28F1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33625"/>
            <a:ext cx="1695450" cy="1714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14288">
            <a:solidFill>
              <a:srgbClr val="2F7D68"/>
            </a:solidFill>
            <a:prstDash val="solid"/>
          </a:ln>
        </p:spPr>
      </p:sp>
      <p:sp>
        <p:nvSpPr>
          <p:cNvPr id="28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68A2584B-A239-4C78-AC5A-C3E778E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03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Team資産</a:t>
            </a:r>
          </a:p>
        </p:txBody>
      </p:sp>
      <p:sp>
        <p:nvSpPr>
          <p:cNvPr id="29" name="flow-body-6">
            <a:extLst xmlns:a="http://schemas.openxmlformats.org/drawingml/2006/main">
              <a:ext uri="{FF2B5EF4-FFF2-40B4-BE49-F238E27FC236}">
                <a16:creationId xmlns:a16="http://schemas.microsoft.com/office/drawing/2014/main" id="{85C5ACB4-F36E-4CB4-A6A1-91E7738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14A6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t>Profileとして
再利用</a:t>
            </a:r>
          </a:p>
        </p:txBody>
      </p:sp>
      <p:sp>
        <p:nvSpPr>
          <p:cNvPr id="30" name="flow-conclusion">
            <a:extLst xmlns:a="http://schemas.openxmlformats.org/drawingml/2006/main">
              <a:ext uri="{FF2B5EF4-FFF2-40B4-BE49-F238E27FC236}">
                <a16:creationId xmlns:a16="http://schemas.microsoft.com/office/drawing/2014/main" id="{EB667461-51A9-449C-98E7-94DB2EC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173F5F"/>
            </a:solidFill>
            <a:prstDash val="solid"/>
          </a:ln>
        </p:spPr>
      </p:sp>
      <p:sp>
        <p:nvSpPr>
          <p:cNvPr id="31" name="flow-conclusion-text">
            <a:extLst xmlns:a="http://schemas.openxmlformats.org/drawingml/2006/main">
              <a:ext uri="{FF2B5EF4-FFF2-40B4-BE49-F238E27FC236}">
                <a16:creationId xmlns:a16="http://schemas.microsoft.com/office/drawing/2014/main" id="{80610380-53FB-4656-8482-E71ECCA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73F5F"/>
                </a:solidFill>
                <a:latin typeface="Hiragino Kaku Gothic ProN"/>
                <a:ea typeface="Hiragino Kaku Gothic ProN"/>
                <a:cs typeface="Hiragino Kaku Gothic ProN"/>
              </a:rPr>
              <a:t>研修で得た知識を、Teamが再利用できるADAS工程能力へ段階的に変える</a:t>
            </a:r>
          </a:p>
        </p:txBody>
      </p:sp>
    </p:spTree>
    <p:extLst>
      <p:ext uri="{BB962C8B-B14F-4D97-AF65-F5344CB8AC3E}">
        <p14:creationId xmlns:p14="http://schemas.microsoft.com/office/powerpoint/2010/main" val="487995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2026-08-30T23:58:12.1900000Z</dcterms:created>
  <dcterms:modified xsi:type="dcterms:W3CDTF">2026-08-30T23:58:12.1900000Z</dcterms:modified>
</coreProperties>
</file>