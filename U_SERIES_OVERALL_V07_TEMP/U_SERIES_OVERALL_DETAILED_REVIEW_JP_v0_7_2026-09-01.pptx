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3614ebb7eca4c32" /><Relationship Type="http://schemas.openxmlformats.org/officeDocument/2006/relationships/extended-properties" Target="/docProps/app.xml" Id="Red9a721fe9f04035" /><Relationship Type="http://schemas.openxmlformats.org/officeDocument/2006/relationships/officeDocument" Target="/ppt/presentation.xml" Id="R3a7c475ade0b4e3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d5d30aad3a74306"/>
  </p:sldMasterIdLst>
  <p:notesMasterIdLst>
    <p:notesMasterId xmlns:r="http://schemas.openxmlformats.org/officeDocument/2006/relationships" r:id="Ra132808f554546d1"/>
  </p:notesMasterIdLst>
  <p:sldIdLst>
    <p:sldId xmlns:r="http://schemas.openxmlformats.org/officeDocument/2006/relationships" id="256" r:id="R8ef1b9dd1bd9457b"/>
    <p:sldId xmlns:r="http://schemas.openxmlformats.org/officeDocument/2006/relationships" id="257" r:id="Re0a0d419ce844029"/>
    <p:sldId xmlns:r="http://schemas.openxmlformats.org/officeDocument/2006/relationships" id="258" r:id="R2f9cc0a5add041e0"/>
    <p:sldId xmlns:r="http://schemas.openxmlformats.org/officeDocument/2006/relationships" id="259" r:id="R3f998208a25b4d4b"/>
    <p:sldId xmlns:r="http://schemas.openxmlformats.org/officeDocument/2006/relationships" id="260" r:id="R89b3cebb7b95433b"/>
    <p:sldId xmlns:r="http://schemas.openxmlformats.org/officeDocument/2006/relationships" id="261" r:id="R4e969f4442c94cef"/>
    <p:sldId xmlns:r="http://schemas.openxmlformats.org/officeDocument/2006/relationships" id="262" r:id="Rb45384bc456e41c9"/>
    <p:sldId xmlns:r="http://schemas.openxmlformats.org/officeDocument/2006/relationships" id="263" r:id="Rbdaa0f1c51104514"/>
    <p:sldId xmlns:r="http://schemas.openxmlformats.org/officeDocument/2006/relationships" id="264" r:id="Rba424f916da6471d"/>
    <p:sldId xmlns:r="http://schemas.openxmlformats.org/officeDocument/2006/relationships" id="265" r:id="Re335f62f666d402b"/>
    <p:sldId xmlns:r="http://schemas.openxmlformats.org/officeDocument/2006/relationships" id="266" r:id="Rca85ac3931ed43d3"/>
    <p:sldId xmlns:r="http://schemas.openxmlformats.org/officeDocument/2006/relationships" id="267" r:id="R113ec38032834667"/>
    <p:sldId xmlns:r="http://schemas.openxmlformats.org/officeDocument/2006/relationships" id="268" r:id="R4c556e2fbb134be0"/>
    <p:sldId xmlns:r="http://schemas.openxmlformats.org/officeDocument/2006/relationships" id="269" r:id="Re24d88207d2d4aa5"/>
    <p:sldId xmlns:r="http://schemas.openxmlformats.org/officeDocument/2006/relationships" id="270" r:id="R7a11b53fd5bf440b"/>
    <p:sldId xmlns:r="http://schemas.openxmlformats.org/officeDocument/2006/relationships" id="271" r:id="R59f9d9860f6945b4"/>
    <p:sldId xmlns:r="http://schemas.openxmlformats.org/officeDocument/2006/relationships" id="272" r:id="R49f3a148db5f4667"/>
    <p:sldId xmlns:r="http://schemas.openxmlformats.org/officeDocument/2006/relationships" id="273" r:id="Ra3aae98b3a084589"/>
    <p:sldId xmlns:r="http://schemas.openxmlformats.org/officeDocument/2006/relationships" id="274" r:id="R21edb7fadab54f1a"/>
    <p:sldId xmlns:r="http://schemas.openxmlformats.org/officeDocument/2006/relationships" id="275" r:id="R4dffedd21c3b4575"/>
    <p:sldId xmlns:r="http://schemas.openxmlformats.org/officeDocument/2006/relationships" id="276" r:id="R20d3a6e2c8194c70"/>
    <p:sldId xmlns:r="http://schemas.openxmlformats.org/officeDocument/2006/relationships" id="277" r:id="R35f0012c55f54f47"/>
    <p:sldId xmlns:r="http://schemas.openxmlformats.org/officeDocument/2006/relationships" id="278" r:id="R3395572eee0d4770"/>
    <p:sldId xmlns:r="http://schemas.openxmlformats.org/officeDocument/2006/relationships" id="279" r:id="R51e322c5f1874450"/>
    <p:sldId xmlns:r="http://schemas.openxmlformats.org/officeDocument/2006/relationships" id="280" r:id="R901ff7ff680f491c"/>
    <p:sldId xmlns:r="http://schemas.openxmlformats.org/officeDocument/2006/relationships" id="281" r:id="R6322980cfdfc41ef"/>
    <p:sldId xmlns:r="http://schemas.openxmlformats.org/officeDocument/2006/relationships" id="282" r:id="R9f889702788c435a"/>
    <p:sldId xmlns:r="http://schemas.openxmlformats.org/officeDocument/2006/relationships" id="283" r:id="Rba15012958da4485"/>
    <p:sldId xmlns:r="http://schemas.openxmlformats.org/officeDocument/2006/relationships" id="284" r:id="Rae978cd45ca84f24"/>
    <p:sldId xmlns:r="http://schemas.openxmlformats.org/officeDocument/2006/relationships" id="285" r:id="R2586e1ce144a407e"/>
    <p:sldId xmlns:r="http://schemas.openxmlformats.org/officeDocument/2006/relationships" id="286" r:id="Rc7922d3421f34c52"/>
    <p:sldId xmlns:r="http://schemas.openxmlformats.org/officeDocument/2006/relationships" id="287" r:id="Rf16114a3fe974b2a"/>
    <p:sldId xmlns:r="http://schemas.openxmlformats.org/officeDocument/2006/relationships" id="288" r:id="R03ab074d7a324bef"/>
    <p:sldId xmlns:r="http://schemas.openxmlformats.org/officeDocument/2006/relationships" id="289" r:id="Ra8ac9c10707a4888"/>
    <p:sldId xmlns:r="http://schemas.openxmlformats.org/officeDocument/2006/relationships" id="290" r:id="R367fd882aeb640e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a244bd5e1934d0b" /><Relationship Type="http://schemas.openxmlformats.org/officeDocument/2006/relationships/slideMaster" Target="/ppt/slideMasters/slideMaster1.xml" Id="R2d5d30aad3a74306" /><Relationship Type="http://schemas.openxmlformats.org/officeDocument/2006/relationships/notesMaster" Target="/ppt/notesMasters/notesMaster1.xml" Id="Ra132808f554546d1" /><Relationship Type="http://schemas.openxmlformats.org/officeDocument/2006/relationships/presProps" Target="/ppt/presProps.xml" Id="Re9e38be1bbb94db6" /><Relationship Type="http://schemas.openxmlformats.org/officeDocument/2006/relationships/tableStyles" Target="/ppt/tableStyles.xml" Id="Red13af5cb5c64bca" /><Relationship Type="http://schemas.openxmlformats.org/officeDocument/2006/relationships/slide" Target="/ppt/slides/slide1.xml" Id="R8ef1b9dd1bd9457b" /><Relationship Type="http://schemas.openxmlformats.org/officeDocument/2006/relationships/slide" Target="/ppt/slides/slide2.xml" Id="Re0a0d419ce844029" /><Relationship Type="http://schemas.openxmlformats.org/officeDocument/2006/relationships/slide" Target="/ppt/slides/slide3.xml" Id="R2f9cc0a5add041e0" /><Relationship Type="http://schemas.openxmlformats.org/officeDocument/2006/relationships/slide" Target="/ppt/slides/slide4.xml" Id="R3f998208a25b4d4b" /><Relationship Type="http://schemas.openxmlformats.org/officeDocument/2006/relationships/slide" Target="/ppt/slides/slide5.xml" Id="R89b3cebb7b95433b" /><Relationship Type="http://schemas.openxmlformats.org/officeDocument/2006/relationships/slide" Target="/ppt/slides/slide6.xml" Id="R4e969f4442c94cef" /><Relationship Type="http://schemas.openxmlformats.org/officeDocument/2006/relationships/slide" Target="/ppt/slides/slide7.xml" Id="Rb45384bc456e41c9" /><Relationship Type="http://schemas.openxmlformats.org/officeDocument/2006/relationships/slide" Target="/ppt/slides/slide8.xml" Id="Rbdaa0f1c51104514" /><Relationship Type="http://schemas.openxmlformats.org/officeDocument/2006/relationships/slide" Target="/ppt/slides/slide9.xml" Id="Rba424f916da6471d" /><Relationship Type="http://schemas.openxmlformats.org/officeDocument/2006/relationships/slide" Target="/ppt/slides/slide10.xml" Id="Re335f62f666d402b" /><Relationship Type="http://schemas.openxmlformats.org/officeDocument/2006/relationships/slide" Target="/ppt/slides/slide11.xml" Id="Rca85ac3931ed43d3" /><Relationship Type="http://schemas.openxmlformats.org/officeDocument/2006/relationships/slide" Target="/ppt/slides/slide12.xml" Id="R113ec38032834667" /><Relationship Type="http://schemas.openxmlformats.org/officeDocument/2006/relationships/slide" Target="/ppt/slides/slide13.xml" Id="R4c556e2fbb134be0" /><Relationship Type="http://schemas.openxmlformats.org/officeDocument/2006/relationships/slide" Target="/ppt/slides/slide14.xml" Id="Re24d88207d2d4aa5" /><Relationship Type="http://schemas.openxmlformats.org/officeDocument/2006/relationships/slide" Target="/ppt/slides/slide15.xml" Id="R7a11b53fd5bf440b" /><Relationship Type="http://schemas.openxmlformats.org/officeDocument/2006/relationships/slide" Target="/ppt/slides/slide16.xml" Id="R59f9d9860f6945b4" /><Relationship Type="http://schemas.openxmlformats.org/officeDocument/2006/relationships/slide" Target="/ppt/slides/slide17.xml" Id="R49f3a148db5f4667" /><Relationship Type="http://schemas.openxmlformats.org/officeDocument/2006/relationships/slide" Target="/ppt/slides/slide18.xml" Id="Ra3aae98b3a084589" /><Relationship Type="http://schemas.openxmlformats.org/officeDocument/2006/relationships/slide" Target="/ppt/slides/slide19.xml" Id="R21edb7fadab54f1a" /><Relationship Type="http://schemas.openxmlformats.org/officeDocument/2006/relationships/slide" Target="/ppt/slides/slide20.xml" Id="R4dffedd21c3b4575" /><Relationship Type="http://schemas.openxmlformats.org/officeDocument/2006/relationships/slide" Target="/ppt/slides/slide21.xml" Id="R20d3a6e2c8194c70" /><Relationship Type="http://schemas.openxmlformats.org/officeDocument/2006/relationships/slide" Target="/ppt/slides/slide22.xml" Id="R35f0012c55f54f47" /><Relationship Type="http://schemas.openxmlformats.org/officeDocument/2006/relationships/slide" Target="/ppt/slides/slide23.xml" Id="R3395572eee0d4770" /><Relationship Type="http://schemas.openxmlformats.org/officeDocument/2006/relationships/slide" Target="/ppt/slides/slide24.xml" Id="R51e322c5f1874450" /><Relationship Type="http://schemas.openxmlformats.org/officeDocument/2006/relationships/slide" Target="/ppt/slides/slide25.xml" Id="R901ff7ff680f491c" /><Relationship Type="http://schemas.openxmlformats.org/officeDocument/2006/relationships/slide" Target="/ppt/slides/slide26.xml" Id="R6322980cfdfc41ef" /><Relationship Type="http://schemas.openxmlformats.org/officeDocument/2006/relationships/slide" Target="/ppt/slides/slide27.xml" Id="R9f889702788c435a" /><Relationship Type="http://schemas.openxmlformats.org/officeDocument/2006/relationships/slide" Target="/ppt/slides/slide28.xml" Id="Rba15012958da4485" /><Relationship Type="http://schemas.openxmlformats.org/officeDocument/2006/relationships/slide" Target="/ppt/slides/slide29.xml" Id="Rae978cd45ca84f24" /><Relationship Type="http://schemas.openxmlformats.org/officeDocument/2006/relationships/slide" Target="/ppt/slides/slide30.xml" Id="R2586e1ce144a407e" /><Relationship Type="http://schemas.openxmlformats.org/officeDocument/2006/relationships/slide" Target="/ppt/slides/slide31.xml" Id="Rc7922d3421f34c52" /><Relationship Type="http://schemas.openxmlformats.org/officeDocument/2006/relationships/slide" Target="/ppt/slides/slide32.xml" Id="Rf16114a3fe974b2a" /><Relationship Type="http://schemas.openxmlformats.org/officeDocument/2006/relationships/slide" Target="/ppt/slides/slide33.xml" Id="R03ab074d7a324bef" /><Relationship Type="http://schemas.openxmlformats.org/officeDocument/2006/relationships/slide" Target="/ppt/slides/slide34.xml" Id="Ra8ac9c10707a4888" /><Relationship Type="http://schemas.openxmlformats.org/officeDocument/2006/relationships/slide" Target="/ppt/slides/slide35.xml" Id="R367fd882aeb640e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db39c7b185a40a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ced1e3697264a65" /><Relationship Type="http://schemas.openxmlformats.org/officeDocument/2006/relationships/notesMaster" Target="/ppt/notesMasters/notesMaster1.xml" Id="R5de2c8b3ae6b493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28229c699ae45c0" /><Relationship Type="http://schemas.openxmlformats.org/officeDocument/2006/relationships/notesMaster" Target="/ppt/notesMasters/notesMaster1.xml" Id="R3bfb57ffa5474e8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414da5687974f5a" /><Relationship Type="http://schemas.openxmlformats.org/officeDocument/2006/relationships/notesMaster" Target="/ppt/notesMasters/notesMaster1.xml" Id="Rc4f0793e618444e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743114a33a04829" /><Relationship Type="http://schemas.openxmlformats.org/officeDocument/2006/relationships/notesMaster" Target="/ppt/notesMasters/notesMaster1.xml" Id="R63dee8bc86514d1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d6afc20abb1473e" /><Relationship Type="http://schemas.openxmlformats.org/officeDocument/2006/relationships/notesMaster" Target="/ppt/notesMasters/notesMaster1.xml" Id="R27909f4903c140e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f2c0c357e17473d" /><Relationship Type="http://schemas.openxmlformats.org/officeDocument/2006/relationships/notesMaster" Target="/ppt/notesMasters/notesMaster1.xml" Id="R580f4fd5b0a04d8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a2a0ed9f3404f36" /><Relationship Type="http://schemas.openxmlformats.org/officeDocument/2006/relationships/notesMaster" Target="/ppt/notesMasters/notesMaster1.xml" Id="R0b04e09056a3418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71cd881649347e7" /><Relationship Type="http://schemas.openxmlformats.org/officeDocument/2006/relationships/notesMaster" Target="/ppt/notesMasters/notesMaster1.xml" Id="R213f82c1e221408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f325a598fa8425b" /><Relationship Type="http://schemas.openxmlformats.org/officeDocument/2006/relationships/notesMaster" Target="/ppt/notesMasters/notesMaster1.xml" Id="Rcad4a0278541400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8e0441b69ba45b6" /><Relationship Type="http://schemas.openxmlformats.org/officeDocument/2006/relationships/notesMaster" Target="/ppt/notesMasters/notesMaster1.xml" Id="R7c1cfaf0b45b4aa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72269e63bc04ba2" /><Relationship Type="http://schemas.openxmlformats.org/officeDocument/2006/relationships/notesMaster" Target="/ppt/notesMasters/notesMaster1.xml" Id="R62b89ead23b9400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dce2b8116f14f13" /><Relationship Type="http://schemas.openxmlformats.org/officeDocument/2006/relationships/notesMaster" Target="/ppt/notesMasters/notesMaster1.xml" Id="R7b5bcabb82934fa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fbfb4eec7ef40e3" /><Relationship Type="http://schemas.openxmlformats.org/officeDocument/2006/relationships/notesMaster" Target="/ppt/notesMasters/notesMaster1.xml" Id="Rea93e65a11884f8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1416470e7eb4c18" /><Relationship Type="http://schemas.openxmlformats.org/officeDocument/2006/relationships/notesMaster" Target="/ppt/notesMasters/notesMaster1.xml" Id="R78039b1cea7048d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a4c92e28b884375" /><Relationship Type="http://schemas.openxmlformats.org/officeDocument/2006/relationships/notesMaster" Target="/ppt/notesMasters/notesMaster1.xml" Id="Ra42bb224a1f24e0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45cee3d991b47f0" /><Relationship Type="http://schemas.openxmlformats.org/officeDocument/2006/relationships/notesMaster" Target="/ppt/notesMasters/notesMaster1.xml" Id="Reffd5bd0a0cf43fc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20c32905c55e4baf" /><Relationship Type="http://schemas.openxmlformats.org/officeDocument/2006/relationships/notesMaster" Target="/ppt/notesMasters/notesMaster1.xml" Id="Rab93525f90b345f3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476ff368315a4ed5" /><Relationship Type="http://schemas.openxmlformats.org/officeDocument/2006/relationships/notesMaster" Target="/ppt/notesMasters/notesMaster1.xml" Id="R6244afe282754b2e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b7d5a817d75945bd" /><Relationship Type="http://schemas.openxmlformats.org/officeDocument/2006/relationships/notesMaster" Target="/ppt/notesMasters/notesMaster1.xml" Id="Rfec99ffa02804ae6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3a4f5aa858e641e9" /><Relationship Type="http://schemas.openxmlformats.org/officeDocument/2006/relationships/notesMaster" Target="/ppt/notesMasters/notesMaster1.xml" Id="Rf9c0ef5d8ba14971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13e8d9a1b611465b" /><Relationship Type="http://schemas.openxmlformats.org/officeDocument/2006/relationships/notesMaster" Target="/ppt/notesMasters/notesMaster1.xml" Id="Rbf4290cea10e43af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f6a8ce78d06841cf" /><Relationship Type="http://schemas.openxmlformats.org/officeDocument/2006/relationships/notesMaster" Target="/ppt/notesMasters/notesMaster1.xml" Id="R91c9d81bffe44026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7d852a10962a4f7c" /><Relationship Type="http://schemas.openxmlformats.org/officeDocument/2006/relationships/notesMaster" Target="/ppt/notesMasters/notesMaster1.xml" Id="R26d463d472934384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af7bde1901754657" /><Relationship Type="http://schemas.openxmlformats.org/officeDocument/2006/relationships/notesMaster" Target="/ppt/notesMasters/notesMaster1.xml" Id="Rdde76354bdb94ed7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8c0c81cd6e7d4165" /><Relationship Type="http://schemas.openxmlformats.org/officeDocument/2006/relationships/notesMaster" Target="/ppt/notesMasters/notesMaster1.xml" Id="Rfbfd4f896a4946a9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09857e325e2f4ab8" /><Relationship Type="http://schemas.openxmlformats.org/officeDocument/2006/relationships/notesMaster" Target="/ppt/notesMasters/notesMaster1.xml" Id="R061c889b7eb8442c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96a1dbc57dfe4538" /><Relationship Type="http://schemas.openxmlformats.org/officeDocument/2006/relationships/notesMaster" Target="/ppt/notesMasters/notesMaster1.xml" Id="R34271d989d904dc2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bdd649210172410b" /><Relationship Type="http://schemas.openxmlformats.org/officeDocument/2006/relationships/notesMaster" Target="/ppt/notesMasters/notesMaster1.xml" Id="Rf0a5411a405b4d2b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7360bbc740ae4674" /><Relationship Type="http://schemas.openxmlformats.org/officeDocument/2006/relationships/notesMaster" Target="/ppt/notesMasters/notesMaster1.xml" Id="Rd8b51489dacd47e7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bb17c2066997494e" /><Relationship Type="http://schemas.openxmlformats.org/officeDocument/2006/relationships/notesMaster" Target="/ppt/notesMasters/notesMaster1.xml" Id="Rf73ab2003041421f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a6c0407e96dd4a67" /><Relationship Type="http://schemas.openxmlformats.org/officeDocument/2006/relationships/notesMaster" Target="/ppt/notesMasters/notesMaster1.xml" Id="R6721918989f341fc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0e9bb27cb85640b3" /><Relationship Type="http://schemas.openxmlformats.org/officeDocument/2006/relationships/notesMaster" Target="/ppt/notesMasters/notesMaster1.xml" Id="R4d2db592c42d400b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b18211fab2c345c0" /><Relationship Type="http://schemas.openxmlformats.org/officeDocument/2006/relationships/notesMaster" Target="/ppt/notesMasters/notesMaster1.xml" Id="Rd8745f9f53954849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ffd4bf353db447f3" /><Relationship Type="http://schemas.openxmlformats.org/officeDocument/2006/relationships/notesMaster" Target="/ppt/notesMasters/notesMaster1.xml" Id="R420dc68bc297403a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0174caf1861648c7" /><Relationship Type="http://schemas.openxmlformats.org/officeDocument/2006/relationships/notesMaster" Target="/ppt/notesMasters/notesMaster1.xml" Id="R41fb1842a80f480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本日は、Uシリーズが何であり、実車データをどのように工程判断へ変えるかを、一つの実例に沿って説明します。Uシリーズは一つの巨大なProgramではありません。U001、U002、U003という三つの独立したDesktop Programが、共通のデータ規則で接続された分析基盤です。中心はU002の分析であり、U001が信頼できる入力を作り、U003が映像とCANによる最終確認を支えます。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[中文理解]</a:t>
            </a:r>
          </a:p>
          <a:p xmlns:a="http://schemas.openxmlformats.org/drawingml/2006/main">
            <a:r>
              <a:t>开场直接定义产品形态：三个独立桌面程序，通过共同数据规则组成一条评价流程；U002是核心。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CORE_OPERATING_LOGIC_THEORY_MODULE_PROFILE_PLAYBOOK_v0_1_2026-08-30.txt</a:t>
            </a:r>
          </a:p>
          <a:p xmlns:a="http://schemas.openxmlformats.org/drawingml/2006/main">
            <a:r>
              <a:t>- CAMERA_PERFORMANCE_DEGRADATION_FACTOR_MINING_CAMPAIGN_v0_1_2026-08-30.txt</a:t>
            </a:r>
          </a:p>
          <a:p xmlns:a="http://schemas.openxmlformats.org/drawingml/2006/main">
            <a:r>
              <a:t>- PYGMI_ENGINEERING_ARCHAEOLOGY_AND_U_SERIES_TRANSFER_GUIDE_v0_1_2026-08-30.txt</a:t>
            </a:r>
          </a:p>
          <a:p xmlns:a="http://schemas.openxmlformats.org/drawingml/2006/main">
            <a:r>
              <a:t>- Golden Run review record: 50,198 frames, 16 candidates, all reviewed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形としては、三つの独立したDesktop Programです。U001、U002、U003は個別に起動でき、個別にVersion管理できます。三つの間では、決められた形式の成果物Packageを受け渡します。そのため、これは単なる考え方だけでも、一つのSoftwareの三つのPageでもありません。三つのToolと、共通Data Contractと、再現可能な実行手順を組み合わせたSoftware Suiteです。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[中文理解]</a:t>
            </a:r>
          </a:p>
          <a:p xmlns:a="http://schemas.openxmlformats.org/drawingml/2006/main">
            <a:r>
              <a:t>彻底消除形态歧义：不是三页，也不只是方法论，而是三个独立程序组成的软件套件。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CORE_OPERATING_LOGIC_THEORY_MODULE_PROFILE_PLAYBOOK_v0_1_2026-08-30.txt</a:t>
            </a:r>
          </a:p>
          <a:p xmlns:a="http://schemas.openxmlformats.org/drawingml/2006/main">
            <a:r>
              <a:t>- CAMERA_PERFORMANCE_DEGRADATION_FACTOR_MINING_CAMPAIGN_v0_1_2026-08-30.txt</a:t>
            </a:r>
          </a:p>
          <a:p xmlns:a="http://schemas.openxmlformats.org/drawingml/2006/main">
            <a:r>
              <a:t>- PYGMI_ENGINEERING_ARCHAEOLOGY_AND_U_SERIES_TRANSFER_GUIDE_v0_1_2026-08-30.txt</a:t>
            </a:r>
          </a:p>
          <a:p xmlns:a="http://schemas.openxmlformats.org/drawingml/2006/main">
            <a:r>
              <a:t>- Golden Run review record: 50,198 frames, 16 candidates, all reviewed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この基盤を作った理由は二つあります。第一に、実車Dataは更新周期、無効値、Target切替、時間合わせが複雑で、数値があるだけでは比較できません。第二に、統計、数学、制御、Codeの知識があっても、工程条件と確認方法がなければ実車評価へ落とせません。さらに、映像移動、Graph、Excel、画像Maskなどの定型作業も大きな負担です。Uシリーズは、分析能力を実車評価へ接続し、精度と追跡性を残したまま定型作業を減らすための橋で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[中文理解]</a:t>
            </a:r>
          </a:p>
          <a:p xmlns:a="http://schemas.openxmlformats.org/drawingml/2006/main">
            <a:r>
              <a:t>三条动机：复杂数据、知识落地的gap、办公自动化。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CORE_OPERATING_LOGIC_THEORY_MODULE_PROFILE_PLAYBOOK_v0_1_2026-08-30.txt</a:t>
            </a:r>
          </a:p>
          <a:p xmlns:a="http://schemas.openxmlformats.org/drawingml/2006/main">
            <a:r>
              <a:t>- CAMERA_PERFORMANCE_DEGRADATION_FACTOR_MINING_CAMPAIGN_v0_1_2026-08-30.txt</a:t>
            </a:r>
          </a:p>
          <a:p xmlns:a="http://schemas.openxmlformats.org/drawingml/2006/main">
            <a:r>
              <a:t>- PYGMI_ENGINEERING_ARCHAEOLOGY_AND_U_SERIES_TRANSFER_GUIDE_v0_1_2026-08-30.txt</a:t>
            </a:r>
          </a:p>
          <a:p xmlns:a="http://schemas.openxmlformats.org/drawingml/2006/main">
            <a:r>
              <a:t>- Golden Run review record: 50,198 frames, 16 candidates, all reviewed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役割の重点も明確です。U002が分析の中心です。U001は、元のCANなどを解読し、いつ更新された値か、無効ではないか、どこから来たかを付けた入力を作ります。U002はModuleを選び、順序と条件を決め、確認すべき区間と理由を出します。U003は、その区間を映像とCANで同期確認し、人の判断とMemoを残します。U001とU003があることで、U002の分析が単なる数値計算ではなく、工程で説明できる結果になり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[中文理解]</a:t>
            </a:r>
          </a:p>
          <a:p xmlns:a="http://schemas.openxmlformats.org/drawingml/2006/main">
            <a:r>
              <a:t>明确重点：U002是核心，U001/U003不是平行讲三个故事，而是前后保障。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CORE_OPERATING_LOGIC_THEORY_MODULE_PROFILE_PLAYBOOK_v0_1_2026-08-30.txt</a:t>
            </a:r>
          </a:p>
          <a:p xmlns:a="http://schemas.openxmlformats.org/drawingml/2006/main">
            <a:r>
              <a:t>- CAMERA_PERFORMANCE_DEGRADATION_FACTOR_MINING_CAMPAIGN_v0_1_2026-08-30.txt</a:t>
            </a:r>
          </a:p>
          <a:p xmlns:a="http://schemas.openxmlformats.org/drawingml/2006/main">
            <a:r>
              <a:t>- PYGMI_ENGINEERING_ARCHAEOLOGY_AND_U_SERIES_TRANSFER_GUIDE_v0_1_2026-08-30.txt</a:t>
            </a:r>
          </a:p>
          <a:p xmlns:a="http://schemas.openxmlformats.org/drawingml/2006/main">
            <a:r>
              <a:t>- Golden Run review record: 50,198 frames, 16 candidates, all reviewed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利用者は、U001で元File、Signal、実行範囲を選び、解析用Packageを作ります。U002はそのPackageを読み、StageごとにModuleを配置して候補Packageを作ります。U003は候補を読み、同じFrameの映像、CAN、Graphを表示し、判断を保存します。三つのProgramは独立していますが、成果物Packageが次のProgramの入力になるため、作業は一つの流れとして続き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[中文理解]</a:t>
            </a:r>
          </a:p>
          <a:p xmlns:a="http://schemas.openxmlformats.org/drawingml/2006/main">
            <a:r>
              <a:t>这一页让第一次听众可以想象实际怎么点、怎么传递。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CORE_OPERATING_LOGIC_THEORY_MODULE_PROFILE_PLAYBOOK_v0_1_2026-08-30.txt</a:t>
            </a:r>
          </a:p>
          <a:p xmlns:a="http://schemas.openxmlformats.org/drawingml/2006/main">
            <a:r>
              <a:t>- CAMERA_PERFORMANCE_DEGRADATION_FACTOR_MINING_CAMPAIGN_v0_1_2026-08-30.txt</a:t>
            </a:r>
          </a:p>
          <a:p xmlns:a="http://schemas.openxmlformats.org/drawingml/2006/main">
            <a:r>
              <a:t>- PYGMI_ENGINEERING_ARCHAEOLOGY_AND_U_SERIES_TRANSFER_GUIDE_v0_1_2026-08-30.txt</a:t>
            </a:r>
          </a:p>
          <a:p xmlns:a="http://schemas.openxmlformats.org/drawingml/2006/main">
            <a:r>
              <a:t>- Golden Run review record: 50,198 frames, 16 candidates, all reviewed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三つを安全に接続する中心は、共通Data Contractです。U001は値だけでなく、更新の有無、何Frame保持されたか、無効理由、入力元を渡します。U002は候補の範囲、代表Frame、選定理由、使用したModuleをU003へ渡します。File名だけで接続するのではなく、意味と確認方法を固定するため、内部のModuleを交換しても後段を作り直す必要がありませ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[中文理解]</a:t>
            </a:r>
          </a:p>
          <a:p xmlns:a="http://schemas.openxmlformats.org/drawingml/2006/main">
            <a:r>
              <a:t>强调接口固定的是语义、有效性和证据，不只是文件名。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CORE_OPERATING_LOGIC_THEORY_MODULE_PROFILE_PLAYBOOK_v0_1_2026-08-30.txt</a:t>
            </a:r>
          </a:p>
          <a:p xmlns:a="http://schemas.openxmlformats.org/drawingml/2006/main">
            <a:r>
              <a:t>- CAMERA_PERFORMANCE_DEGRADATION_FACTOR_MINING_CAMPAIGN_v0_1_2026-08-30.txt</a:t>
            </a:r>
          </a:p>
          <a:p xmlns:a="http://schemas.openxmlformats.org/drawingml/2006/main">
            <a:r>
              <a:t>- PYGMI_ENGINEERING_ARCHAEOLOGY_AND_U_SERIES_TRANSFER_GUIDE_v0_1_2026-08-30.txt</a:t>
            </a:r>
          </a:p>
          <a:p xmlns:a="http://schemas.openxmlformats.org/drawingml/2006/main">
            <a:r>
              <a:t>- Golden Run review record: 50,198 frames, 16 candidates, all reviewed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ここからは実際の一例で説明します。入力は、二つのDBC、CANのCSV、Videoです。全動画は50,198 Frameでした。U001がSignalをFrame単位に整理し、U002のRadar認識確認ModuleがCameraの横位置、距離、Radarの有効状態を組み合わせて確認区間を作りました。U003では、Frame 41,380から41,780付近を映像とCANで確認し、Radar欠落の開始、復帰、Camera側の状態を分けて記録しました。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[中文理解]</a:t>
            </a:r>
          </a:p>
          <a:p xmlns:a="http://schemas.openxmlformats.org/drawingml/2006/main">
            <a:r>
              <a:t>开始完整案例。后面连续几页都只追这个例子。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CORE_OPERATING_LOGIC_THEORY_MODULE_PROFILE_PLAYBOOK_v0_1_2026-08-30.txt</a:t>
            </a:r>
          </a:p>
          <a:p xmlns:a="http://schemas.openxmlformats.org/drawingml/2006/main">
            <a:r>
              <a:t>- CAMERA_PERFORMANCE_DEGRADATION_FACTOR_MINING_CAMPAIGN_v0_1_2026-08-30.txt</a:t>
            </a:r>
          </a:p>
          <a:p xmlns:a="http://schemas.openxmlformats.org/drawingml/2006/main">
            <a:r>
              <a:t>- PYGMI_ENGINEERING_ARCHAEOLOGY_AND_U_SERIES_TRANSFER_GUIDE_v0_1_2026-08-30.txt</a:t>
            </a:r>
          </a:p>
          <a:p xmlns:a="http://schemas.openxmlformats.org/drawingml/2006/main">
            <a:r>
              <a:t>- Golden Run review record: 50,198 frames, 16 candidates, all reviewed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一つの候補は六段階を通ります。元FileをU001がFrame表へ変換します。U002のModuleが条件を計算し、確認窓を作ります。候補Packageには、開始、代表、終了Frame、選定理由、表示するSignalを入れます。U003は同じFrameCountでVideoとCANを開き、人が現象を確認します。最後に、判断、Memo、Evidence位置、適用条件を保存します。このため、結果だけでなく、なぜその結果になったかを戻って確認でき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[中文理解]</a:t>
            </a:r>
          </a:p>
          <a:p xmlns:a="http://schemas.openxmlformats.org/drawingml/2006/main">
            <a:r>
              <a:t>端到端链路一页说清。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CORE_OPERATING_LOGIC_THEORY_MODULE_PROFILE_PLAYBOOK_v0_1_2026-08-30.txt</a:t>
            </a:r>
          </a:p>
          <a:p xmlns:a="http://schemas.openxmlformats.org/drawingml/2006/main">
            <a:r>
              <a:t>- CAMERA_PERFORMANCE_DEGRADATION_FACTOR_MINING_CAMPAIGN_v0_1_2026-08-30.txt</a:t>
            </a:r>
          </a:p>
          <a:p xmlns:a="http://schemas.openxmlformats.org/drawingml/2006/main">
            <a:r>
              <a:t>- PYGMI_ENGINEERING_ARCHAEOLOGY_AND_U_SERIES_TRANSFER_GUIDE_v0_1_2026-08-30.txt</a:t>
            </a:r>
          </a:p>
          <a:p xmlns:a="http://schemas.openxmlformats.org/drawingml/2006/main">
            <a:r>
              <a:t>- Golden Run review record: 50,198 frames, 16 candidates, all reviewed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実例では、二つのDBCとCAN Dumpを読み、Camera 1と3の距離と横位置、Radar距離と有効状態などを選びました。U001は各Frameについて、値だけでなく、そのFrameで更新されたか、前の値を保持しているか、何Frame保持したか、無効理由は何かを付けます。これによりU002は、単に値が存在するかではなく、比較に使える値かを判断でき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[中文理解]</a:t>
            </a:r>
          </a:p>
          <a:p xmlns:a="http://schemas.openxmlformats.org/drawingml/2006/main">
            <a:r>
              <a:t>回答某个文件进入U001后到底产生什么。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CORE_OPERATING_LOGIC_THEORY_MODULE_PROFILE_PLAYBOOK_v0_1_2026-08-30.txt</a:t>
            </a:r>
          </a:p>
          <a:p xmlns:a="http://schemas.openxmlformats.org/drawingml/2006/main">
            <a:r>
              <a:t>- CAMERA_PERFORMANCE_DEGRADATION_FACTOR_MINING_CAMPAIGN_v0_1_2026-08-30.txt</a:t>
            </a:r>
          </a:p>
          <a:p xmlns:a="http://schemas.openxmlformats.org/drawingml/2006/main">
            <a:r>
              <a:t>- PYGMI_ENGINEERING_ARCHAEOLOGY_AND_U_SERIES_TRANSFER_GUIDE_v0_1_2026-08-30.txt</a:t>
            </a:r>
          </a:p>
          <a:p xmlns:a="http://schemas.openxmlformats.org/drawingml/2006/main">
            <a:r>
              <a:t>- Golden Run review record: 50,198 frames, 16 candidates, all reviewed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今回のModuleは、Radarがゼロや無効値になったかだけではなく、Cameraが見ている対象の距離と横位置、欠落の継続、復帰の遅れを組み合わせました。対象が横へ外れた後にRadarが欠落し、再び中央へ戻った後に復帰する区間を候補化します。候補PackageにはScoreだけでなく、欠落の長さ、横位置の変化、確認すべき点を人が読めるMemoとして残し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[中文理解]</a:t>
            </a:r>
          </a:p>
          <a:p xmlns:a="http://schemas.openxmlformats.org/drawingml/2006/main">
            <a:r>
              <a:t>回答U002哪个Module为什么选出该区间。不要把Radar说成Camera真值。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CORE_OPERATING_LOGIC_THEORY_MODULE_PROFILE_PLAYBOOK_v0_1_2026-08-30.txt</a:t>
            </a:r>
          </a:p>
          <a:p xmlns:a="http://schemas.openxmlformats.org/drawingml/2006/main">
            <a:r>
              <a:t>- CAMERA_PERFORMANCE_DEGRADATION_FACTOR_MINING_CAMPAIGN_v0_1_2026-08-30.txt</a:t>
            </a:r>
          </a:p>
          <a:p xmlns:a="http://schemas.openxmlformats.org/drawingml/2006/main">
            <a:r>
              <a:t>- PYGMI_ENGINEERING_ARCHAEOLOGY_AND_U_SERIES_TRANSFER_GUIDE_v0_1_2026-08-30.txt</a:t>
            </a:r>
          </a:p>
          <a:p xmlns:a="http://schemas.openxmlformats.org/drawingml/2006/main">
            <a:r>
              <a:t>- Golden Run review record: 50,198 frames, 16 candidates, all reviewed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Golden Runの入力は50,198 Frameです。候補としてまとめられた範囲は合計1,937 Frameで、全体の約3.9パーセントです。これを前後の文脈を含む16個のReview Windowにまとめました。したがって、16は16 Frameではありません。現時点で正式な工数測定はしていないため、何時間削減したとは言いません。確認範囲を数値で圧縮できたことが、今回確認できた成果です。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[中文理解]</a:t>
            </a:r>
          </a:p>
          <a:p xmlns:a="http://schemas.openxmlformats.org/drawingml/2006/main">
            <a:r>
              <a:t>把16、1937、3.9%讲清；不虚构工时。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CORE_OPERATING_LOGIC_THEORY_MODULE_PROFILE_PLAYBOOK_v0_1_2026-08-30.txt</a:t>
            </a:r>
          </a:p>
          <a:p xmlns:a="http://schemas.openxmlformats.org/drawingml/2006/main">
            <a:r>
              <a:t>- CAMERA_PERFORMANCE_DEGRADATION_FACTOR_MINING_CAMPAIGN_v0_1_2026-08-30.txt</a:t>
            </a:r>
          </a:p>
          <a:p xmlns:a="http://schemas.openxmlformats.org/drawingml/2006/main">
            <a:r>
              <a:t>- PYGMI_ENGINEERING_ARCHAEOLOGY_AND_U_SERIES_TRANSFER_GUIDE_v0_1_2026-08-30.txt</a:t>
            </a:r>
          </a:p>
          <a:p xmlns:a="http://schemas.openxmlformats.org/drawingml/2006/main">
            <a:r>
              <a:t>- Golden Run review record: 50,198 frames, 16 candidates, all reviewed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16件はすべてU003で映像とCANを確認しました。15件は、対象の横方向変化に伴うRadar欠落と復帰という、Moduleが想定した現象と整合しました。1件は、対象が正面にいるのに約10 FrameだけRadarが欠落する別現象でした。ただし、完全なGround Truthがないため、15件をCamera故障やRadar故障と断定していません。今回確認したのは、候補理由と実際の現象が対応したことです。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[中文理解]</a:t>
            </a:r>
          </a:p>
          <a:p xmlns:a="http://schemas.openxmlformats.org/drawingml/2006/main">
            <a:r>
              <a:t>15不是15个真故障；15个符合假设，1个特殊现象。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CORE_OPERATING_LOGIC_THEORY_MODULE_PROFILE_PLAYBOOK_v0_1_2026-08-30.txt</a:t>
            </a:r>
          </a:p>
          <a:p xmlns:a="http://schemas.openxmlformats.org/drawingml/2006/main">
            <a:r>
              <a:t>- CAMERA_PERFORMANCE_DEGRADATION_FACTOR_MINING_CAMPAIGN_v0_1_2026-08-30.txt</a:t>
            </a:r>
          </a:p>
          <a:p xmlns:a="http://schemas.openxmlformats.org/drawingml/2006/main">
            <a:r>
              <a:t>- PYGMI_ENGINEERING_ARCHAEOLOGY_AND_U_SERIES_TRANSFER_GUIDE_v0_1_2026-08-30.txt</a:t>
            </a:r>
          </a:p>
          <a:p xmlns:a="http://schemas.openxmlformats.org/drawingml/2006/main">
            <a:r>
              <a:t>- Golden Run review record: 50,198 frames, 16 candidates, all reviewed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代表区間では、対象がCamera画面の中心から横へ外れるにつれて、Cameraの横位置が増えました。その後、約Frame 41,520からRadar距離が継続して欠落しました。対象が中心へ戻った後もすぐには復帰せず、約41,598で追跡が戻りました。U003では、映像の位置、Camera横位置、Radar有効状態を同じFrameCountで確認しました。工程判断は、横方向変化に対応したRadar欠落と、復帰までの遅れが見られた、で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[中文理解]</a:t>
            </a:r>
          </a:p>
          <a:p xmlns:a="http://schemas.openxmlformats.org/drawingml/2006/main">
            <a:r>
              <a:t>具体候选故事：发生了什么、看到什么、最后如何表述。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CORE_OPERATING_LOGIC_THEORY_MODULE_PROFILE_PLAYBOOK_v0_1_2026-08-30.txt</a:t>
            </a:r>
          </a:p>
          <a:p xmlns:a="http://schemas.openxmlformats.org/drawingml/2006/main">
            <a:r>
              <a:t>- CAMERA_PERFORMANCE_DEGRADATION_FACTOR_MINING_CAMPAIGN_v0_1_2026-08-30.txt</a:t>
            </a:r>
          </a:p>
          <a:p xmlns:a="http://schemas.openxmlformats.org/drawingml/2006/main">
            <a:r>
              <a:t>- PYGMI_ENGINEERING_ARCHAEOLOGY_AND_U_SERIES_TRANSFER_GUIDE_v0_1_2026-08-30.txt</a:t>
            </a:r>
          </a:p>
          <a:p xmlns:a="http://schemas.openxmlformats.org/drawingml/2006/main">
            <a:r>
              <a:t>- Golden Run review record: 50,198 frames, 16 candidates, all reviewed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今回確認できたのは、三つのProgramが接続し、全16 WindowをReviewでき、候補理由と現象が対応し、別現象を分離し、結果を戻って追跡できたことです。一方、正式な作業時間、全動画の漏検率、Cameraの真の誤差、他車両への一般化はまだ評価していません。ここを曖昧にせず、次のCamera工程Campaignで順番に評価し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[中文理解]</a:t>
            </a:r>
          </a:p>
          <a:p xmlns:a="http://schemas.openxmlformats.org/drawingml/2006/main">
            <a:r>
              <a:t>把成功和未知分开，既不虚夸，也不把成果说没了。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CORE_OPERATING_LOGIC_THEORY_MODULE_PROFILE_PLAYBOOK_v0_1_2026-08-30.txt</a:t>
            </a:r>
          </a:p>
          <a:p xmlns:a="http://schemas.openxmlformats.org/drawingml/2006/main">
            <a:r>
              <a:t>- CAMERA_PERFORMANCE_DEGRADATION_FACTOR_MINING_CAMPAIGN_v0_1_2026-08-30.txt</a:t>
            </a:r>
          </a:p>
          <a:p xmlns:a="http://schemas.openxmlformats.org/drawingml/2006/main">
            <a:r>
              <a:t>- PYGMI_ENGINEERING_ARCHAEOLOGY_AND_U_SERIES_TRANSFER_GUIDE_v0_1_2026-08-30.txt</a:t>
            </a:r>
          </a:p>
          <a:p xmlns:a="http://schemas.openxmlformats.org/drawingml/2006/main">
            <a:r>
              <a:t>- Golden Run review record: 50,198 frames, 16 candidates, all reviewed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ここで用語を分けます。Moduleは処理能力です。Algorithm Cardは、その目的、入力、計算、限界を説明します。Profileは、どのModuleをどの順序とParameterで使用するかという実行定義です。Run Manifestは、今回実際に使ったInput、Module Version、Hash、Parameterを記録します。Review Resultは、人の判断とEvidenceです。これらを一つのProfile Fileへ曖昧に混ぜず、関連付けて保存します。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[中文理解]</a:t>
            </a:r>
          </a:p>
          <a:p xmlns:a="http://schemas.openxmlformats.org/drawingml/2006/main">
            <a:r>
              <a:t>精确定义五类资产，解决Profile到底是什么的疑问。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CORE_OPERATING_LOGIC_THEORY_MODULE_PROFILE_PLAYBOOK_v0_1_2026-08-30.txt</a:t>
            </a:r>
          </a:p>
          <a:p xmlns:a="http://schemas.openxmlformats.org/drawingml/2006/main">
            <a:r>
              <a:t>- CAMERA_PERFORMANCE_DEGRADATION_FACTOR_MINING_CAMPAIGN_v0_1_2026-08-30.txt</a:t>
            </a:r>
          </a:p>
          <a:p xmlns:a="http://schemas.openxmlformats.org/drawingml/2006/main">
            <a:r>
              <a:t>- PYGMI_ENGINEERING_ARCHAEOLOGY_AND_U_SERIES_TRANSFER_GUIDE_v0_1_2026-08-30.txt</a:t>
            </a:r>
          </a:p>
          <a:p xmlns:a="http://schemas.openxmlformats.org/drawingml/2006/main">
            <a:r>
              <a:t>- Golden Run review record: 50,198 frames, 16 candidates, all reviewed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Moduleは、技術的には固定した入力と出力Interfaceを持つCode Packageです。どのStageで動くか、何を受け取り、何を返すか、目的、計算、限界、Self-test、Sample Data、Versionを持ちます。その規則の中で、数学、統計、Python、将来のMATLABなど内部方法は選べます。厳しい入口と出口があるため、新しいModuleの開発者は全体Programを変更せず、一つの能力に集中できます。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[中文理解]</a:t>
            </a:r>
          </a:p>
          <a:p xmlns:a="http://schemas.openxmlformats.org/drawingml/2006/main">
            <a:r>
              <a:t>直接回答Module是否是固定I/O的代码包：是。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CORE_OPERATING_LOGIC_THEORY_MODULE_PROFILE_PLAYBOOK_v0_1_2026-08-30.txt</a:t>
            </a:r>
          </a:p>
          <a:p xmlns:a="http://schemas.openxmlformats.org/drawingml/2006/main">
            <a:r>
              <a:t>- CAMERA_PERFORMANCE_DEGRADATION_FACTOR_MINING_CAMPAIGN_v0_1_2026-08-30.txt</a:t>
            </a:r>
          </a:p>
          <a:p xmlns:a="http://schemas.openxmlformats.org/drawingml/2006/main">
            <a:r>
              <a:t>- PYGMI_ENGINEERING_ARCHAEOLOGY_AND_U_SERIES_TRANSFER_GUIDE_v0_1_2026-08-30.txt</a:t>
            </a:r>
          </a:p>
          <a:p xmlns:a="http://schemas.openxmlformats.org/drawingml/2006/main">
            <a:r>
              <a:t>- Golden Run review record: 50,198 frames, 16 candidates, all reviewed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Profileそのものは、実行の設計図です。使用Signal、Moduleの順序、Parameter、対象範囲、出力条件を持ちます。実際に何を使ったかはRun Manifestへ記録し、結果と人の判断はReview Resultへ残します。したがって、再利用できる工程経験とはProfile File単独ではありません。Profile、Run記録、Review、適用範囲が揃い、実車で確認された状態です。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[中文理解]</a:t>
            </a:r>
          </a:p>
          <a:p xmlns:a="http://schemas.openxmlformats.org/drawingml/2006/main">
            <a:r>
              <a:t>Profile不是万能容器；验证后的经验是四者组合。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CORE_OPERATING_LOGIC_THEORY_MODULE_PROFILE_PLAYBOOK_v0_1_2026-08-30.txt</a:t>
            </a:r>
          </a:p>
          <a:p xmlns:a="http://schemas.openxmlformats.org/drawingml/2006/main">
            <a:r>
              <a:t>- CAMERA_PERFORMANCE_DEGRADATION_FACTOR_MINING_CAMPAIGN_v0_1_2026-08-30.txt</a:t>
            </a:r>
          </a:p>
          <a:p xmlns:a="http://schemas.openxmlformats.org/drawingml/2006/main">
            <a:r>
              <a:t>- PYGMI_ENGINEERING_ARCHAEOLOGY_AND_U_SERIES_TRANSFER_GUIDE_v0_1_2026-08-30.txt</a:t>
            </a:r>
          </a:p>
          <a:p xmlns:a="http://schemas.openxmlformats.org/drawingml/2006/main">
            <a:r>
              <a:t>- Golden Run review record: 50,198 frames, 16 candidates, all reviewed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Profileを変更した場合、過去結果は上書きしません。旧Profile、Run、Reviewを固定し、新Versionを作ります。同じInput IDとFrame範囲で再実行し、候補の増減、Score、Evidence、人の判断を比較します。これにより、Parameterを変えた結果が本当に改善か、単に別の候補を出しただけかを確認できます。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[中文理解]</a:t>
            </a:r>
          </a:p>
          <a:p xmlns:a="http://schemas.openxmlformats.org/drawingml/2006/main">
            <a:r>
              <a:t>回答修改profile后如何与过去比较。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CORE_OPERATING_LOGIC_THEORY_MODULE_PROFILE_PLAYBOOK_v0_1_2026-08-30.txt</a:t>
            </a:r>
          </a:p>
          <a:p xmlns:a="http://schemas.openxmlformats.org/drawingml/2006/main">
            <a:r>
              <a:t>- CAMERA_PERFORMANCE_DEGRADATION_FACTOR_MINING_CAMPAIGN_v0_1_2026-08-30.txt</a:t>
            </a:r>
          </a:p>
          <a:p xmlns:a="http://schemas.openxmlformats.org/drawingml/2006/main">
            <a:r>
              <a:t>- PYGMI_ENGINEERING_ARCHAEOLOGY_AND_U_SERIES_TRANSFER_GUIDE_v0_1_2026-08-30.txt</a:t>
            </a:r>
          </a:p>
          <a:p xmlns:a="http://schemas.openxmlformats.org/drawingml/2006/main">
            <a:r>
              <a:t>- Golden Run review record: 50,198 frames, 16 candidates, all reviewed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002の内部では、S0からS7までの順序を固定しています。S0で入力と範囲を確認し、S1で対象と有効性を整理し、S2からS4で分析表、基準、差を作り、S5でScoreと根拠を計算し、S6で連続区間を候補へまとめ、S7でU003 Packageを出力します。順序と責任を固定し、各StageのModuleだけを課題に合わせて交換します。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[中文理解]</a:t>
            </a:r>
          </a:p>
          <a:p xmlns:a="http://schemas.openxmlformats.org/drawingml/2006/main">
            <a:r>
              <a:t>主讲只需高层解释S0-S7，不堆满英文术语。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CORE_OPERATING_LOGIC_THEORY_MODULE_PROFILE_PLAYBOOK_v0_1_2026-08-30.txt</a:t>
            </a:r>
          </a:p>
          <a:p xmlns:a="http://schemas.openxmlformats.org/drawingml/2006/main">
            <a:r>
              <a:t>- CAMERA_PERFORMANCE_DEGRADATION_FACTOR_MINING_CAMPAIGN_v0_1_2026-08-30.txt</a:t>
            </a:r>
          </a:p>
          <a:p xmlns:a="http://schemas.openxmlformats.org/drawingml/2006/main">
            <a:r>
              <a:t>- PYGMI_ENGINEERING_ARCHAEOLOGY_AND_U_SERIES_TRANSFER_GUIDE_v0_1_2026-08-30.txt</a:t>
            </a:r>
          </a:p>
          <a:p xmlns:a="http://schemas.openxmlformats.org/drawingml/2006/main">
            <a:r>
              <a:t>- Golden Run review record: 50,198 frames, 16 candidates, all reviewed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基盤開発は一つの段階を完了しました。次の主線はCamera性能です。追跡切替、復帰、旋回、速度、Target位置など、工程要求に合わせてModuleを作り、全量分析と映像確認を行います。私は研修員として、必要な車両工学、Sensor、統計、System Identification、制御を実課題から学びます。Uシリーズは、その学習を実車検証へ接続し、確認済みProfileとしてTeamへ残すための基盤です。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[中文理解]</a:t>
            </a:r>
          </a:p>
          <a:p xmlns:a="http://schemas.openxmlformats.org/drawingml/2006/main">
            <a:r>
              <a:t>个人成长只在最后作为支撑，不与系统和Golden Run平分叙事。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CORE_OPERATING_LOGIC_THEORY_MODULE_PROFILE_PLAYBOOK_v0_1_2026-08-30.txt</a:t>
            </a:r>
          </a:p>
          <a:p xmlns:a="http://schemas.openxmlformats.org/drawingml/2006/main">
            <a:r>
              <a:t>- CAMERA_PERFORMANCE_DEGRADATION_FACTOR_MINING_CAMPAIGN_v0_1_2026-08-30.txt</a:t>
            </a:r>
          </a:p>
          <a:p xmlns:a="http://schemas.openxmlformats.org/drawingml/2006/main">
            <a:r>
              <a:t>- PYGMI_ENGINEERING_ARCHAEOLOGY_AND_U_SERIES_TRANSFER_GUIDE_v0_1_2026-08-30.txt</a:t>
            </a:r>
          </a:p>
          <a:p xmlns:a="http://schemas.openxmlformats.org/drawingml/2006/main">
            <a:r>
              <a:t>- Golden Run review record: 50,198 frames, 16 candidates, all reviewed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001はSource固有のFileを読む入口を持ちます。新しいCAN、GNSS、LiDARでは、そのSource用DriverとAdapterを追加します。Catalogで利用可能Signalを見せ、必要なSignalだけを選択し、共通形式へ変換します。後段のU002とU003は、同じData Contractを守れば再利用できます。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[中文理解]</a:t>
            </a:r>
          </a:p>
          <a:p xmlns:a="http://schemas.openxmlformats.org/drawingml/2006/main">
            <a:r>
              <a:t>补充U001的可扩展输入结构。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CORE_OPERATING_LOGIC_THEORY_MODULE_PROFILE_PLAYBOOK_v0_1_2026-08-30.txt</a:t>
            </a:r>
          </a:p>
          <a:p xmlns:a="http://schemas.openxmlformats.org/drawingml/2006/main">
            <a:r>
              <a:t>- CAMERA_PERFORMANCE_DEGRADATION_FACTOR_MINING_CAMPAIGN_v0_1_2026-08-30.txt</a:t>
            </a:r>
          </a:p>
          <a:p xmlns:a="http://schemas.openxmlformats.org/drawingml/2006/main">
            <a:r>
              <a:t>- PYGMI_ENGINEERING_ARCHAEOLOGY_AND_U_SERIES_TRANSFER_GUIDE_v0_1_2026-08-30.txt</a:t>
            </a:r>
          </a:p>
          <a:p xmlns:a="http://schemas.openxmlformats.org/drawingml/2006/main">
            <a:r>
              <a:t>- Golden Run review record: 50,198 frames, 16 candidates, all reviewed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新Sourceを読み取れたことと、分析へ安全に使えることは別です。時間基準、単位、座標系、無効値、更新周期、保持方法を確認します。Sample Dataで機械的な動作を確認し、実Dataで意味を確認してから、使用できるAdapterとして登録します。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[中文理解]</a:t>
            </a:r>
          </a:p>
          <a:p xmlns:a="http://schemas.openxmlformats.org/drawingml/2006/main">
            <a:r>
              <a:t>强调扩展有边界，不是接上就自动可信。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CORE_OPERATING_LOGIC_THEORY_MODULE_PROFILE_PLAYBOOK_v0_1_2026-08-30.txt</a:t>
            </a:r>
          </a:p>
          <a:p xmlns:a="http://schemas.openxmlformats.org/drawingml/2006/main">
            <a:r>
              <a:t>- CAMERA_PERFORMANCE_DEGRADATION_FACTOR_MINING_CAMPAIGN_v0_1_2026-08-30.txt</a:t>
            </a:r>
          </a:p>
          <a:p xmlns:a="http://schemas.openxmlformats.org/drawingml/2006/main">
            <a:r>
              <a:t>- PYGMI_ENGINEERING_ARCHAEOLOGY_AND_U_SERIES_TRANSFER_GUIDE_v0_1_2026-08-30.txt</a:t>
            </a:r>
          </a:p>
          <a:p xmlns:a="http://schemas.openxmlformats.org/drawingml/2006/main">
            <a:r>
              <a:t>- Golden Run review record: 50,198 frames, 16 candidates, all reviewed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003はU002の候補Packageを読み、映像とCANを同じFrameで表示します。Graph、編集可能なExcel、外部提出用画像MaskなどをModuleで追加できます。自動化するのは確認位置への移動、表示、図表作成などの機械作業です。最終の工程判断は人が行い、そのMemoとEvidenceを保存し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[中文理解]</a:t>
            </a:r>
          </a:p>
          <a:p xmlns:a="http://schemas.openxmlformats.org/drawingml/2006/main">
            <a:r>
              <a:t>U003的办公自动化目标明确：减少机械劳动，不替代工程判断。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CORE_OPERATING_LOGIC_THEORY_MODULE_PROFILE_PLAYBOOK_v0_1_2026-08-30.txt</a:t>
            </a:r>
          </a:p>
          <a:p xmlns:a="http://schemas.openxmlformats.org/drawingml/2006/main">
            <a:r>
              <a:t>- CAMERA_PERFORMANCE_DEGRADATION_FACTOR_MINING_CAMPAIGN_v0_1_2026-08-30.txt</a:t>
            </a:r>
          </a:p>
          <a:p xmlns:a="http://schemas.openxmlformats.org/drawingml/2006/main">
            <a:r>
              <a:t>- PYGMI_ENGINEERING_ARCHAEOLOGY_AND_U_SERIES_TRANSFER_GUIDE_v0_1_2026-08-30.txt</a:t>
            </a:r>
          </a:p>
          <a:p xmlns:a="http://schemas.openxmlformats.org/drawingml/2006/main">
            <a:r>
              <a:t>- Golden Run review record: 50,198 frames, 16 candidates, all reviewed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16候補をすべてReviewしたため、候補の中で何が起きたかは説明できます。しかし、候補の外側の全Frameに正解Labelがないため、漏検がゼロとは言えません。漏検率を評価するには、別途、一定範囲を人が全件Labelし、U002の結果と比較するExperimentが必要で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[中文理解]</a:t>
            </a:r>
          </a:p>
          <a:p xmlns:a="http://schemas.openxmlformats.org/drawingml/2006/main">
            <a:r>
              <a:t>回答有没有漏掉：目前不知道，但知道如何验证。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CORE_OPERATING_LOGIC_THEORY_MODULE_PROFILE_PLAYBOOK_v0_1_2026-08-30.txt</a:t>
            </a:r>
          </a:p>
          <a:p xmlns:a="http://schemas.openxmlformats.org/drawingml/2006/main">
            <a:r>
              <a:t>- CAMERA_PERFORMANCE_DEGRADATION_FACTOR_MINING_CAMPAIGN_v0_1_2026-08-30.txt</a:t>
            </a:r>
          </a:p>
          <a:p xmlns:a="http://schemas.openxmlformats.org/drawingml/2006/main">
            <a:r>
              <a:t>- PYGMI_ENGINEERING_ARCHAEOLOGY_AND_U_SERIES_TRANSFER_GUIDE_v0_1_2026-08-30.txt</a:t>
            </a:r>
          </a:p>
          <a:p xmlns:a="http://schemas.openxmlformats.org/drawingml/2006/main">
            <a:r>
              <a:t>- Golden Run review record: 50,198 frames, 16 candidates, all reviewed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正式な工数測定はまだ行っていません。今回実測したのはFrameとWindowの数です。次回は、全動画手動確認、候補Review、Report作成、再実行の時間を同じ条件で記録します。速度だけでなく、見落としや再確認可能性も一緒に評価し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[中文理解]</a:t>
            </a:r>
          </a:p>
          <a:p xmlns:a="http://schemas.openxmlformats.org/drawingml/2006/main">
            <a:r>
              <a:t>不虚构节省多少小时，给出下一次怎么测。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CORE_OPERATING_LOGIC_THEORY_MODULE_PROFILE_PLAYBOOK_v0_1_2026-08-30.txt</a:t>
            </a:r>
          </a:p>
          <a:p xmlns:a="http://schemas.openxmlformats.org/drawingml/2006/main">
            <a:r>
              <a:t>- CAMERA_PERFORMANCE_DEGRADATION_FACTOR_MINING_CAMPAIGN_v0_1_2026-08-30.txt</a:t>
            </a:r>
          </a:p>
          <a:p xmlns:a="http://schemas.openxmlformats.org/drawingml/2006/main">
            <a:r>
              <a:t>- PYGMI_ENGINEERING_ARCHAEOLOGY_AND_U_SERIES_TRANSFER_GUIDE_v0_1_2026-08-30.txt</a:t>
            </a:r>
          </a:p>
          <a:p xmlns:a="http://schemas.openxmlformats.org/drawingml/2006/main">
            <a:r>
              <a:t>- Golden Run review record: 50,198 frames, 16 candidates, all reviewed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MATLABはU002のModule Interfaceから接続する計画です。U001の共通Frame表を入力し、System Identification、Vehicle Model、Control Algorithmなど得意な計算をMATLABで実行します。結果は決められた形式でU002へ戻し、候補化とVersion記録を行い、U003で実車確認します。目的はMATLABを置き換えることではなく、分析全体を一つのWorkflowへ接続することで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[中文理解]</a:t>
            </a:r>
          </a:p>
          <a:p xmlns:a="http://schemas.openxmlformats.org/drawingml/2006/main">
            <a:r>
              <a:t>明确MATLAB从U002 module进入。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CORE_OPERATING_LOGIC_THEORY_MODULE_PROFILE_PLAYBOOK_v0_1_2026-08-30.txt</a:t>
            </a:r>
          </a:p>
          <a:p xmlns:a="http://schemas.openxmlformats.org/drawingml/2006/main">
            <a:r>
              <a:t>- CAMERA_PERFORMANCE_DEGRADATION_FACTOR_MINING_CAMPAIGN_v0_1_2026-08-30.txt</a:t>
            </a:r>
          </a:p>
          <a:p xmlns:a="http://schemas.openxmlformats.org/drawingml/2006/main">
            <a:r>
              <a:t>- PYGMI_ENGINEERING_ARCHAEOLOGY_AND_U_SERIES_TRANSFER_GUIDE_v0_1_2026-08-30.txt</a:t>
            </a:r>
          </a:p>
          <a:p xmlns:a="http://schemas.openxmlformats.org/drawingml/2006/main">
            <a:r>
              <a:t>- Golden Run review record: 50,198 frames, 16 candidates, all reviewed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次はCamera性能の工程質問を中心にします。旋回、速度、Targetの横位置、追跡切替、復帰などの条件を一つずつ定義し、必要なSignalとModuleを決め、全量実行し、U003で確認します。結果が確認できた分析経路をProfileとして保存し、次の課題で再利用します。ここまでを主説明とし、以降は補足資料で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[中文理解]</a:t>
            </a:r>
          </a:p>
          <a:p xmlns:a="http://schemas.openxmlformats.org/drawingml/2006/main">
            <a:r>
              <a:t>主讲最后用Camera分析闭环收尾，把任务引导到ADAS算法方向。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CORE_OPERATING_LOGIC_THEORY_MODULE_PROFILE_PLAYBOOK_v0_1_2026-08-30.txt</a:t>
            </a:r>
          </a:p>
          <a:p xmlns:a="http://schemas.openxmlformats.org/drawingml/2006/main">
            <a:r>
              <a:t>- CAMERA_PERFORMANCE_DEGRADATION_FACTOR_MINING_CAMPAIGN_v0_1_2026-08-30.txt</a:t>
            </a:r>
          </a:p>
          <a:p xmlns:a="http://schemas.openxmlformats.org/drawingml/2006/main">
            <a:r>
              <a:t>- PYGMI_ENGINEERING_ARCHAEOLOGY_AND_U_SERIES_TRANSFER_GUIDE_v0_1_2026-08-30.txt</a:t>
            </a:r>
          </a:p>
          <a:p xmlns:a="http://schemas.openxmlformats.org/drawingml/2006/main">
            <a:r>
              <a:t>- Golden Run review record: 50,198 frames, 16 candidates, all reviewed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今回完成した成果は、第一に入力から人工確認までのEnd-to-End実証、第二にModuleを交換して分析を増やせるU002骨格、第三にU003の確認と報告の自動化です。16件の全件Reviewは、その三つが実車Dataで接続できた確認例で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[中文理解]</a:t>
            </a:r>
          </a:p>
          <a:p xmlns:a="http://schemas.openxmlformats.org/drawingml/2006/main">
            <a:r>
              <a:t>成果不是只有16个候选，而是路线、骨架、自动化三项。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CORE_OPERATING_LOGIC_THEORY_MODULE_PROFILE_PLAYBOOK_v0_1_2026-08-30.txt</a:t>
            </a:r>
          </a:p>
          <a:p xmlns:a="http://schemas.openxmlformats.org/drawingml/2006/main">
            <a:r>
              <a:t>- CAMERA_PERFORMANCE_DEGRADATION_FACTOR_MINING_CAMPAIGN_v0_1_2026-08-30.txt</a:t>
            </a:r>
          </a:p>
          <a:p xmlns:a="http://schemas.openxmlformats.org/drawingml/2006/main">
            <a:r>
              <a:t>- PYGMI_ENGINEERING_ARCHAEOLOGY_AND_U_SERIES_TRANSFER_GUIDE_v0_1_2026-08-30.txt</a:t>
            </a:r>
          </a:p>
          <a:p xmlns:a="http://schemas.openxmlformats.org/drawingml/2006/main">
            <a:r>
              <a:t>- Golden Run review record: 50,198 frames, 16 candidates, all reviewed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成熟度を三段階に分けます。AはProgramが契約通り動くこと、Bは実車現象と結果が整合すること、Cは他の車両や条件へ適用できることです。今回、Aと代表課題におけるBを確認しました。Cは次のCamera CampaignでProfileの適用範囲を増やしながら評価します。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[中文理解]</a:t>
            </a:r>
          </a:p>
          <a:p xmlns:a="http://schemas.openxmlformats.org/drawingml/2006/main">
            <a:r>
              <a:t>用易懂三阶段代替一堆质量术语。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CORE_OPERATING_LOGIC_THEORY_MODULE_PROFILE_PLAYBOOK_v0_1_2026-08-30.txt</a:t>
            </a:r>
          </a:p>
          <a:p xmlns:a="http://schemas.openxmlformats.org/drawingml/2006/main">
            <a:r>
              <a:t>- CAMERA_PERFORMANCE_DEGRADATION_FACTOR_MINING_CAMPAIGN_v0_1_2026-08-30.txt</a:t>
            </a:r>
          </a:p>
          <a:p xmlns:a="http://schemas.openxmlformats.org/drawingml/2006/main">
            <a:r>
              <a:t>- PYGMI_ENGINEERING_ARCHAEOLOGY_AND_U_SERIES_TRANSFER_GUIDE_v0_1_2026-08-30.txt</a:t>
            </a:r>
          </a:p>
          <a:p xmlns:a="http://schemas.openxmlformats.org/drawingml/2006/main">
            <a:r>
              <a:t>- Golden Run review record: 50,198 frames, 16 candidates, all reviewed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保守性は後から追加したものではなく、設計条件です。通常はCoreを変更せず、担当者は自分のModuleとProfileを扱います。利用、Module開発、排障のManual、Sample Data、Self-test、Versionを準備することで、一人でも継続でき、必要な時にはTeamで分担できる構成にしています。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[中文理解]</a:t>
            </a:r>
          </a:p>
          <a:p xmlns:a="http://schemas.openxmlformats.org/drawingml/2006/main">
            <a:r>
              <a:t>一人能维护，也为全组维护准备。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CORE_OPERATING_LOGIC_THEORY_MODULE_PROFILE_PLAYBOOK_v0_1_2026-08-30.txt</a:t>
            </a:r>
          </a:p>
          <a:p xmlns:a="http://schemas.openxmlformats.org/drawingml/2006/main">
            <a:r>
              <a:t>- CAMERA_PERFORMANCE_DEGRADATION_FACTOR_MINING_CAMPAIGN_v0_1_2026-08-30.txt</a:t>
            </a:r>
          </a:p>
          <a:p xmlns:a="http://schemas.openxmlformats.org/drawingml/2006/main">
            <a:r>
              <a:t>- PYGMI_ENGINEERING_ARCHAEOLOGY_AND_U_SERIES_TRANSFER_GUIDE_v0_1_2026-08-30.txt</a:t>
            </a:r>
          </a:p>
          <a:p xmlns:a="http://schemas.openxmlformats.org/drawingml/2006/main">
            <a:r>
              <a:t>- Golden Run review record: 50,198 frames, 16 candidates, all reviewed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uleを作れる数学とCodeの能力は、私の強みです。しかし、Moduleが動くだけでは工程経験になりません。実車課題へ適用し、映像とCANで確認し、成功と失敗、適用範囲を残すことで、Teamが再利用できる経験になります。Uシリーズは、私の学習力と実装力をADAS工程へ接続するための実行基盤で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[中文理解]</a:t>
            </a:r>
          </a:p>
          <a:p xmlns:a="http://schemas.openxmlformats.org/drawingml/2006/main">
            <a:r>
              <a:t>既吹自己的数学和代码能力，也强调必须实车验证后才成为经验。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CORE_OPERATING_LOGIC_THEORY_MODULE_PROFILE_PLAYBOOK_v0_1_2026-08-30.txt</a:t>
            </a:r>
          </a:p>
          <a:p xmlns:a="http://schemas.openxmlformats.org/drawingml/2006/main">
            <a:r>
              <a:t>- CAMERA_PERFORMANCE_DEGRADATION_FACTOR_MINING_CAMPAIGN_v0_1_2026-08-30.txt</a:t>
            </a:r>
          </a:p>
          <a:p xmlns:a="http://schemas.openxmlformats.org/drawingml/2006/main">
            <a:r>
              <a:t>- PYGMI_ENGINEERING_ARCHAEOLOGY_AND_U_SERIES_TRANSFER_GUIDE_v0_1_2026-08-30.txt</a:t>
            </a:r>
          </a:p>
          <a:p xmlns:a="http://schemas.openxmlformats.org/drawingml/2006/main">
            <a:r>
              <a:t>- Golden Run review record: 50,198 frames, 16 candidates, all reviewed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一つの巨大Programにすると、Source変更、分析変更、Review変更が互いに影響し、結果が変わった時の原因を追いにくくなります。三つのProgramと固定Interfaceへ分けることで、それぞれを独立してTestし、必要な部分だけ変更できます。利用者の操作は連続させますが、内部責任は分離し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[中文理解]</a:t>
            </a:r>
          </a:p>
          <a:p xmlns:a="http://schemas.openxmlformats.org/drawingml/2006/main">
            <a:r>
              <a:t>回答为什么不是一个软件三页。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CORE_OPERATING_LOGIC_THEORY_MODULE_PROFILE_PLAYBOOK_v0_1_2026-08-30.txt</a:t>
            </a:r>
          </a:p>
          <a:p xmlns:a="http://schemas.openxmlformats.org/drawingml/2006/main">
            <a:r>
              <a:t>- CAMERA_PERFORMANCE_DEGRADATION_FACTOR_MINING_CAMPAIGN_v0_1_2026-08-30.txt</a:t>
            </a:r>
          </a:p>
          <a:p xmlns:a="http://schemas.openxmlformats.org/drawingml/2006/main">
            <a:r>
              <a:t>- PYGMI_ENGINEERING_ARCHAEOLOGY_AND_U_SERIES_TRANSFER_GUIDE_v0_1_2026-08-30.txt</a:t>
            </a:r>
          </a:p>
          <a:p xmlns:a="http://schemas.openxmlformats.org/drawingml/2006/main">
            <a:r>
              <a:t>- Golden Run review record: 50,198 frames, 16 candidates, all reviewed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Black Boxを防ぐため、何を確認するか、何を入力したか、どの方法と条件を使ったか、どのFrameをなぜ選んだか、映像とCANで何を見たか、人がどう判断したかを残します。AIや複雑なModelを将来使用する場合も、Scoreだけでなく、この六つを残せることを正式採用の条件にし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[中文理解]</a:t>
            </a:r>
          </a:p>
          <a:p xmlns:a="http://schemas.openxmlformats.org/drawingml/2006/main">
            <a:r>
              <a:t>可解释性用六个直观问题说明，不堆专有名词。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CORE_OPERATING_LOGIC_THEORY_MODULE_PROFILE_PLAYBOOK_v0_1_2026-08-30.txt</a:t>
            </a:r>
          </a:p>
          <a:p xmlns:a="http://schemas.openxmlformats.org/drawingml/2006/main">
            <a:r>
              <a:t>- CAMERA_PERFORMANCE_DEGRADATION_FACTOR_MINING_CAMPAIGN_v0_1_2026-08-30.txt</a:t>
            </a:r>
          </a:p>
          <a:p xmlns:a="http://schemas.openxmlformats.org/drawingml/2006/main">
            <a:r>
              <a:t>- PYGMI_ENGINEERING_ARCHAEOLOGY_AND_U_SERIES_TRANSFER_GUIDE_v0_1_2026-08-30.txt</a:t>
            </a:r>
          </a:p>
          <a:p xmlns:a="http://schemas.openxmlformats.org/drawingml/2006/main">
            <a:r>
              <a:t>- Golden Run review record: 50,198 frames, 16 candidates, all reviewed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HIENGのCanViewなど既存Toolは継続して利用できます。Codeを見せてReviewを受けたり、Module実装を依頼することもできます。ただし、Camera評価の定義、共通Data Contract、Profileの適用条件は社内で管理します。通常の追加要求はModuleやAdapterで対応し、必要がない限りCore骨格と最重要Data Contractは変更しません。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[中文理解]</a:t>
            </a:r>
          </a:p>
          <a:p xmlns:a="http://schemas.openxmlformats.org/drawingml/2006/main">
            <a:r>
              <a:t>补充材料说明外部协作边界。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CORE_OPERATING_LOGIC_THEORY_MODULE_PROFILE_PLAYBOOK_v0_1_2026-08-30.txt</a:t>
            </a:r>
          </a:p>
          <a:p xmlns:a="http://schemas.openxmlformats.org/drawingml/2006/main">
            <a:r>
              <a:t>- CAMERA_PERFORMANCE_DEGRADATION_FACTOR_MINING_CAMPAIGN_v0_1_2026-08-30.txt</a:t>
            </a:r>
          </a:p>
          <a:p xmlns:a="http://schemas.openxmlformats.org/drawingml/2006/main">
            <a:r>
              <a:t>- PYGMI_ENGINEERING_ARCHAEOLOGY_AND_U_SERIES_TRANSFER_GUIDE_v0_1_2026-08-30.txt</a:t>
            </a:r>
          </a:p>
          <a:p xmlns:a="http://schemas.openxmlformats.org/drawingml/2006/main">
            <a:r>
              <a:t>- Golden Run review record: 50,198 frames, 16 candidates, all reviewed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基盤開発は一つの段階を完了しました。Projectを継続する価値は、Programの数や画面の機能ではなく、Cameraに関する工程結論で示します。実際の工程課題に必要な知識を学び、Moduleへ実装し、実車で確認し、適用範囲を持つProfileとしてTeamへ残します。これを繰り返すことで、研修で得た知識を継続的なADAS工程能力へ変え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[中文理解]</a:t>
            </a:r>
          </a:p>
          <a:p xmlns:a="http://schemas.openxmlformats.org/drawingml/2006/main">
            <a:r>
              <a:t>收尾：下一步交付工程结论，不是继续堆平台功能。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CORE_OPERATING_LOGIC_THEORY_MODULE_PROFILE_PLAYBOOK_v0_1_2026-08-30.txt</a:t>
            </a:r>
          </a:p>
          <a:p xmlns:a="http://schemas.openxmlformats.org/drawingml/2006/main">
            <a:r>
              <a:t>- CAMERA_PERFORMANCE_DEGRADATION_FACTOR_MINING_CAMPAIGN_v0_1_2026-08-30.txt</a:t>
            </a:r>
          </a:p>
          <a:p xmlns:a="http://schemas.openxmlformats.org/drawingml/2006/main">
            <a:r>
              <a:t>- PYGMI_ENGINEERING_ARCHAEOLOGY_AND_U_SERIES_TRANSFER_GUIDE_v0_1_2026-08-30.txt</a:t>
            </a:r>
          </a:p>
          <a:p xmlns:a="http://schemas.openxmlformats.org/drawingml/2006/main">
            <a:r>
              <a:t>- Golden Run review record: 50,198 frames, 16 candidates, all reviewed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d41fb2af7e04f1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531869f8b584f7e" /><Relationship Type="http://schemas.openxmlformats.org/officeDocument/2006/relationships/slideLayout" Target="/ppt/slideLayouts/slideLayout1.xml" Id="R7da32c31249440d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da32c31249440d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8831b7f6a44b86" /><Relationship Type="http://schemas.openxmlformats.org/officeDocument/2006/relationships/notesSlide" Target="/ppt/notesSlides/notesSlide1.xml" Id="R1201d9fa3b004c5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be5847443b44af" /><Relationship Type="http://schemas.openxmlformats.org/officeDocument/2006/relationships/notesSlide" Target="/ppt/notesSlides/notesSlide2.xml" Id="Rc150f63828f54fb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1b1d750330460a" /><Relationship Type="http://schemas.openxmlformats.org/officeDocument/2006/relationships/notesSlide" Target="/ppt/notesSlides/notesSlide3.xml" Id="Rc865c5fad7ba402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5b969bad3641da" /><Relationship Type="http://schemas.openxmlformats.org/officeDocument/2006/relationships/notesSlide" Target="/ppt/notesSlides/notesSlide4.xml" Id="R695305ffabda4de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190b4f9964418e" /><Relationship Type="http://schemas.openxmlformats.org/officeDocument/2006/relationships/notesSlide" Target="/ppt/notesSlides/notesSlide5.xml" Id="Rdc971570e6fb499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c64830499e4519" /><Relationship Type="http://schemas.openxmlformats.org/officeDocument/2006/relationships/notesSlide" Target="/ppt/notesSlides/notesSlide6.xml" Id="R1cc1df8d1f8c47f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0bc5254bea4f5d" /><Relationship Type="http://schemas.openxmlformats.org/officeDocument/2006/relationships/notesSlide" Target="/ppt/notesSlides/notesSlide7.xml" Id="Rbea6a38371254cb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cbc0b460174660" /><Relationship Type="http://schemas.openxmlformats.org/officeDocument/2006/relationships/notesSlide" Target="/ppt/notesSlides/notesSlide8.xml" Id="R9fd1716546614a9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dce604c7cf483f" /><Relationship Type="http://schemas.openxmlformats.org/officeDocument/2006/relationships/notesSlide" Target="/ppt/notesSlides/notesSlide9.xml" Id="Refc60149f7f547e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e481cb667044ab" /><Relationship Type="http://schemas.openxmlformats.org/officeDocument/2006/relationships/notesSlide" Target="/ppt/notesSlides/notesSlide10.xml" Id="Rc5e8092fcf36427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06a58624f546a8" /><Relationship Type="http://schemas.openxmlformats.org/officeDocument/2006/relationships/notesSlide" Target="/ppt/notesSlides/notesSlide11.xml" Id="R90f5bdacfe84432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a5eb44cbeb4479" /><Relationship Type="http://schemas.openxmlformats.org/officeDocument/2006/relationships/notesSlide" Target="/ppt/notesSlides/notesSlide12.xml" Id="R5639250ad4fc405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b4c919509d45e8" /><Relationship Type="http://schemas.openxmlformats.org/officeDocument/2006/relationships/notesSlide" Target="/ppt/notesSlides/notesSlide13.xml" Id="Rbfe975c839bd4a0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fef53757b24abb" /><Relationship Type="http://schemas.openxmlformats.org/officeDocument/2006/relationships/notesSlide" Target="/ppt/notesSlides/notesSlide14.xml" Id="R80d6386cb251487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3402fa5deb4521" /><Relationship Type="http://schemas.openxmlformats.org/officeDocument/2006/relationships/notesSlide" Target="/ppt/notesSlides/notesSlide15.xml" Id="R313f4a203c46481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1d5a5a25664ad9" /><Relationship Type="http://schemas.openxmlformats.org/officeDocument/2006/relationships/notesSlide" Target="/ppt/notesSlides/notesSlide16.xml" Id="R5a234cbf002a47cc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896c422c744c72" /><Relationship Type="http://schemas.openxmlformats.org/officeDocument/2006/relationships/notesSlide" Target="/ppt/notesSlides/notesSlide17.xml" Id="R572c3b00aff94359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c763fa3e374e9a" /><Relationship Type="http://schemas.openxmlformats.org/officeDocument/2006/relationships/notesSlide" Target="/ppt/notesSlides/notesSlide18.xml" Id="R49e92059de784fc5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8ff6228efb406a" /><Relationship Type="http://schemas.openxmlformats.org/officeDocument/2006/relationships/notesSlide" Target="/ppt/notesSlides/notesSlide19.xml" Id="R07bb613a7b6742ce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0da5714ce6482b" /><Relationship Type="http://schemas.openxmlformats.org/officeDocument/2006/relationships/notesSlide" Target="/ppt/notesSlides/notesSlide20.xml" Id="Rff7d1f25033c4b7c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397f6205e446b0" /><Relationship Type="http://schemas.openxmlformats.org/officeDocument/2006/relationships/notesSlide" Target="/ppt/notesSlides/notesSlide21.xml" Id="Rb55c13e95f664edc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7c418f8a174266" /><Relationship Type="http://schemas.openxmlformats.org/officeDocument/2006/relationships/notesSlide" Target="/ppt/notesSlides/notesSlide22.xml" Id="R7901c266c31949ea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708c1078de4abc" /><Relationship Type="http://schemas.openxmlformats.org/officeDocument/2006/relationships/notesSlide" Target="/ppt/notesSlides/notesSlide23.xml" Id="Redf3b7bcff474ae6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a1d73d9edc4a35" /><Relationship Type="http://schemas.openxmlformats.org/officeDocument/2006/relationships/notesSlide" Target="/ppt/notesSlides/notesSlide24.xml" Id="Re718d7f5f7dc48ec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5abf4413ce4fe5" /><Relationship Type="http://schemas.openxmlformats.org/officeDocument/2006/relationships/notesSlide" Target="/ppt/notesSlides/notesSlide25.xml" Id="Re348422e38294122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08e6fe432f4853" /><Relationship Type="http://schemas.openxmlformats.org/officeDocument/2006/relationships/notesSlide" Target="/ppt/notesSlides/notesSlide26.xml" Id="R4c98f6f3e44946be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31a767e4c94584" /><Relationship Type="http://schemas.openxmlformats.org/officeDocument/2006/relationships/notesSlide" Target="/ppt/notesSlides/notesSlide27.xml" Id="R987db8d7391e4e6b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9b469721b64514" /><Relationship Type="http://schemas.openxmlformats.org/officeDocument/2006/relationships/notesSlide" Target="/ppt/notesSlides/notesSlide28.xml" Id="R15d07b4ad388464b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f2b1792a1b4ac9" /><Relationship Type="http://schemas.openxmlformats.org/officeDocument/2006/relationships/notesSlide" Target="/ppt/notesSlides/notesSlide29.xml" Id="R485dc19b98704c3e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f7c17af53f468a" /><Relationship Type="http://schemas.openxmlformats.org/officeDocument/2006/relationships/notesSlide" Target="/ppt/notesSlides/notesSlide30.xml" Id="Ra2ea513006d54ab5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ed6539ef7347a7" /><Relationship Type="http://schemas.openxmlformats.org/officeDocument/2006/relationships/notesSlide" Target="/ppt/notesSlides/notesSlide31.xml" Id="Rc9da7edb259d4165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e6b7ba6bf54f5c" /><Relationship Type="http://schemas.openxmlformats.org/officeDocument/2006/relationships/notesSlide" Target="/ppt/notesSlides/notesSlide32.xml" Id="Ra213f83563f64cb2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c4b7eff5634949" /><Relationship Type="http://schemas.openxmlformats.org/officeDocument/2006/relationships/notesSlide" Target="/ppt/notesSlides/notesSlide33.xml" Id="R8459ddf7ed004f40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b289b69d8c41ad" /><Relationship Type="http://schemas.openxmlformats.org/officeDocument/2006/relationships/notesSlide" Target="/ppt/notesSlides/notesSlide34.xml" Id="R414890e2fda84168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765fbd8cb14253" /><Relationship Type="http://schemas.openxmlformats.org/officeDocument/2006/relationships/notesSlide" Target="/ppt/notesSlides/notesSlide35.xml" Id="Rb223d63deb174f6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3F5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-band">
            <a:extLst xmlns:a="http://schemas.openxmlformats.org/drawingml/2006/main">
              <a:ext uri="{FF2B5EF4-FFF2-40B4-BE49-F238E27FC236}">
                <a16:creationId xmlns:a16="http://schemas.microsoft.com/office/drawing/2014/main" id="{E9A6BF0D-B4F6-4B51-9CC4-E3FD2AC90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F5F"/>
          </a:solidFill>
          <a:ln xmlns:a="http://schemas.openxmlformats.org/drawingml/2006/main" w="0">
            <a:solidFill>
              <a:srgbClr val="173F5F"/>
            </a:solidFill>
            <a:prstDash val="solid"/>
          </a:ln>
        </p:spPr>
      </p:sp>
      <p:sp>
        <p:nvSpPr>
          <p:cNvPr id="2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8CD7462D-A5CC-46C9-B7F5-48F61FCBB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14300" cy="325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BDD6"/>
          </a:solidFill>
          <a:ln xmlns:a="http://schemas.openxmlformats.org/drawingml/2006/main" w="0">
            <a:solidFill>
              <a:srgbClr val="91BDD6"/>
            </a:solidFill>
            <a:prstDash val="solid"/>
          </a:ln>
        </p:spPr>
      </p:sp>
      <p:sp>
        <p:nvSpPr>
          <p:cNvPr id="3" name="series">
            <a:extLst xmlns:a="http://schemas.openxmlformats.org/drawingml/2006/main">
              <a:ext uri="{FF2B5EF4-FFF2-40B4-BE49-F238E27FC236}">
                <a16:creationId xmlns:a16="http://schemas.microsoft.com/office/drawing/2014/main" id="{EEACB4B2-818F-4C8E-B3DE-5DD82473D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7630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91BDD6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650" b="1">
                <a:solidFill>
                  <a:srgbClr val="91BDD6"/>
                </a:solidFill>
                <a:latin typeface="Hiragino Kaku Gothic ProN"/>
                <a:ea typeface="Hiragino Kaku Gothic ProN"/>
                <a:cs typeface="Hiragino Kaku Gothic ProN"/>
              </a:rPr>
              <a:t>U001–U003 詳細説明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C6EA13E-C19A-41B0-8D88-553D42C85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00200"/>
            <a:ext cx="9810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405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実車データを、説明できる</a:t>
            </a:r>
          </a:p>
          <a:p xmlns:a="http://schemas.openxmlformats.org/drawingml/2006/main">
            <a:pPr>
              <a:buNone/>
              <a:defRPr sz="405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ADAS評価へ変える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09A69086-5922-452C-889B-7EA8F981D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24250"/>
            <a:ext cx="9334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950">
                <a:solidFill>
                  <a:srgbClr val="DDEAF2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950">
                <a:solidFill>
                  <a:srgbClr val="DDEAF2"/>
                </a:solidFill>
                <a:latin typeface="Hiragino Kaku Gothic ProN"/>
                <a:ea typeface="Hiragino Kaku Gothic ProN"/>
                <a:cs typeface="Hiragino Kaku Gothic ProN"/>
              </a:rPr>
              <a:t>U001・U002・U003 詳細説明 ― 基盤、実証、次のCamera分析</a:t>
            </a:r>
          </a:p>
        </p:txBody>
      </p:sp>
      <p:sp>
        <p:nvSpPr>
          <p:cNvPr id="6" name="title-points">
            <a:extLst xmlns:a="http://schemas.openxmlformats.org/drawingml/2006/main">
              <a:ext uri="{FF2B5EF4-FFF2-40B4-BE49-F238E27FC236}">
                <a16:creationId xmlns:a16="http://schemas.microsoft.com/office/drawing/2014/main" id="{A6D21C30-57C3-4FE3-9FCF-CC4B7E787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863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425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425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rPr>
              <a:t>三つの独立Program　｜　共通Data　｜　一つの確認Workflow</a:t>
            </a:r>
          </a:p>
        </p:txBody>
      </p:sp>
      <p:sp>
        <p:nvSpPr>
          <p:cNvPr id="7" name="owner">
            <a:extLst xmlns:a="http://schemas.openxmlformats.org/drawingml/2006/main">
              <a:ext uri="{FF2B5EF4-FFF2-40B4-BE49-F238E27FC236}">
                <a16:creationId xmlns:a16="http://schemas.microsoft.com/office/drawing/2014/main" id="{52057A66-692D-4DEA-85FF-16AE352AA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90550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DDEAF2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350">
                <a:solidFill>
                  <a:srgbClr val="DDEAF2"/>
                </a:solidFill>
                <a:latin typeface="Hiragino Kaku Gothic ProN"/>
                <a:ea typeface="Hiragino Kaku Gothic ProN"/>
                <a:cs typeface="Hiragino Kaku Gothic ProN"/>
              </a:rPr>
              <a:t>開発担当：ZHAO ZHILI</a:t>
            </a:r>
          </a:p>
        </p:txBody>
      </p:sp>
      <p:sp>
        <p:nvSpPr>
          <p:cNvPr id="8" name="date">
            <a:extLst xmlns:a="http://schemas.openxmlformats.org/drawingml/2006/main">
              <a:ext uri="{FF2B5EF4-FFF2-40B4-BE49-F238E27FC236}">
                <a16:creationId xmlns:a16="http://schemas.microsoft.com/office/drawing/2014/main" id="{218AF3E8-5B8A-4E67-B871-CEB396DE1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59055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75">
                <a:solidFill>
                  <a:srgbClr val="DDEAF2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275">
                <a:solidFill>
                  <a:srgbClr val="DDEAF2"/>
                </a:solidFill>
                <a:latin typeface="Hiragino Kaku Gothic ProN"/>
                <a:ea typeface="Hiragino Kaku Gothic ProN"/>
                <a:cs typeface="Hiragino Kaku Gothic ProN"/>
              </a:rPr>
              <a:t>2026-09-01</a:t>
            </a:r>
          </a:p>
        </p:txBody>
      </p:sp>
    </p:spTree>
    <p:extLst>
      <p:ext uri="{BB962C8B-B14F-4D97-AF65-F5344CB8AC3E}">
        <p14:creationId xmlns:p14="http://schemas.microsoft.com/office/powerpoint/2010/main" val="171363673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op-accent">
            <a:extLst xmlns:a="http://schemas.openxmlformats.org/drawingml/2006/main">
              <a:ext uri="{FF2B5EF4-FFF2-40B4-BE49-F238E27FC236}">
                <a16:creationId xmlns:a16="http://schemas.microsoft.com/office/drawing/2014/main" id="{446530FA-F39F-4D53-A5CC-3FD1F8EBA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F5F"/>
          </a:solidFill>
          <a:ln xmlns:a="http://schemas.openxmlformats.org/drawingml/2006/main" w="0">
            <a:solidFill>
              <a:srgbClr val="173F5F"/>
            </a:solidFill>
            <a:prstDash val="solid"/>
          </a:ln>
        </p:spPr>
      </p:sp>
      <p:sp>
        <p:nvSpPr>
          <p:cNvPr id="2" name="deck-name">
            <a:extLst xmlns:a="http://schemas.openxmlformats.org/drawingml/2006/main">
              <a:ext uri="{FF2B5EF4-FFF2-40B4-BE49-F238E27FC236}">
                <a16:creationId xmlns:a16="http://schemas.microsoft.com/office/drawing/2014/main" id="{CCAB3FFC-EEEC-48D8-80F3-E807EE902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670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U001–U003 詳細説明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AC58916-9909-46DC-93AF-47F31A63B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"/>
            <a:ext cx="11010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17324D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850" b="1">
                <a:solidFill>
                  <a:srgbClr val="17324D"/>
                </a:solidFill>
                <a:latin typeface="Hiragino Kaku Gothic ProN"/>
                <a:ea typeface="Hiragino Kaku Gothic ProN"/>
                <a:cs typeface="Hiragino Kaku Gothic ProN"/>
              </a:rPr>
              <a:t>Uシリーズは、三つの独立Programを接続した分析基盤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FCB93324-D2DA-4FD9-BCF2-DA742093B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90550" y="1381125"/>
            <a:ext cx="110109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7C8D6"/>
            </a:solidFill>
            <a:prstDash val="solid"/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A1A0A0F2-0180-4C7B-B8F0-4F029F88D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34150"/>
            <a:ext cx="781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97222"/>
          </a:bodyPr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900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rPr>
              <a:t>ZHAO ZHILI  |  U-Series Detailed Review  |  2026-09-01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869C8DC-401B-441E-A285-F8EC06EC9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524625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97222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900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rPr>
              <a:t>2</a:t>
            </a:r>
          </a:p>
        </p:txBody>
      </p:sp>
      <p:sp>
        <p:nvSpPr>
          <p:cNvPr id="7" name="metric-0">
            <a:extLst xmlns:a="http://schemas.openxmlformats.org/drawingml/2006/main">
              <a:ext uri="{FF2B5EF4-FFF2-40B4-BE49-F238E27FC236}">
                <a16:creationId xmlns:a16="http://schemas.microsoft.com/office/drawing/2014/main" id="{6D7892D0-6E68-4875-AE53-69E1376F3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3327400" cy="180975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73F5F"/>
            </a:solidFill>
            <a:prstDash val="solid"/>
          </a:ln>
        </p:spPr>
      </p:sp>
      <p:sp>
        <p:nvSpPr>
          <p:cNvPr id="8" name="metric-value-0">
            <a:extLst xmlns:a="http://schemas.openxmlformats.org/drawingml/2006/main">
              <a:ext uri="{FF2B5EF4-FFF2-40B4-BE49-F238E27FC236}">
                <a16:creationId xmlns:a16="http://schemas.microsoft.com/office/drawing/2014/main" id="{0726FBE8-FDF2-463E-BD0B-D6111C985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095500"/>
            <a:ext cx="3098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450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3450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3</a:t>
            </a:r>
          </a:p>
        </p:txBody>
      </p:sp>
      <p:sp>
        <p:nvSpPr>
          <p:cNvPr id="9" name="metric-label-0">
            <a:extLst xmlns:a="http://schemas.openxmlformats.org/drawingml/2006/main">
              <a:ext uri="{FF2B5EF4-FFF2-40B4-BE49-F238E27FC236}">
                <a16:creationId xmlns:a16="http://schemas.microsoft.com/office/drawing/2014/main" id="{3B330E28-0D9A-4A81-8ACD-606A2487B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914650"/>
            <a:ext cx="3022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35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rPr>
              <a:t>独立Desktop Program</a:t>
            </a:r>
          </a:p>
        </p:txBody>
      </p:sp>
      <p:sp>
        <p:nvSpPr>
          <p:cNvPr id="10" name="metric-1">
            <a:extLst xmlns:a="http://schemas.openxmlformats.org/drawingml/2006/main">
              <a:ext uri="{FF2B5EF4-FFF2-40B4-BE49-F238E27FC236}">
                <a16:creationId xmlns:a16="http://schemas.microsoft.com/office/drawing/2014/main" id="{018913C9-7D68-44CA-AA82-CBF53BA0A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2300" y="1809750"/>
            <a:ext cx="3327400" cy="180975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EDF4F8"/>
          </a:solidFill>
          <a:ln xmlns:a="http://schemas.openxmlformats.org/drawingml/2006/main" w="14288">
            <a:solidFill>
              <a:srgbClr val="2E6F9E"/>
            </a:solidFill>
            <a:prstDash val="solid"/>
          </a:ln>
        </p:spPr>
      </p:sp>
      <p:sp>
        <p:nvSpPr>
          <p:cNvPr id="11" name="metric-value-1">
            <a:extLst xmlns:a="http://schemas.openxmlformats.org/drawingml/2006/main">
              <a:ext uri="{FF2B5EF4-FFF2-40B4-BE49-F238E27FC236}">
                <a16:creationId xmlns:a16="http://schemas.microsoft.com/office/drawing/2014/main" id="{612EC52E-1F8D-4ED1-89E0-E00A8D168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6600" y="2095500"/>
            <a:ext cx="3098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450" b="1">
                <a:solidFill>
                  <a:srgbClr val="2E6F9E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3450" b="1">
                <a:solidFill>
                  <a:srgbClr val="2E6F9E"/>
                </a:solidFill>
                <a:latin typeface="Hiragino Kaku Gothic ProN"/>
                <a:ea typeface="Hiragino Kaku Gothic ProN"/>
                <a:cs typeface="Hiragino Kaku Gothic ProN"/>
              </a:rPr>
              <a:t>1</a:t>
            </a:r>
          </a:p>
        </p:txBody>
      </p:sp>
      <p:sp>
        <p:nvSpPr>
          <p:cNvPr id="12" name="metric-label-1">
            <a:extLst xmlns:a="http://schemas.openxmlformats.org/drawingml/2006/main">
              <a:ext uri="{FF2B5EF4-FFF2-40B4-BE49-F238E27FC236}">
                <a16:creationId xmlns:a16="http://schemas.microsoft.com/office/drawing/2014/main" id="{6841A41E-D79C-44D6-8E8A-B1F104494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4700" y="2914650"/>
            <a:ext cx="3022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35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rPr>
              <a:t>共通Data Contract</a:t>
            </a:r>
          </a:p>
        </p:txBody>
      </p:sp>
      <p:sp>
        <p:nvSpPr>
          <p:cNvPr id="13" name="metric-2">
            <a:extLst xmlns:a="http://schemas.openxmlformats.org/drawingml/2006/main">
              <a:ext uri="{FF2B5EF4-FFF2-40B4-BE49-F238E27FC236}">
                <a16:creationId xmlns:a16="http://schemas.microsoft.com/office/drawing/2014/main" id="{79F0B500-8C60-44ED-8400-68A538BCE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7350" y="1809750"/>
            <a:ext cx="3327400" cy="180975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E5F2EE"/>
          </a:solidFill>
          <a:ln xmlns:a="http://schemas.openxmlformats.org/drawingml/2006/main" w="14288">
            <a:solidFill>
              <a:srgbClr val="2F7D68"/>
            </a:solidFill>
            <a:prstDash val="solid"/>
          </a:ln>
        </p:spPr>
      </p:sp>
      <p:sp>
        <p:nvSpPr>
          <p:cNvPr id="14" name="metric-value-2">
            <a:extLst xmlns:a="http://schemas.openxmlformats.org/drawingml/2006/main">
              <a:ext uri="{FF2B5EF4-FFF2-40B4-BE49-F238E27FC236}">
                <a16:creationId xmlns:a16="http://schemas.microsoft.com/office/drawing/2014/main" id="{8E87C321-7A2B-4102-8978-C10593CD2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1650" y="2095500"/>
            <a:ext cx="3098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450" b="1">
                <a:solidFill>
                  <a:srgbClr val="2F7D6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3450" b="1">
                <a:solidFill>
                  <a:srgbClr val="2F7D68"/>
                </a:solidFill>
                <a:latin typeface="Hiragino Kaku Gothic ProN"/>
                <a:ea typeface="Hiragino Kaku Gothic ProN"/>
                <a:cs typeface="Hiragino Kaku Gothic ProN"/>
              </a:rPr>
              <a:t>1</a:t>
            </a:r>
          </a:p>
        </p:txBody>
      </p:sp>
      <p:sp>
        <p:nvSpPr>
          <p:cNvPr id="15" name="metric-label-2">
            <a:extLst xmlns:a="http://schemas.openxmlformats.org/drawingml/2006/main">
              <a:ext uri="{FF2B5EF4-FFF2-40B4-BE49-F238E27FC236}">
                <a16:creationId xmlns:a16="http://schemas.microsoft.com/office/drawing/2014/main" id="{B608F5A2-8E33-4688-886C-B39BD8B57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9750" y="2914650"/>
            <a:ext cx="3022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35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rPr>
              <a:t>連続した評価Workflow</a:t>
            </a:r>
          </a:p>
        </p:txBody>
      </p:sp>
      <p:sp>
        <p:nvSpPr>
          <p:cNvPr id="16" name="metric-explain">
            <a:extLst xmlns:a="http://schemas.openxmlformats.org/drawingml/2006/main">
              <a:ext uri="{FF2B5EF4-FFF2-40B4-BE49-F238E27FC236}">
                <a16:creationId xmlns:a16="http://schemas.microsoft.com/office/drawing/2014/main" id="{B1395408-979C-4213-A9F8-9745075AA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095750"/>
            <a:ext cx="9810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80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rPr>
              <a:t>三つのPageではなく、個別に起動・保守できるU001、U002、U003を成果物Packageで接続する。</a:t>
            </a:r>
          </a:p>
        </p:txBody>
      </p:sp>
      <p:sp>
        <p:nvSpPr>
          <p:cNvPr id="17" name="metric-conclusion">
            <a:extLst xmlns:a="http://schemas.openxmlformats.org/drawingml/2006/main">
              <a:ext uri="{FF2B5EF4-FFF2-40B4-BE49-F238E27FC236}">
                <a16:creationId xmlns:a16="http://schemas.microsoft.com/office/drawing/2014/main" id="{E0A0A2DD-3892-4C71-9D81-7E986E573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429250"/>
            <a:ext cx="9334500" cy="6667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7F0F6"/>
          </a:solidFill>
          <a:ln xmlns:a="http://schemas.openxmlformats.org/drawingml/2006/main" w="14288">
            <a:solidFill>
              <a:srgbClr val="173F5F"/>
            </a:solidFill>
            <a:prstDash val="solid"/>
          </a:ln>
        </p:spPr>
      </p:sp>
      <p:sp>
        <p:nvSpPr>
          <p:cNvPr id="18" name="metric-conclusion-text">
            <a:extLst xmlns:a="http://schemas.openxmlformats.org/drawingml/2006/main">
              <a:ext uri="{FF2B5EF4-FFF2-40B4-BE49-F238E27FC236}">
                <a16:creationId xmlns:a16="http://schemas.microsoft.com/office/drawing/2014/main" id="{92FF0B22-A860-44C1-A315-50ABAC3F7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562600"/>
            <a:ext cx="876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650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Software Suiteであり、同時に再現可能な工程手順を支える基盤</a:t>
            </a:r>
          </a:p>
        </p:txBody>
      </p:sp>
    </p:spTree>
    <p:extLst>
      <p:ext uri="{BB962C8B-B14F-4D97-AF65-F5344CB8AC3E}">
        <p14:creationId xmlns:p14="http://schemas.microsoft.com/office/powerpoint/2010/main" val="113936828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op-accent">
            <a:extLst xmlns:a="http://schemas.openxmlformats.org/drawingml/2006/main">
              <a:ext uri="{FF2B5EF4-FFF2-40B4-BE49-F238E27FC236}">
                <a16:creationId xmlns:a16="http://schemas.microsoft.com/office/drawing/2014/main" id="{00D29C0E-8851-475B-B0F5-B2175515A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F5F"/>
          </a:solidFill>
          <a:ln xmlns:a="http://schemas.openxmlformats.org/drawingml/2006/main" w="0">
            <a:solidFill>
              <a:srgbClr val="173F5F"/>
            </a:solidFill>
            <a:prstDash val="solid"/>
          </a:ln>
        </p:spPr>
      </p:sp>
      <p:sp>
        <p:nvSpPr>
          <p:cNvPr id="2" name="deck-name">
            <a:extLst xmlns:a="http://schemas.openxmlformats.org/drawingml/2006/main">
              <a:ext uri="{FF2B5EF4-FFF2-40B4-BE49-F238E27FC236}">
                <a16:creationId xmlns:a16="http://schemas.microsoft.com/office/drawing/2014/main" id="{BB3C47BB-F314-452D-8A17-3E4FBF6A2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670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U001–U003 詳細説明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F2A0E13-A5D8-4B5C-9CFE-B471BA024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"/>
            <a:ext cx="11010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17324D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850" b="1">
                <a:solidFill>
                  <a:srgbClr val="17324D"/>
                </a:solidFill>
                <a:latin typeface="Hiragino Kaku Gothic ProN"/>
                <a:ea typeface="Hiragino Kaku Gothic ProN"/>
                <a:cs typeface="Hiragino Kaku Gothic ProN"/>
              </a:rPr>
              <a:t>なぜ、この基盤が必要だったのか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F60DE6A1-4B81-4C8F-BD34-94378F3B2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90550" y="1381125"/>
            <a:ext cx="110109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7C8D6"/>
            </a:solidFill>
            <a:prstDash val="solid"/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0BD3A1F6-159A-4154-BB7E-1A04F553C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34150"/>
            <a:ext cx="781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97222"/>
          </a:bodyPr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900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rPr>
              <a:t>ZHAO ZHILI  |  U-Series Detailed Review  |  2026-09-01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883A81D-07D9-4398-84AC-8B66169F2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524625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97222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900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rPr>
              <a:t>3</a:t>
            </a:r>
          </a:p>
        </p:txBody>
      </p:sp>
      <p:sp>
        <p:nvSpPr>
          <p:cNvPr id="9" name="conclusion-band">
            <a:extLst xmlns:a="http://schemas.openxmlformats.org/drawingml/2006/main">
              <a:ext uri="{FF2B5EF4-FFF2-40B4-BE49-F238E27FC236}">
                <a16:creationId xmlns:a16="http://schemas.microsoft.com/office/drawing/2014/main" id="{AABD679A-60F1-4ACE-9C18-79315CCE6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57850"/>
            <a:ext cx="10477500" cy="59055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E7F0F6"/>
          </a:solidFill>
          <a:ln xmlns:a="http://schemas.openxmlformats.org/drawingml/2006/main" w="14288">
            <a:solidFill>
              <a:srgbClr val="173F5F"/>
            </a:solidFill>
            <a:prstDash val="solid"/>
          </a:ln>
        </p:spPr>
      </p:sp>
      <p:sp>
        <p:nvSpPr>
          <p:cNvPr id="10" name="conclusion">
            <a:extLst xmlns:a="http://schemas.openxmlformats.org/drawingml/2006/main">
              <a:ext uri="{FF2B5EF4-FFF2-40B4-BE49-F238E27FC236}">
                <a16:creationId xmlns:a16="http://schemas.microsoft.com/office/drawing/2014/main" id="{BDED84F5-1A2A-45FD-9FDD-0C94473AD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772150"/>
            <a:ext cx="9982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650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複雑な実車Dataと分析能力の間に、説明可能な橋を作る</a:t>
            </a:r>
          </a:p>
        </p:txBody>
      </p:sp>
      <p:sp>
        <p:nvSpPr>
          <p:cNvPr id="12" name="need-data-card">
            <a:extLst xmlns:a="http://schemas.openxmlformats.org/drawingml/2006/main">
              <a:ext uri="{FF2B5EF4-FFF2-40B4-BE49-F238E27FC236}">
                <a16:creationId xmlns:a16="http://schemas.microsoft.com/office/drawing/2014/main" id="{5766F297-5121-42F6-99F1-FD2B2F836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90700"/>
            <a:ext cx="2876550" cy="13716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4F8FB"/>
          </a:solidFill>
          <a:ln xmlns:a="http://schemas.openxmlformats.org/drawingml/2006/main" w="14288">
            <a:solidFill>
              <a:srgbClr val="9FC4DE"/>
            </a:solidFill>
            <a:prstDash val="solid"/>
          </a:ln>
        </p:spPr>
      </p:sp>
      <p:sp>
        <p:nvSpPr>
          <p:cNvPr id="13" name="need-data-title">
            <a:extLst xmlns:a="http://schemas.openxmlformats.org/drawingml/2006/main">
              <a:ext uri="{FF2B5EF4-FFF2-40B4-BE49-F238E27FC236}">
                <a16:creationId xmlns:a16="http://schemas.microsoft.com/office/drawing/2014/main" id="{754EE40C-D623-41DE-BC31-C057957EF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05000"/>
            <a:ext cx="2533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650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実車Dataの複雑さ</a:t>
            </a:r>
          </a:p>
        </p:txBody>
      </p:sp>
      <p:sp>
        <p:nvSpPr>
          <p:cNvPr id="14" name="need-data-body">
            <a:extLst xmlns:a="http://schemas.openxmlformats.org/drawingml/2006/main">
              <a:ext uri="{FF2B5EF4-FFF2-40B4-BE49-F238E27FC236}">
                <a16:creationId xmlns:a16="http://schemas.microsoft.com/office/drawing/2014/main" id="{D252BDA7-0F47-455F-853D-826B363A5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66950"/>
            <a:ext cx="25336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526579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200">
                <a:solidFill>
                  <a:srgbClr val="526579"/>
                </a:solidFill>
                <a:latin typeface="Hiragino Kaku Gothic ProN"/>
                <a:ea typeface="Hiragino Kaku Gothic ProN"/>
                <a:cs typeface="Hiragino Kaku Gothic ProN"/>
              </a:rPr>
              <a:t>更新周期・無効値・対象切替</a:t>
            </a:r>
          </a:p>
          <a:p xmlns:a="http://schemas.openxmlformats.org/drawingml/2006/main">
            <a:pPr algn="ctr">
              <a:defRPr sz="1200">
                <a:solidFill>
                  <a:srgbClr val="526579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200">
                <a:solidFill>
                  <a:srgbClr val="526579"/>
                </a:solidFill>
                <a:latin typeface="Hiragino Kaku Gothic ProN"/>
                <a:ea typeface="Hiragino Kaku Gothic ProN"/>
                <a:cs typeface="Hiragino Kaku Gothic ProN"/>
              </a:rPr>
              <a:t>同じ数字でも意味が違う</a:t>
            </a:r>
          </a:p>
        </p:txBody>
      </p:sp>
      <p:sp>
        <p:nvSpPr>
          <p:cNvPr id="15" name="need-knowledge-card">
            <a:extLst xmlns:a="http://schemas.openxmlformats.org/drawingml/2006/main">
              <a:ext uri="{FF2B5EF4-FFF2-40B4-BE49-F238E27FC236}">
                <a16:creationId xmlns:a16="http://schemas.microsoft.com/office/drawing/2014/main" id="{4F9507C0-F421-4C34-98FC-FC91C4FE9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71850"/>
            <a:ext cx="2876550" cy="13716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6E6"/>
          </a:solidFill>
          <a:ln xmlns:a="http://schemas.openxmlformats.org/drawingml/2006/main" w="14288">
            <a:solidFill>
              <a:srgbClr val="E2A43B"/>
            </a:solidFill>
            <a:prstDash val="solid"/>
          </a:ln>
        </p:spPr>
      </p:sp>
      <p:sp>
        <p:nvSpPr>
          <p:cNvPr id="16" name="need-knowledge-title">
            <a:extLst xmlns:a="http://schemas.openxmlformats.org/drawingml/2006/main">
              <a:ext uri="{FF2B5EF4-FFF2-40B4-BE49-F238E27FC236}">
                <a16:creationId xmlns:a16="http://schemas.microsoft.com/office/drawing/2014/main" id="{5624BC38-9A2D-4016-8276-B1C8E65A3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86150"/>
            <a:ext cx="2533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B8741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650" b="1">
                <a:solidFill>
                  <a:srgbClr val="B87410"/>
                </a:solidFill>
                <a:latin typeface="Hiragino Kaku Gothic ProN"/>
                <a:ea typeface="Hiragino Kaku Gothic ProN"/>
                <a:cs typeface="Hiragino Kaku Gothic ProN"/>
              </a:rPr>
              <a:t>知識を工程へ落とすGap</a:t>
            </a:r>
          </a:p>
        </p:txBody>
      </p:sp>
      <p:sp>
        <p:nvSpPr>
          <p:cNvPr id="17" name="need-knowledge-body">
            <a:extLst xmlns:a="http://schemas.openxmlformats.org/drawingml/2006/main">
              <a:ext uri="{FF2B5EF4-FFF2-40B4-BE49-F238E27FC236}">
                <a16:creationId xmlns:a16="http://schemas.microsoft.com/office/drawing/2014/main" id="{D4FCB15D-AC00-4C18-876E-8A32BC5AD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48100"/>
            <a:ext cx="25336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526579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200">
                <a:solidFill>
                  <a:srgbClr val="526579"/>
                </a:solidFill>
                <a:latin typeface="Hiragino Kaku Gothic ProN"/>
                <a:ea typeface="Hiragino Kaku Gothic ProN"/>
                <a:cs typeface="Hiragino Kaku Gothic ProN"/>
              </a:rPr>
              <a:t>数学・統計・Codeだけでは</a:t>
            </a:r>
          </a:p>
          <a:p xmlns:a="http://schemas.openxmlformats.org/drawingml/2006/main">
            <a:pPr algn="ctr">
              <a:defRPr sz="1200">
                <a:solidFill>
                  <a:srgbClr val="526579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200">
                <a:solidFill>
                  <a:srgbClr val="526579"/>
                </a:solidFill>
                <a:latin typeface="Hiragino Kaku Gothic ProN"/>
                <a:ea typeface="Hiragino Kaku Gothic ProN"/>
                <a:cs typeface="Hiragino Kaku Gothic ProN"/>
              </a:rPr>
              <a:t>対象・条件・確認方法が不足</a:t>
            </a:r>
          </a:p>
        </p:txBody>
      </p:sp>
      <p:sp>
        <p:nvSpPr>
          <p:cNvPr id="18" name="need-arrow-left">
            <a:extLst xmlns:a="http://schemas.openxmlformats.org/drawingml/2006/main">
              <a:ext uri="{FF2B5EF4-FFF2-40B4-BE49-F238E27FC236}">
                <a16:creationId xmlns:a16="http://schemas.microsoft.com/office/drawing/2014/main" id="{F969FD3C-DBFA-4FA3-8547-2D1C7F50E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714625"/>
            <a:ext cx="609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2E73A6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3300" b="1">
                <a:solidFill>
                  <a:srgbClr val="2E73A6"/>
                </a:solidFill>
                <a:latin typeface="Hiragino Kaku Gothic ProN"/>
                <a:ea typeface="Hiragino Kaku Gothic ProN"/>
                <a:cs typeface="Hiragino Kaku Gothic ProN"/>
              </a:rPr>
              <a:t>→</a:t>
            </a:r>
          </a:p>
        </p:txBody>
      </p:sp>
      <p:sp>
        <p:nvSpPr>
          <p:cNvPr id="19" name="need-core-card">
            <a:extLst xmlns:a="http://schemas.openxmlformats.org/drawingml/2006/main">
              <a:ext uri="{FF2B5EF4-FFF2-40B4-BE49-F238E27FC236}">
                <a16:creationId xmlns:a16="http://schemas.microsoft.com/office/drawing/2014/main" id="{1CD45C75-2097-48CF-9BE9-F914BE3F6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114550"/>
            <a:ext cx="3333750" cy="2305050"/>
          </a:xfrm>
          <a:prstGeom xmlns:a="http://schemas.openxmlformats.org/drawingml/2006/main" prst="roundRect">
            <a:avLst>
              <a:gd name="adj" fmla="val 4959"/>
            </a:avLst>
          </a:prstGeom>
          <a:solidFill xmlns:a="http://schemas.openxmlformats.org/drawingml/2006/main">
            <a:srgbClr val="173F5F"/>
          </a:solidFill>
          <a:ln xmlns:a="http://schemas.openxmlformats.org/drawingml/2006/main" w="14288">
            <a:solidFill>
              <a:srgbClr val="173F5F"/>
            </a:solidFill>
            <a:prstDash val="solid"/>
          </a:ln>
        </p:spPr>
      </p:sp>
      <p:sp>
        <p:nvSpPr>
          <p:cNvPr id="20" name="need-core-title">
            <a:extLst xmlns:a="http://schemas.openxmlformats.org/drawingml/2006/main">
              <a:ext uri="{FF2B5EF4-FFF2-40B4-BE49-F238E27FC236}">
                <a16:creationId xmlns:a16="http://schemas.microsoft.com/office/drawing/2014/main" id="{CFD7EBF5-3A14-4F8F-8B8C-8E71F45F6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228850"/>
            <a:ext cx="2990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65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rPr>
              <a:t>Uシリーズ</a:t>
            </a:r>
          </a:p>
        </p:txBody>
      </p:sp>
      <p:sp>
        <p:nvSpPr>
          <p:cNvPr id="21" name="need-core-body">
            <a:extLst xmlns:a="http://schemas.openxmlformats.org/drawingml/2006/main">
              <a:ext uri="{FF2B5EF4-FFF2-40B4-BE49-F238E27FC236}">
                <a16:creationId xmlns:a16="http://schemas.microsoft.com/office/drawing/2014/main" id="{5B43DC32-0195-4627-AB07-1C11263C1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590800"/>
            <a:ext cx="299085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>
                <a:solidFill>
                  <a:srgbClr val="DDECF6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425">
                <a:solidFill>
                  <a:srgbClr val="DDECF6"/>
                </a:solidFill>
                <a:latin typeface="Hiragino Kaku Gothic ProN"/>
                <a:ea typeface="Hiragino Kaku Gothic ProN"/>
                <a:cs typeface="Hiragino Kaku Gothic ProN"/>
              </a:rPr>
              <a:t>共通Data規則</a:t>
            </a:r>
          </a:p>
          <a:p xmlns:a="http://schemas.openxmlformats.org/drawingml/2006/main">
            <a:pPr algn="ctr">
              <a:defRPr sz="1425">
                <a:solidFill>
                  <a:srgbClr val="DDECF6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425">
                <a:solidFill>
                  <a:srgbClr val="DDECF6"/>
                </a:solidFill>
                <a:latin typeface="Hiragino Kaku Gothic ProN"/>
                <a:ea typeface="Hiragino Kaku Gothic ProN"/>
                <a:cs typeface="Hiragino Kaku Gothic ProN"/>
              </a:rPr>
              <a:t>Moduleで分析を追加</a:t>
            </a:r>
          </a:p>
          <a:p xmlns:a="http://schemas.openxmlformats.org/drawingml/2006/main">
            <a:pPr algn="ctr">
              <a:defRPr sz="1425">
                <a:solidFill>
                  <a:srgbClr val="DDECF6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425">
                <a:solidFill>
                  <a:srgbClr val="DDECF6"/>
                </a:solidFill>
                <a:latin typeface="Hiragino Kaku Gothic ProN"/>
                <a:ea typeface="Hiragino Kaku Gothic ProN"/>
                <a:cs typeface="Hiragino Kaku Gothic ProN"/>
              </a:rPr>
              <a:t>Frame・理由・Evidenceを保存</a:t>
            </a:r>
          </a:p>
        </p:txBody>
      </p:sp>
      <p:sp>
        <p:nvSpPr>
          <p:cNvPr id="22" name="need-arrow-right">
            <a:extLst xmlns:a="http://schemas.openxmlformats.org/drawingml/2006/main">
              <a:ext uri="{FF2B5EF4-FFF2-40B4-BE49-F238E27FC236}">
                <a16:creationId xmlns:a16="http://schemas.microsoft.com/office/drawing/2014/main" id="{DDCE3B33-2741-43A3-8807-B0BDC19D8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714625"/>
            <a:ext cx="609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2E73A6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3300" b="1">
                <a:solidFill>
                  <a:srgbClr val="2E73A6"/>
                </a:solidFill>
                <a:latin typeface="Hiragino Kaku Gothic ProN"/>
                <a:ea typeface="Hiragino Kaku Gothic ProN"/>
                <a:cs typeface="Hiragino Kaku Gothic ProN"/>
              </a:rPr>
              <a:t>→</a:t>
            </a:r>
          </a:p>
        </p:txBody>
      </p:sp>
      <p:sp>
        <p:nvSpPr>
          <p:cNvPr id="23" name="need-adas-card">
            <a:extLst xmlns:a="http://schemas.openxmlformats.org/drawingml/2006/main">
              <a:ext uri="{FF2B5EF4-FFF2-40B4-BE49-F238E27FC236}">
                <a16:creationId xmlns:a16="http://schemas.microsoft.com/office/drawing/2014/main" id="{63830875-4F8A-4DFA-ACAF-73D546629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790700"/>
            <a:ext cx="3314700" cy="13716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9F5F1"/>
          </a:solidFill>
          <a:ln xmlns:a="http://schemas.openxmlformats.org/drawingml/2006/main" w="14288">
            <a:solidFill>
              <a:srgbClr val="2F826B"/>
            </a:solidFill>
            <a:prstDash val="solid"/>
          </a:ln>
        </p:spPr>
      </p:sp>
      <p:sp>
        <p:nvSpPr>
          <p:cNvPr id="24" name="need-adas-title">
            <a:extLst xmlns:a="http://schemas.openxmlformats.org/drawingml/2006/main">
              <a:ext uri="{FF2B5EF4-FFF2-40B4-BE49-F238E27FC236}">
                <a16:creationId xmlns:a16="http://schemas.microsoft.com/office/drawing/2014/main" id="{52CF4B98-FFD3-4FA4-8F97-C7B6BEB4D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905000"/>
            <a:ext cx="2971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F826B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650" b="1">
                <a:solidFill>
                  <a:srgbClr val="2F826B"/>
                </a:solidFill>
                <a:latin typeface="Hiragino Kaku Gothic ProN"/>
                <a:ea typeface="Hiragino Kaku Gothic ProN"/>
                <a:cs typeface="Hiragino Kaku Gothic ProN"/>
              </a:rPr>
              <a:t>説明できるADAS分析</a:t>
            </a:r>
          </a:p>
        </p:txBody>
      </p:sp>
      <p:sp>
        <p:nvSpPr>
          <p:cNvPr id="25" name="need-adas-body">
            <a:extLst xmlns:a="http://schemas.openxmlformats.org/drawingml/2006/main">
              <a:ext uri="{FF2B5EF4-FFF2-40B4-BE49-F238E27FC236}">
                <a16:creationId xmlns:a16="http://schemas.microsoft.com/office/drawing/2014/main" id="{1F720647-67A2-4FEA-9CC2-A66583507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266950"/>
            <a:ext cx="2971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526579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200">
                <a:solidFill>
                  <a:srgbClr val="526579"/>
                </a:solidFill>
                <a:latin typeface="Hiragino Kaku Gothic ProN"/>
                <a:ea typeface="Hiragino Kaku Gothic ProN"/>
                <a:cs typeface="Hiragino Kaku Gothic ProN"/>
              </a:rPr>
              <a:t>全量から候補を抽出</a:t>
            </a:r>
          </a:p>
          <a:p xmlns:a="http://schemas.openxmlformats.org/drawingml/2006/main">
            <a:pPr algn="ctr">
              <a:defRPr sz="1200">
                <a:solidFill>
                  <a:srgbClr val="526579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200">
                <a:solidFill>
                  <a:srgbClr val="526579"/>
                </a:solidFill>
                <a:latin typeface="Hiragino Kaku Gothic ProN"/>
                <a:ea typeface="Hiragino Kaku Gothic ProN"/>
                <a:cs typeface="Hiragino Kaku Gothic ProN"/>
              </a:rPr>
              <a:t>映像とCANで工程判断</a:t>
            </a:r>
          </a:p>
        </p:txBody>
      </p:sp>
      <p:sp>
        <p:nvSpPr>
          <p:cNvPr id="26" name="need-auto-card">
            <a:extLst xmlns:a="http://schemas.openxmlformats.org/drawingml/2006/main">
              <a:ext uri="{FF2B5EF4-FFF2-40B4-BE49-F238E27FC236}">
                <a16:creationId xmlns:a16="http://schemas.microsoft.com/office/drawing/2014/main" id="{D52CF215-DB88-4F2D-8F3B-D95431199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371850"/>
            <a:ext cx="3314700" cy="13716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4F8FB"/>
          </a:solidFill>
          <a:ln xmlns:a="http://schemas.openxmlformats.org/drawingml/2006/main" w="14288">
            <a:solidFill>
              <a:srgbClr val="9FC4DE"/>
            </a:solidFill>
            <a:prstDash val="solid"/>
          </a:ln>
        </p:spPr>
      </p:sp>
      <p:sp>
        <p:nvSpPr>
          <p:cNvPr id="27" name="need-auto-title">
            <a:extLst xmlns:a="http://schemas.openxmlformats.org/drawingml/2006/main">
              <a:ext uri="{FF2B5EF4-FFF2-40B4-BE49-F238E27FC236}">
                <a16:creationId xmlns:a16="http://schemas.microsoft.com/office/drawing/2014/main" id="{CF4BDE6D-0278-4299-9B28-E3B53FEFF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486150"/>
            <a:ext cx="2971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650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確認・報告の自動化</a:t>
            </a:r>
          </a:p>
        </p:txBody>
      </p:sp>
      <p:sp>
        <p:nvSpPr>
          <p:cNvPr id="28" name="need-auto-body">
            <a:extLst xmlns:a="http://schemas.openxmlformats.org/drawingml/2006/main">
              <a:ext uri="{FF2B5EF4-FFF2-40B4-BE49-F238E27FC236}">
                <a16:creationId xmlns:a16="http://schemas.microsoft.com/office/drawing/2014/main" id="{EB260BFD-CBAF-4962-ABCA-E55DFF400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848100"/>
            <a:ext cx="2971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526579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200">
                <a:solidFill>
                  <a:srgbClr val="526579"/>
                </a:solidFill>
                <a:latin typeface="Hiragino Kaku Gothic ProN"/>
                <a:ea typeface="Hiragino Kaku Gothic ProN"/>
                <a:cs typeface="Hiragino Kaku Gothic ProN"/>
              </a:rPr>
              <a:t>Graph・Excel・画像Mask</a:t>
            </a:r>
          </a:p>
          <a:p xmlns:a="http://schemas.openxmlformats.org/drawingml/2006/main">
            <a:pPr algn="ctr">
              <a:defRPr sz="1200">
                <a:solidFill>
                  <a:srgbClr val="526579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200">
                <a:solidFill>
                  <a:srgbClr val="526579"/>
                </a:solidFill>
                <a:latin typeface="Hiragino Kaku Gothic ProN"/>
                <a:ea typeface="Hiragino Kaku Gothic ProN"/>
                <a:cs typeface="Hiragino Kaku Gothic ProN"/>
              </a:rPr>
              <a:t>精度を保ち、定型作業を削減</a:t>
            </a:r>
          </a:p>
        </p:txBody>
      </p:sp>
    </p:spTree>
    <p:extLst>
      <p:ext uri="{BB962C8B-B14F-4D97-AF65-F5344CB8AC3E}">
        <p14:creationId xmlns:p14="http://schemas.microsoft.com/office/powerpoint/2010/main" val="152433663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top-accent">
            <a:extLst xmlns:a="http://schemas.openxmlformats.org/drawingml/2006/main">
              <a:ext uri="{FF2B5EF4-FFF2-40B4-BE49-F238E27FC236}">
                <a16:creationId xmlns:a16="http://schemas.microsoft.com/office/drawing/2014/main" id="{0BC29236-82AF-4C3B-A88B-514656051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F5F"/>
          </a:solidFill>
          <a:ln xmlns:a="http://schemas.openxmlformats.org/drawingml/2006/main" w="0">
            <a:solidFill>
              <a:srgbClr val="173F5F"/>
            </a:solidFill>
            <a:prstDash val="solid"/>
          </a:ln>
        </p:spPr>
      </p:sp>
      <p:sp>
        <p:nvSpPr>
          <p:cNvPr id="2" name="deck-name">
            <a:extLst xmlns:a="http://schemas.openxmlformats.org/drawingml/2006/main">
              <a:ext uri="{FF2B5EF4-FFF2-40B4-BE49-F238E27FC236}">
                <a16:creationId xmlns:a16="http://schemas.microsoft.com/office/drawing/2014/main" id="{AFF29F6C-D71E-43C3-8DB9-15C76B314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670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U001–U003 詳細説明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B4BC7CF-00D8-409C-811A-F7F9FC7CA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"/>
            <a:ext cx="11010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17324D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850" b="1">
                <a:solidFill>
                  <a:srgbClr val="17324D"/>
                </a:solidFill>
                <a:latin typeface="Hiragino Kaku Gothic ProN"/>
                <a:ea typeface="Hiragino Kaku Gothic ProN"/>
                <a:cs typeface="Hiragino Kaku Gothic ProN"/>
              </a:rPr>
              <a:t>U002が分析の中心、U001とU003が前後を保証する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F1630827-9340-49C9-B1B7-7BD211981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90550" y="1381125"/>
            <a:ext cx="110109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7C8D6"/>
            </a:solidFill>
            <a:prstDash val="solid"/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1F44DF7E-2A1A-42A4-9A88-FB5FA19BC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34150"/>
            <a:ext cx="781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97222"/>
          </a:bodyPr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900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rPr>
              <a:t>ZHAO ZHILI  |  U-Series Detailed Review  |  2026-09-01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D0E4D3F-608D-4B49-8739-F70BD3AFB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524625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97222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900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rPr>
              <a:t>4</a:t>
            </a:r>
          </a:p>
        </p:txBody>
      </p:sp>
      <p:sp>
        <p:nvSpPr>
          <p:cNvPr id="7" name="flow-arrow-1">
            <a:extLst xmlns:a="http://schemas.openxmlformats.org/drawingml/2006/main">
              <a:ext uri="{FF2B5EF4-FFF2-40B4-BE49-F238E27FC236}">
                <a16:creationId xmlns:a16="http://schemas.microsoft.com/office/drawing/2014/main" id="{34D06CFF-8CAB-42AA-90FE-7DEF281C0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4070350" y="3190875"/>
            <a:ext cx="3238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B7C8D6"/>
            </a:solidFill>
            <a:prstDash val="solid"/>
          </a:ln>
        </p:spPr>
      </p:sp>
      <p:sp>
        <p:nvSpPr>
          <p:cNvPr id="8" name="flow-arrow-2">
            <a:extLst xmlns:a="http://schemas.openxmlformats.org/drawingml/2006/main">
              <a:ext uri="{FF2B5EF4-FFF2-40B4-BE49-F238E27FC236}">
                <a16:creationId xmlns:a16="http://schemas.microsoft.com/office/drawing/2014/main" id="{ECAC6DAA-7F2F-4C71-8458-54855235B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7797800" y="3190875"/>
            <a:ext cx="3238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B7C8D6"/>
            </a:solidFill>
            <a:prstDash val="solid"/>
          </a:ln>
        </p:spPr>
      </p:sp>
      <p:sp>
        <p:nvSpPr>
          <p:cNvPr id="9" name="flow-box-1">
            <a:extLst xmlns:a="http://schemas.openxmlformats.org/drawingml/2006/main">
              <a:ext uri="{FF2B5EF4-FFF2-40B4-BE49-F238E27FC236}">
                <a16:creationId xmlns:a16="http://schemas.microsoft.com/office/drawing/2014/main" id="{CBA1CEF3-DA0F-45B3-A858-1F43C2021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33625"/>
            <a:ext cx="3479800" cy="17145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E7F0F6"/>
          </a:solidFill>
          <a:ln xmlns:a="http://schemas.openxmlformats.org/drawingml/2006/main" w="14288">
            <a:solidFill>
              <a:srgbClr val="B7C8D6"/>
            </a:solidFill>
            <a:prstDash val="solid"/>
          </a:ln>
        </p:spPr>
      </p:sp>
      <p:sp>
        <p:nvSpPr>
          <p:cNvPr id="10" name="flow-badge-1">
            <a:extLst xmlns:a="http://schemas.openxmlformats.org/drawingml/2006/main">
              <a:ext uri="{FF2B5EF4-FFF2-40B4-BE49-F238E27FC236}">
                <a16:creationId xmlns:a16="http://schemas.microsoft.com/office/drawing/2014/main" id="{7E2AF246-7C4A-4AEE-9D79-5A38E13DF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9950" y="20097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F5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rPr>
              <a:t>1</a:t>
            </a:r>
          </a:p>
        </p:txBody>
      </p:sp>
      <p:sp>
        <p:nvSpPr>
          <p:cNvPr id="11" name="flow-title-1">
            <a:extLst xmlns:a="http://schemas.openxmlformats.org/drawingml/2006/main">
              <a:ext uri="{FF2B5EF4-FFF2-40B4-BE49-F238E27FC236}">
                <a16:creationId xmlns:a16="http://schemas.microsoft.com/office/drawing/2014/main" id="{A660ED1C-266E-4230-AA4B-8C9C38F4B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0325"/>
            <a:ext cx="3213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650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U001：信頼できる入力</a:t>
            </a:r>
          </a:p>
        </p:txBody>
      </p:sp>
      <p:sp>
        <p:nvSpPr>
          <p:cNvPr id="12" name="flow-body-1">
            <a:extLst xmlns:a="http://schemas.openxmlformats.org/drawingml/2006/main">
              <a:ext uri="{FF2B5EF4-FFF2-40B4-BE49-F238E27FC236}">
                <a16:creationId xmlns:a16="http://schemas.microsoft.com/office/drawing/2014/main" id="{50C3D12F-EEB6-4220-A195-22A0F7CAD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81350"/>
            <a:ext cx="3213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元Dataを解読し</a:t>
            </a:r>
          </a:p>
          <a:p xmlns:a="http://schemas.openxmlformats.org/drawingml/2006/main">
            <a:pPr algn="ctr">
              <a:buNone/>
              <a:defRPr sz="135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Frame単位へ整理</a:t>
            </a:r>
          </a:p>
        </p:txBody>
      </p:sp>
      <p:sp>
        <p:nvSpPr>
          <p:cNvPr id="13" name="flow-box-2">
            <a:extLst xmlns:a="http://schemas.openxmlformats.org/drawingml/2006/main">
              <a:ext uri="{FF2B5EF4-FFF2-40B4-BE49-F238E27FC236}">
                <a16:creationId xmlns:a16="http://schemas.microsoft.com/office/drawing/2014/main" id="{221E531E-4684-44FE-96E2-AB6347BEA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6100" y="2333625"/>
            <a:ext cx="3479800" cy="17145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E8F1F8"/>
          </a:solidFill>
          <a:ln xmlns:a="http://schemas.openxmlformats.org/drawingml/2006/main" w="14288">
            <a:solidFill>
              <a:srgbClr val="B7C8D6"/>
            </a:solidFill>
            <a:prstDash val="solid"/>
          </a:ln>
        </p:spPr>
      </p:sp>
      <p:sp>
        <p:nvSpPr>
          <p:cNvPr id="14" name="flow-badge-2">
            <a:extLst xmlns:a="http://schemas.openxmlformats.org/drawingml/2006/main">
              <a:ext uri="{FF2B5EF4-FFF2-40B4-BE49-F238E27FC236}">
                <a16:creationId xmlns:a16="http://schemas.microsoft.com/office/drawing/2014/main" id="{43EECA2A-6B83-44CD-97B6-3994ED19A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0097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F5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rPr>
              <a:t>2</a:t>
            </a:r>
          </a:p>
        </p:txBody>
      </p:sp>
      <p:sp>
        <p:nvSpPr>
          <p:cNvPr id="15" name="flow-title-2">
            <a:extLst xmlns:a="http://schemas.openxmlformats.org/drawingml/2006/main">
              <a:ext uri="{FF2B5EF4-FFF2-40B4-BE49-F238E27FC236}">
                <a16:creationId xmlns:a16="http://schemas.microsoft.com/office/drawing/2014/main" id="{C42A1A31-020D-4BA9-8643-667F53687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450" y="2600325"/>
            <a:ext cx="3213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650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U002：分析の中心</a:t>
            </a:r>
          </a:p>
        </p:txBody>
      </p:sp>
      <p:sp>
        <p:nvSpPr>
          <p:cNvPr id="16" name="flow-body-2">
            <a:extLst xmlns:a="http://schemas.openxmlformats.org/drawingml/2006/main">
              <a:ext uri="{FF2B5EF4-FFF2-40B4-BE49-F238E27FC236}">
                <a16:creationId xmlns:a16="http://schemas.microsoft.com/office/drawing/2014/main" id="{C4E765A2-C89A-46CF-A1C0-631A6DE4D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450" y="3181350"/>
            <a:ext cx="3213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Moduleを配置し</a:t>
            </a:r>
          </a:p>
          <a:p xmlns:a="http://schemas.openxmlformats.org/drawingml/2006/main">
            <a:pPr algn="ctr">
              <a:buNone/>
              <a:defRPr sz="135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候補と理由を生成</a:t>
            </a:r>
          </a:p>
        </p:txBody>
      </p:sp>
      <p:sp>
        <p:nvSpPr>
          <p:cNvPr id="17" name="flow-box-3">
            <a:extLst xmlns:a="http://schemas.openxmlformats.org/drawingml/2006/main">
              <a:ext uri="{FF2B5EF4-FFF2-40B4-BE49-F238E27FC236}">
                <a16:creationId xmlns:a16="http://schemas.microsoft.com/office/drawing/2014/main" id="{70093573-6196-4C7B-A604-38291B36D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3550" y="2333625"/>
            <a:ext cx="3479800" cy="17145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E5F2EE"/>
          </a:solidFill>
          <a:ln xmlns:a="http://schemas.openxmlformats.org/drawingml/2006/main" w="14288">
            <a:solidFill>
              <a:srgbClr val="B7C8D6"/>
            </a:solidFill>
            <a:prstDash val="solid"/>
          </a:ln>
        </p:spPr>
      </p:sp>
      <p:sp>
        <p:nvSpPr>
          <p:cNvPr id="18" name="flow-badge-3">
            <a:extLst xmlns:a="http://schemas.openxmlformats.org/drawingml/2006/main">
              <a:ext uri="{FF2B5EF4-FFF2-40B4-BE49-F238E27FC236}">
                <a16:creationId xmlns:a16="http://schemas.microsoft.com/office/drawing/2014/main" id="{BB7435CF-AFE2-4FB6-B970-3DACECEC2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4850" y="20097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D6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rPr>
              <a:t>3</a:t>
            </a:r>
          </a:p>
        </p:txBody>
      </p:sp>
      <p:sp>
        <p:nvSpPr>
          <p:cNvPr id="19" name="flow-title-3">
            <a:extLst xmlns:a="http://schemas.openxmlformats.org/drawingml/2006/main">
              <a:ext uri="{FF2B5EF4-FFF2-40B4-BE49-F238E27FC236}">
                <a16:creationId xmlns:a16="http://schemas.microsoft.com/office/drawing/2014/main" id="{30E22A2C-8AD7-44A0-BFEB-3C5FAFA61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6900" y="2600325"/>
            <a:ext cx="3213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650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U003：証拠と判断</a:t>
            </a:r>
          </a:p>
        </p:txBody>
      </p:sp>
      <p:sp>
        <p:nvSpPr>
          <p:cNvPr id="20" name="flow-body-3">
            <a:extLst xmlns:a="http://schemas.openxmlformats.org/drawingml/2006/main">
              <a:ext uri="{FF2B5EF4-FFF2-40B4-BE49-F238E27FC236}">
                <a16:creationId xmlns:a16="http://schemas.microsoft.com/office/drawing/2014/main" id="{585BD930-BA69-4D49-9AA8-EF17C7713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6900" y="3181350"/>
            <a:ext cx="3213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映像・CANを同期し</a:t>
            </a:r>
          </a:p>
          <a:p xmlns:a="http://schemas.openxmlformats.org/drawingml/2006/main">
            <a:pPr algn="ctr">
              <a:buNone/>
              <a:defRPr sz="135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工程判断を記録</a:t>
            </a:r>
          </a:p>
        </p:txBody>
      </p:sp>
      <p:sp>
        <p:nvSpPr>
          <p:cNvPr id="21" name="flow-kicker">
            <a:extLst xmlns:a="http://schemas.openxmlformats.org/drawingml/2006/main">
              <a:ext uri="{FF2B5EF4-FFF2-40B4-BE49-F238E27FC236}">
                <a16:creationId xmlns:a16="http://schemas.microsoft.com/office/drawing/2014/main" id="{54010D7A-D943-4ED3-9788-B305C3114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1450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650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rPr>
              <a:t>入力保証　→　分析　→　人による確認</a:t>
            </a:r>
          </a:p>
        </p:txBody>
      </p:sp>
      <p:sp>
        <p:nvSpPr>
          <p:cNvPr id="22" name="flow-conclusion">
            <a:extLst xmlns:a="http://schemas.openxmlformats.org/drawingml/2006/main">
              <a:ext uri="{FF2B5EF4-FFF2-40B4-BE49-F238E27FC236}">
                <a16:creationId xmlns:a16="http://schemas.microsoft.com/office/drawing/2014/main" id="{36FBEF3C-20A7-4D99-97E8-8C4897937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953000"/>
            <a:ext cx="10096500" cy="7239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E7F0F6"/>
          </a:solidFill>
          <a:ln xmlns:a="http://schemas.openxmlformats.org/drawingml/2006/main" w="14288">
            <a:solidFill>
              <a:srgbClr val="173F5F"/>
            </a:solidFill>
            <a:prstDash val="solid"/>
          </a:ln>
        </p:spPr>
      </p:sp>
      <p:sp>
        <p:nvSpPr>
          <p:cNvPr id="23" name="flow-conclusion-text">
            <a:extLst xmlns:a="http://schemas.openxmlformats.org/drawingml/2006/main">
              <a:ext uri="{FF2B5EF4-FFF2-40B4-BE49-F238E27FC236}">
                <a16:creationId xmlns:a16="http://schemas.microsoft.com/office/drawing/2014/main" id="{45D54776-8780-4AA0-BFF1-5046A85FD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114925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7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U002が主役、U001とU003は分析を信頼できる工程へする</a:t>
            </a:r>
          </a:p>
        </p:txBody>
      </p:sp>
    </p:spTree>
    <p:extLst>
      <p:ext uri="{BB962C8B-B14F-4D97-AF65-F5344CB8AC3E}">
        <p14:creationId xmlns:p14="http://schemas.microsoft.com/office/powerpoint/2010/main" val="39231311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top-accent">
            <a:extLst xmlns:a="http://schemas.openxmlformats.org/drawingml/2006/main">
              <a:ext uri="{FF2B5EF4-FFF2-40B4-BE49-F238E27FC236}">
                <a16:creationId xmlns:a16="http://schemas.microsoft.com/office/drawing/2014/main" id="{5BBC0B47-11AC-4446-8EE6-944F566F1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F5F"/>
          </a:solidFill>
          <a:ln xmlns:a="http://schemas.openxmlformats.org/drawingml/2006/main" w="0">
            <a:solidFill>
              <a:srgbClr val="173F5F"/>
            </a:solidFill>
            <a:prstDash val="solid"/>
          </a:ln>
        </p:spPr>
      </p:sp>
      <p:sp>
        <p:nvSpPr>
          <p:cNvPr id="2" name="deck-name">
            <a:extLst xmlns:a="http://schemas.openxmlformats.org/drawingml/2006/main">
              <a:ext uri="{FF2B5EF4-FFF2-40B4-BE49-F238E27FC236}">
                <a16:creationId xmlns:a16="http://schemas.microsoft.com/office/drawing/2014/main" id="{7DBAAAE9-9372-43CE-935E-2A306FF96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670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U001–U003 詳細説明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C367580-D172-4805-84D6-0C757C368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"/>
            <a:ext cx="11010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17324D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550" b="1">
                <a:solidFill>
                  <a:srgbClr val="17324D"/>
                </a:solidFill>
                <a:latin typeface="Hiragino Kaku Gothic ProN"/>
                <a:ea typeface="Hiragino Kaku Gothic ProN"/>
                <a:cs typeface="Hiragino Kaku Gothic ProN"/>
              </a:rPr>
              <a:t>利用者から見ると、一つの連続した作業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082A3C2A-1BDC-42C1-9563-2CEB00758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90550" y="1381125"/>
            <a:ext cx="110109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7C8D6"/>
            </a:solidFill>
            <a:prstDash val="solid"/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C1499501-156A-4D66-BBBD-9B1890C2F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34150"/>
            <a:ext cx="781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97222"/>
          </a:bodyPr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900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rPr>
              <a:t>ZHAO ZHILI  |  U-Series Detailed Review  |  2026-09-01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2B1AB4E3-4FA8-40C1-B8EA-29361E04B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524625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97222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900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rPr>
              <a:t>5</a:t>
            </a:r>
          </a:p>
        </p:txBody>
      </p:sp>
      <p:sp>
        <p:nvSpPr>
          <p:cNvPr id="7" name="ui-panel-0-frame">
            <a:extLst xmlns:a="http://schemas.openxmlformats.org/drawingml/2006/main">
              <a:ext uri="{FF2B5EF4-FFF2-40B4-BE49-F238E27FC236}">
                <a16:creationId xmlns:a16="http://schemas.microsoft.com/office/drawing/2014/main" id="{BE6F5AE7-C448-4780-884C-934FF977F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76400"/>
            <a:ext cx="3467100" cy="2400300"/>
          </a:xfrm>
          <a:prstGeom xmlns:a="http://schemas.openxmlformats.org/drawingml/2006/main" prst="roundRect">
            <a:avLst>
              <a:gd name="adj" fmla="val 15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73F5F"/>
            </a:solidFill>
            <a:prstDash val="solid"/>
          </a:ln>
        </p:spPr>
      </p:sp>
      <p:sp>
        <p:nvSpPr>
          <p:cNvPr id="8" name="ui-panel-0-bar">
            <a:extLst xmlns:a="http://schemas.openxmlformats.org/drawingml/2006/main">
              <a:ext uri="{FF2B5EF4-FFF2-40B4-BE49-F238E27FC236}">
                <a16:creationId xmlns:a16="http://schemas.microsoft.com/office/drawing/2014/main" id="{E69A188C-9290-4AD1-921F-5004ECCDB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76400"/>
            <a:ext cx="3467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F5F"/>
          </a:solidFill>
          <a:ln xmlns:a="http://schemas.openxmlformats.org/drawingml/2006/main" w="0">
            <a:solidFill>
              <a:srgbClr val="173F5F"/>
            </a:solidFill>
            <a:prstDash val="solid"/>
          </a:ln>
        </p:spPr>
      </p:sp>
      <p:sp>
        <p:nvSpPr>
          <p:cNvPr id="9" name="ui-panel-0-label">
            <a:extLst xmlns:a="http://schemas.openxmlformats.org/drawingml/2006/main">
              <a:ext uri="{FF2B5EF4-FFF2-40B4-BE49-F238E27FC236}">
                <a16:creationId xmlns:a16="http://schemas.microsoft.com/office/drawing/2014/main" id="{FE2157B5-5BD8-4933-8D7E-E1A89FB0D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320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275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rPr>
              <a:t>U001：入力を作る</a:t>
            </a:r>
          </a:p>
        </p:txBody>
      </p:sp>
      <p:sp>
        <p:nvSpPr>
          <p:cNvPr id="10" name="ui-panel-0-placeholder">
            <a:extLst xmlns:a="http://schemas.openxmlformats.org/drawingml/2006/main">
              <a:ext uri="{FF2B5EF4-FFF2-40B4-BE49-F238E27FC236}">
                <a16:creationId xmlns:a16="http://schemas.microsoft.com/office/drawing/2014/main" id="{0806FAED-B61C-4E6F-B767-9878F90C8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28850"/>
            <a:ext cx="29337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Source・信号・範囲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解析用Package出力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/>
            </a:r>
          </a:p>
        </p:txBody>
      </p:sp>
      <p:sp>
        <p:nvSpPr>
          <p:cNvPr id="11" name="ui-panel-1-frame">
            <a:extLst xmlns:a="http://schemas.openxmlformats.org/drawingml/2006/main">
              <a:ext uri="{FF2B5EF4-FFF2-40B4-BE49-F238E27FC236}">
                <a16:creationId xmlns:a16="http://schemas.microsoft.com/office/drawing/2014/main" id="{35057089-D15C-460A-A859-3E6ACEECA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676400"/>
            <a:ext cx="3467100" cy="2400300"/>
          </a:xfrm>
          <a:prstGeom xmlns:a="http://schemas.openxmlformats.org/drawingml/2006/main" prst="roundRect">
            <a:avLst>
              <a:gd name="adj" fmla="val 15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73F5F"/>
            </a:solidFill>
            <a:prstDash val="solid"/>
          </a:ln>
        </p:spPr>
      </p:sp>
      <p:sp>
        <p:nvSpPr>
          <p:cNvPr id="12" name="ui-panel-1-bar">
            <a:extLst xmlns:a="http://schemas.openxmlformats.org/drawingml/2006/main">
              <a:ext uri="{FF2B5EF4-FFF2-40B4-BE49-F238E27FC236}">
                <a16:creationId xmlns:a16="http://schemas.microsoft.com/office/drawing/2014/main" id="{29B46B91-CDCF-4E96-996F-B9C63D231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676400"/>
            <a:ext cx="3467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F5F"/>
          </a:solidFill>
          <a:ln xmlns:a="http://schemas.openxmlformats.org/drawingml/2006/main" w="0">
            <a:solidFill>
              <a:srgbClr val="173F5F"/>
            </a:solidFill>
            <a:prstDash val="solid"/>
          </a:ln>
        </p:spPr>
      </p:sp>
      <p:sp>
        <p:nvSpPr>
          <p:cNvPr id="13" name="ui-panel-1-label">
            <a:extLst xmlns:a="http://schemas.openxmlformats.org/drawingml/2006/main">
              <a:ext uri="{FF2B5EF4-FFF2-40B4-BE49-F238E27FC236}">
                <a16:creationId xmlns:a16="http://schemas.microsoft.com/office/drawing/2014/main" id="{B109E950-6414-4591-A01F-64A58E1CB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714500"/>
            <a:ext cx="320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275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rPr>
              <a:t>U002：分析を組む</a:t>
            </a:r>
          </a:p>
        </p:txBody>
      </p:sp>
      <p:sp>
        <p:nvSpPr>
          <p:cNvPr id="14" name="ui-panel-1-placeholder">
            <a:extLst xmlns:a="http://schemas.openxmlformats.org/drawingml/2006/main">
              <a:ext uri="{FF2B5EF4-FFF2-40B4-BE49-F238E27FC236}">
                <a16:creationId xmlns:a16="http://schemas.microsoft.com/office/drawing/2014/main" id="{55A8D37C-582C-4BAC-A4DE-DB755F85F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228850"/>
            <a:ext cx="29337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Module・順序・条件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候補Package出力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/>
            </a:r>
          </a:p>
        </p:txBody>
      </p:sp>
      <p:sp>
        <p:nvSpPr>
          <p:cNvPr id="15" name="ui-panel-2-frame">
            <a:extLst xmlns:a="http://schemas.openxmlformats.org/drawingml/2006/main">
              <a:ext uri="{FF2B5EF4-FFF2-40B4-BE49-F238E27FC236}">
                <a16:creationId xmlns:a16="http://schemas.microsoft.com/office/drawing/2014/main" id="{2B97FDF2-94ED-4EB7-BFDB-83C3FE290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676400"/>
            <a:ext cx="3467100" cy="2400300"/>
          </a:xfrm>
          <a:prstGeom xmlns:a="http://schemas.openxmlformats.org/drawingml/2006/main" prst="roundRect">
            <a:avLst>
              <a:gd name="adj" fmla="val 15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73F5F"/>
            </a:solidFill>
            <a:prstDash val="solid"/>
          </a:ln>
        </p:spPr>
      </p:sp>
      <p:sp>
        <p:nvSpPr>
          <p:cNvPr id="16" name="ui-panel-2-bar">
            <a:extLst xmlns:a="http://schemas.openxmlformats.org/drawingml/2006/main">
              <a:ext uri="{FF2B5EF4-FFF2-40B4-BE49-F238E27FC236}">
                <a16:creationId xmlns:a16="http://schemas.microsoft.com/office/drawing/2014/main" id="{C15CEFD8-6A84-4D1A-A64C-96C7687F0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676400"/>
            <a:ext cx="3467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68"/>
          </a:solidFill>
          <a:ln xmlns:a="http://schemas.openxmlformats.org/drawingml/2006/main" w="0">
            <a:solidFill>
              <a:srgbClr val="2F7D68"/>
            </a:solidFill>
            <a:prstDash val="solid"/>
          </a:ln>
        </p:spPr>
      </p:sp>
      <p:sp>
        <p:nvSpPr>
          <p:cNvPr id="17" name="ui-panel-2-label">
            <a:extLst xmlns:a="http://schemas.openxmlformats.org/drawingml/2006/main">
              <a:ext uri="{FF2B5EF4-FFF2-40B4-BE49-F238E27FC236}">
                <a16:creationId xmlns:a16="http://schemas.microsoft.com/office/drawing/2014/main" id="{801A0D7A-8D51-4456-97CD-CEC886DC7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714500"/>
            <a:ext cx="320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275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rPr>
              <a:t>U003：証拠を確認する</a:t>
            </a:r>
          </a:p>
        </p:txBody>
      </p:sp>
      <p:sp>
        <p:nvSpPr>
          <p:cNvPr id="18" name="ui-panel-2-placeholder">
            <a:extLst xmlns:a="http://schemas.openxmlformats.org/drawingml/2006/main">
              <a:ext uri="{FF2B5EF4-FFF2-40B4-BE49-F238E27FC236}">
                <a16:creationId xmlns:a16="http://schemas.microsoft.com/office/drawing/2014/main" id="{C1C47E56-C8FE-4B62-8442-786C54BED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228850"/>
            <a:ext cx="29337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Video・CAN・Graph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判断・Memo・Report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/>
            </a:r>
          </a:p>
        </p:txBody>
      </p:sp>
      <p:sp>
        <p:nvSpPr>
          <p:cNvPr id="19" name="ui-callout-0-line">
            <a:extLst xmlns:a="http://schemas.openxmlformats.org/drawingml/2006/main">
              <a:ext uri="{FF2B5EF4-FFF2-40B4-BE49-F238E27FC236}">
                <a16:creationId xmlns:a16="http://schemas.microsoft.com/office/drawing/2014/main" id="{6D4D86A8-D449-44CC-81C3-DA112865F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1247775" y="3790950"/>
            <a:ext cx="1019175" cy="533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70A9C7"/>
            </a:solidFill>
            <a:prstDash val="solid"/>
          </a:ln>
        </p:spPr>
      </p:sp>
      <p:sp>
        <p:nvSpPr>
          <p:cNvPr id="20" name="ui-callout-0-dot">
            <a:extLst xmlns:a="http://schemas.openxmlformats.org/drawingml/2006/main">
              <a:ext uri="{FF2B5EF4-FFF2-40B4-BE49-F238E27FC236}">
                <a16:creationId xmlns:a16="http://schemas.microsoft.com/office/drawing/2014/main" id="{1878C61D-F08D-46F7-BF33-EB7EB8E43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37528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F5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1" name="ui-callout-0-box">
            <a:extLst xmlns:a="http://schemas.openxmlformats.org/drawingml/2006/main">
              <a:ext uri="{FF2B5EF4-FFF2-40B4-BE49-F238E27FC236}">
                <a16:creationId xmlns:a16="http://schemas.microsoft.com/office/drawing/2014/main" id="{251D0EFF-887A-4E60-9FDA-60984A053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24350"/>
            <a:ext cx="3467100" cy="5334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7C8D6"/>
            </a:solidFill>
            <a:prstDash val="solid"/>
          </a:ln>
        </p:spPr>
      </p:sp>
      <p:sp>
        <p:nvSpPr>
          <p:cNvPr id="22" name="ui-callout-0-title">
            <a:extLst xmlns:a="http://schemas.openxmlformats.org/drawingml/2006/main">
              <a:ext uri="{FF2B5EF4-FFF2-40B4-BE49-F238E27FC236}">
                <a16:creationId xmlns:a16="http://schemas.microsoft.com/office/drawing/2014/main" id="{D7B56B13-4F32-4CCD-9266-EC1510A0F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91025"/>
            <a:ext cx="3276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050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元Fileを選択</a:t>
            </a:r>
          </a:p>
        </p:txBody>
      </p:sp>
      <p:sp>
        <p:nvSpPr>
          <p:cNvPr id="23" name="ui-callout-0-body">
            <a:extLst xmlns:a="http://schemas.openxmlformats.org/drawingml/2006/main">
              <a:ext uri="{FF2B5EF4-FFF2-40B4-BE49-F238E27FC236}">
                <a16:creationId xmlns:a16="http://schemas.microsoft.com/office/drawing/2014/main" id="{3ACA735E-7F60-4C9F-89F3-B42DC6EA8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10100"/>
            <a:ext cx="32766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788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788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rPr>
              <a:t>DBC・CAN等</a:t>
            </a:r>
          </a:p>
        </p:txBody>
      </p:sp>
      <p:sp>
        <p:nvSpPr>
          <p:cNvPr id="24" name="ui-callout-1-line">
            <a:extLst xmlns:a="http://schemas.openxmlformats.org/drawingml/2006/main">
              <a:ext uri="{FF2B5EF4-FFF2-40B4-BE49-F238E27FC236}">
                <a16:creationId xmlns:a16="http://schemas.microsoft.com/office/drawing/2014/main" id="{F9E03F83-8E78-427C-B96A-A5E800F51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2266950" y="3790950"/>
            <a:ext cx="981075" cy="1162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70A9C7"/>
            </a:solidFill>
            <a:prstDash val="solid"/>
          </a:ln>
        </p:spPr>
      </p:sp>
      <p:sp>
        <p:nvSpPr>
          <p:cNvPr id="25" name="ui-callout-1-dot">
            <a:extLst xmlns:a="http://schemas.openxmlformats.org/drawingml/2006/main">
              <a:ext uri="{FF2B5EF4-FFF2-40B4-BE49-F238E27FC236}">
                <a16:creationId xmlns:a16="http://schemas.microsoft.com/office/drawing/2014/main" id="{882983B7-46F4-467A-B11C-9BD47C3D3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37528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F5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6" name="ui-callout-1-box">
            <a:extLst xmlns:a="http://schemas.openxmlformats.org/drawingml/2006/main">
              <a:ext uri="{FF2B5EF4-FFF2-40B4-BE49-F238E27FC236}">
                <a16:creationId xmlns:a16="http://schemas.microsoft.com/office/drawing/2014/main" id="{1B840565-8E73-403E-B7A1-1CE04FF7F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0"/>
            <a:ext cx="3467100" cy="5334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7C8D6"/>
            </a:solidFill>
            <a:prstDash val="solid"/>
          </a:ln>
        </p:spPr>
      </p:sp>
      <p:sp>
        <p:nvSpPr>
          <p:cNvPr id="27" name="ui-callout-1-title">
            <a:extLst xmlns:a="http://schemas.openxmlformats.org/drawingml/2006/main">
              <a:ext uri="{FF2B5EF4-FFF2-40B4-BE49-F238E27FC236}">
                <a16:creationId xmlns:a16="http://schemas.microsoft.com/office/drawing/2014/main" id="{0EAA2C8E-87AF-4F25-8F4A-8ED3B01F9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019675"/>
            <a:ext cx="3276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050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出力信号を確認</a:t>
            </a:r>
          </a:p>
        </p:txBody>
      </p:sp>
      <p:sp>
        <p:nvSpPr>
          <p:cNvPr id="28" name="ui-callout-1-body">
            <a:extLst xmlns:a="http://schemas.openxmlformats.org/drawingml/2006/main">
              <a:ext uri="{FF2B5EF4-FFF2-40B4-BE49-F238E27FC236}">
                <a16:creationId xmlns:a16="http://schemas.microsoft.com/office/drawing/2014/main" id="{A0A5D210-8D88-44DD-A500-54D9796A7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38750"/>
            <a:ext cx="32766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788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788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rPr>
              <a:t>Catalog Preview</a:t>
            </a:r>
          </a:p>
        </p:txBody>
      </p:sp>
      <p:sp>
        <p:nvSpPr>
          <p:cNvPr id="29" name="ui-callout-2-line">
            <a:extLst xmlns:a="http://schemas.openxmlformats.org/drawingml/2006/main">
              <a:ext uri="{FF2B5EF4-FFF2-40B4-BE49-F238E27FC236}">
                <a16:creationId xmlns:a16="http://schemas.microsoft.com/office/drawing/2014/main" id="{5A85D4F2-4303-408C-824C-F46EDE2CE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5076825" y="3790950"/>
            <a:ext cx="1019175" cy="533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70A9C7"/>
            </a:solidFill>
            <a:prstDash val="solid"/>
          </a:ln>
        </p:spPr>
      </p:sp>
      <p:sp>
        <p:nvSpPr>
          <p:cNvPr id="30" name="ui-callout-2-dot">
            <a:extLst xmlns:a="http://schemas.openxmlformats.org/drawingml/2006/main">
              <a:ext uri="{FF2B5EF4-FFF2-40B4-BE49-F238E27FC236}">
                <a16:creationId xmlns:a16="http://schemas.microsoft.com/office/drawing/2014/main" id="{B01F832A-2169-4439-8FB2-A76984164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37528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F5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1" name="ui-callout-2-box">
            <a:extLst xmlns:a="http://schemas.openxmlformats.org/drawingml/2006/main">
              <a:ext uri="{FF2B5EF4-FFF2-40B4-BE49-F238E27FC236}">
                <a16:creationId xmlns:a16="http://schemas.microsoft.com/office/drawing/2014/main" id="{1F2645E4-4EB9-434E-96D7-42C547CF2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324350"/>
            <a:ext cx="3467100" cy="5334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7C8D6"/>
            </a:solidFill>
            <a:prstDash val="solid"/>
          </a:ln>
        </p:spPr>
      </p:sp>
      <p:sp>
        <p:nvSpPr>
          <p:cNvPr id="32" name="ui-callout-2-title">
            <a:extLst xmlns:a="http://schemas.openxmlformats.org/drawingml/2006/main">
              <a:ext uri="{FF2B5EF4-FFF2-40B4-BE49-F238E27FC236}">
                <a16:creationId xmlns:a16="http://schemas.microsoft.com/office/drawing/2014/main" id="{10CFFFA4-02E8-4655-8896-E1C808FAF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391025"/>
            <a:ext cx="3276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050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分析Moduleを選択</a:t>
            </a:r>
          </a:p>
        </p:txBody>
      </p:sp>
      <p:sp>
        <p:nvSpPr>
          <p:cNvPr id="33" name="ui-callout-2-body">
            <a:extLst xmlns:a="http://schemas.openxmlformats.org/drawingml/2006/main">
              <a:ext uri="{FF2B5EF4-FFF2-40B4-BE49-F238E27FC236}">
                <a16:creationId xmlns:a16="http://schemas.microsoft.com/office/drawing/2014/main" id="{1AA1E689-0DB3-4A03-A741-F067C7B24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610100"/>
            <a:ext cx="32766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788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788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rPr>
              <a:t>Stageごとに配置</a:t>
            </a:r>
          </a:p>
        </p:txBody>
      </p:sp>
      <p:sp>
        <p:nvSpPr>
          <p:cNvPr id="34" name="ui-callout-3-line">
            <a:extLst xmlns:a="http://schemas.openxmlformats.org/drawingml/2006/main">
              <a:ext uri="{FF2B5EF4-FFF2-40B4-BE49-F238E27FC236}">
                <a16:creationId xmlns:a16="http://schemas.microsoft.com/office/drawing/2014/main" id="{839017FA-4AE9-4E08-884B-B121147AA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6096000" y="3790950"/>
            <a:ext cx="981075" cy="1162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70A9C7"/>
            </a:solidFill>
            <a:prstDash val="solid"/>
          </a:ln>
        </p:spPr>
      </p:sp>
      <p:sp>
        <p:nvSpPr>
          <p:cNvPr id="35" name="ui-callout-3-dot">
            <a:extLst xmlns:a="http://schemas.openxmlformats.org/drawingml/2006/main">
              <a:ext uri="{FF2B5EF4-FFF2-40B4-BE49-F238E27FC236}">
                <a16:creationId xmlns:a16="http://schemas.microsoft.com/office/drawing/2014/main" id="{273335DC-FBC6-4C7F-97B4-76DE5ABF9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37528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F5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6" name="ui-callout-3-box">
            <a:extLst xmlns:a="http://schemas.openxmlformats.org/drawingml/2006/main">
              <a:ext uri="{FF2B5EF4-FFF2-40B4-BE49-F238E27FC236}">
                <a16:creationId xmlns:a16="http://schemas.microsoft.com/office/drawing/2014/main" id="{0FAD6739-90A9-445A-9B28-F24B7D7C1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953000"/>
            <a:ext cx="3467100" cy="5334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7C8D6"/>
            </a:solidFill>
            <a:prstDash val="solid"/>
          </a:ln>
        </p:spPr>
      </p:sp>
      <p:sp>
        <p:nvSpPr>
          <p:cNvPr id="37" name="ui-callout-3-title">
            <a:extLst xmlns:a="http://schemas.openxmlformats.org/drawingml/2006/main">
              <a:ext uri="{FF2B5EF4-FFF2-40B4-BE49-F238E27FC236}">
                <a16:creationId xmlns:a16="http://schemas.microsoft.com/office/drawing/2014/main" id="{CCD4CB1A-C54B-4E51-83FE-5BEA58BDD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5019675"/>
            <a:ext cx="3276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050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進行状態を確認</a:t>
            </a:r>
          </a:p>
        </p:txBody>
      </p:sp>
      <p:sp>
        <p:nvSpPr>
          <p:cNvPr id="38" name="ui-callout-3-body">
            <a:extLst xmlns:a="http://schemas.openxmlformats.org/drawingml/2006/main">
              <a:ext uri="{FF2B5EF4-FFF2-40B4-BE49-F238E27FC236}">
                <a16:creationId xmlns:a16="http://schemas.microsoft.com/office/drawing/2014/main" id="{51A569F6-1C7E-4D3E-B176-4DA2013AA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5238750"/>
            <a:ext cx="32766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788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788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rPr>
              <a:t>S0–S7</a:t>
            </a:r>
          </a:p>
        </p:txBody>
      </p:sp>
      <p:sp>
        <p:nvSpPr>
          <p:cNvPr id="39" name="ui-callout-4-line">
            <a:extLst xmlns:a="http://schemas.openxmlformats.org/drawingml/2006/main">
              <a:ext uri="{FF2B5EF4-FFF2-40B4-BE49-F238E27FC236}">
                <a16:creationId xmlns:a16="http://schemas.microsoft.com/office/drawing/2014/main" id="{35FDE3F8-2A33-454E-8CCC-E5CB16347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8905875" y="3790950"/>
            <a:ext cx="1019175" cy="533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70A9C7"/>
            </a:solidFill>
            <a:prstDash val="solid"/>
          </a:ln>
        </p:spPr>
      </p:sp>
      <p:sp>
        <p:nvSpPr>
          <p:cNvPr id="40" name="ui-callout-4-dot">
            <a:extLst xmlns:a="http://schemas.openxmlformats.org/drawingml/2006/main">
              <a:ext uri="{FF2B5EF4-FFF2-40B4-BE49-F238E27FC236}">
                <a16:creationId xmlns:a16="http://schemas.microsoft.com/office/drawing/2014/main" id="{EF09A0E2-DD67-4ABF-AD43-187D86C7F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37528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F5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1" name="ui-callout-4-box">
            <a:extLst xmlns:a="http://schemas.openxmlformats.org/drawingml/2006/main">
              <a:ext uri="{FF2B5EF4-FFF2-40B4-BE49-F238E27FC236}">
                <a16:creationId xmlns:a16="http://schemas.microsoft.com/office/drawing/2014/main" id="{C5D052A3-1935-41F7-956E-6A7DA4D8B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324350"/>
            <a:ext cx="3467100" cy="5334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7C8D6"/>
            </a:solidFill>
            <a:prstDash val="solid"/>
          </a:ln>
        </p:spPr>
      </p:sp>
      <p:sp>
        <p:nvSpPr>
          <p:cNvPr id="42" name="ui-callout-4-title">
            <a:extLst xmlns:a="http://schemas.openxmlformats.org/drawingml/2006/main">
              <a:ext uri="{FF2B5EF4-FFF2-40B4-BE49-F238E27FC236}">
                <a16:creationId xmlns:a16="http://schemas.microsoft.com/office/drawing/2014/main" id="{1091212E-2860-4164-9987-E07E9EECA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391025"/>
            <a:ext cx="3276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050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候補へ直接移動</a:t>
            </a:r>
          </a:p>
        </p:txBody>
      </p:sp>
      <p:sp>
        <p:nvSpPr>
          <p:cNvPr id="43" name="ui-callout-4-body">
            <a:extLst xmlns:a="http://schemas.openxmlformats.org/drawingml/2006/main">
              <a:ext uri="{FF2B5EF4-FFF2-40B4-BE49-F238E27FC236}">
                <a16:creationId xmlns:a16="http://schemas.microsoft.com/office/drawing/2014/main" id="{76810BBE-4D34-486A-8B42-DFFCD88FB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610100"/>
            <a:ext cx="32766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788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788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rPr>
              <a:t>同じFrame</a:t>
            </a:r>
          </a:p>
        </p:txBody>
      </p:sp>
      <p:sp>
        <p:nvSpPr>
          <p:cNvPr id="44" name="ui-callout-5-line">
            <a:extLst xmlns:a="http://schemas.openxmlformats.org/drawingml/2006/main">
              <a:ext uri="{FF2B5EF4-FFF2-40B4-BE49-F238E27FC236}">
                <a16:creationId xmlns:a16="http://schemas.microsoft.com/office/drawing/2014/main" id="{122F5056-99BC-46F2-9CDE-B6B373449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9925050" y="3790950"/>
            <a:ext cx="981075" cy="1162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70A9C7"/>
            </a:solidFill>
            <a:prstDash val="solid"/>
          </a:ln>
        </p:spPr>
      </p:sp>
      <p:sp>
        <p:nvSpPr>
          <p:cNvPr id="45" name="ui-callout-5-dot">
            <a:extLst xmlns:a="http://schemas.openxmlformats.org/drawingml/2006/main">
              <a:ext uri="{FF2B5EF4-FFF2-40B4-BE49-F238E27FC236}">
                <a16:creationId xmlns:a16="http://schemas.microsoft.com/office/drawing/2014/main" id="{1AB1A5F9-C45D-4CFE-B4D7-26FAEE7CF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68025" y="37528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F5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6" name="ui-callout-5-box">
            <a:extLst xmlns:a="http://schemas.openxmlformats.org/drawingml/2006/main">
              <a:ext uri="{FF2B5EF4-FFF2-40B4-BE49-F238E27FC236}">
                <a16:creationId xmlns:a16="http://schemas.microsoft.com/office/drawing/2014/main" id="{4C9E031D-A0C9-40FB-BC0C-AD8C04E09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953000"/>
            <a:ext cx="3467100" cy="5334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7C8D6"/>
            </a:solidFill>
            <a:prstDash val="solid"/>
          </a:ln>
        </p:spPr>
      </p:sp>
      <p:sp>
        <p:nvSpPr>
          <p:cNvPr id="47" name="ui-callout-5-title">
            <a:extLst xmlns:a="http://schemas.openxmlformats.org/drawingml/2006/main">
              <a:ext uri="{FF2B5EF4-FFF2-40B4-BE49-F238E27FC236}">
                <a16:creationId xmlns:a16="http://schemas.microsoft.com/office/drawing/2014/main" id="{B54B8581-27B8-4389-8736-E08C96685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019675"/>
            <a:ext cx="3276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050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判断を保存</a:t>
            </a:r>
          </a:p>
        </p:txBody>
      </p:sp>
      <p:sp>
        <p:nvSpPr>
          <p:cNvPr id="48" name="ui-callout-5-body">
            <a:extLst xmlns:a="http://schemas.openxmlformats.org/drawingml/2006/main">
              <a:ext uri="{FF2B5EF4-FFF2-40B4-BE49-F238E27FC236}">
                <a16:creationId xmlns:a16="http://schemas.microsoft.com/office/drawing/2014/main" id="{6E90C267-EAA4-40F6-9A83-298CF9084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238750"/>
            <a:ext cx="32766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788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788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rPr>
              <a:t>Memo・Evidence</a:t>
            </a:r>
          </a:p>
        </p:txBody>
      </p:sp>
      <p:sp>
        <p:nvSpPr>
          <p:cNvPr id="49" name="ui-conclusion">
            <a:extLst xmlns:a="http://schemas.openxmlformats.org/drawingml/2006/main">
              <a:ext uri="{FF2B5EF4-FFF2-40B4-BE49-F238E27FC236}">
                <a16:creationId xmlns:a16="http://schemas.microsoft.com/office/drawing/2014/main" id="{4D19EDA8-09F5-4505-8918-1FCBC8BAB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981700"/>
            <a:ext cx="9144000" cy="4572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7F0F6"/>
          </a:solidFill>
          <a:ln xmlns:a="http://schemas.openxmlformats.org/drawingml/2006/main" w="14288">
            <a:solidFill>
              <a:srgbClr val="173F5F"/>
            </a:solidFill>
            <a:prstDash val="solid"/>
          </a:ln>
        </p:spPr>
      </p:sp>
      <p:sp>
        <p:nvSpPr>
          <p:cNvPr id="50" name="ui-conclusion-text">
            <a:extLst xmlns:a="http://schemas.openxmlformats.org/drawingml/2006/main">
              <a:ext uri="{FF2B5EF4-FFF2-40B4-BE49-F238E27FC236}">
                <a16:creationId xmlns:a16="http://schemas.microsoft.com/office/drawing/2014/main" id="{D84F561D-85ED-4F7E-8477-3A9C97D4A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6038850"/>
            <a:ext cx="866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350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Programは独立、成果物Packageで次のProgramへ渡す</a:t>
            </a:r>
          </a:p>
        </p:txBody>
      </p:sp>
    </p:spTree>
    <p:extLst>
      <p:ext uri="{BB962C8B-B14F-4D97-AF65-F5344CB8AC3E}">
        <p14:creationId xmlns:p14="http://schemas.microsoft.com/office/powerpoint/2010/main" val="103880803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op-accent">
            <a:extLst xmlns:a="http://schemas.openxmlformats.org/drawingml/2006/main">
              <a:ext uri="{FF2B5EF4-FFF2-40B4-BE49-F238E27FC236}">
                <a16:creationId xmlns:a16="http://schemas.microsoft.com/office/drawing/2014/main" id="{89B1BDF6-03BC-4C3F-9677-0A27F32DE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F5F"/>
          </a:solidFill>
          <a:ln xmlns:a="http://schemas.openxmlformats.org/drawingml/2006/main" w="0">
            <a:solidFill>
              <a:srgbClr val="173F5F"/>
            </a:solidFill>
            <a:prstDash val="solid"/>
          </a:ln>
        </p:spPr>
      </p:sp>
      <p:sp>
        <p:nvSpPr>
          <p:cNvPr id="2" name="deck-name">
            <a:extLst xmlns:a="http://schemas.openxmlformats.org/drawingml/2006/main">
              <a:ext uri="{FF2B5EF4-FFF2-40B4-BE49-F238E27FC236}">
                <a16:creationId xmlns:a16="http://schemas.microsoft.com/office/drawing/2014/main" id="{3861B3C5-9405-413A-8204-B05C31B1E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670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U001–U003 詳細説明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69A2D4E-FE20-4EF8-BC6D-8E9F1F92A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"/>
            <a:ext cx="11010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17324D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850" b="1">
                <a:solidFill>
                  <a:srgbClr val="17324D"/>
                </a:solidFill>
                <a:latin typeface="Hiragino Kaku Gothic ProN"/>
                <a:ea typeface="Hiragino Kaku Gothic ProN"/>
                <a:cs typeface="Hiragino Kaku Gothic ProN"/>
              </a:rPr>
              <a:t>接続するのはFile名ではなく、共通Data規則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4C9F4BF3-9F8E-48F4-8C57-3E3E80C2C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90550" y="1381125"/>
            <a:ext cx="110109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7C8D6"/>
            </a:solidFill>
            <a:prstDash val="solid"/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91D92D56-D695-4835-80AF-3F1133676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34150"/>
            <a:ext cx="781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97222"/>
          </a:bodyPr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900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rPr>
              <a:t>ZHAO ZHILI  |  U-Series Detailed Review  |  2026-09-01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DA4DD73-79DC-45F4-A1D0-49D5133A3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524625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97222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900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rPr>
              <a:t>6</a:t>
            </a:r>
          </a:p>
        </p:txBody>
      </p:sp>
      <p:sp>
        <p:nvSpPr>
          <p:cNvPr id="7" name="col-title-0">
            <a:extLst xmlns:a="http://schemas.openxmlformats.org/drawingml/2006/main">
              <a:ext uri="{FF2B5EF4-FFF2-40B4-BE49-F238E27FC236}">
                <a16:creationId xmlns:a16="http://schemas.microsoft.com/office/drawing/2014/main" id="{C7297E31-7236-495A-91DF-798596334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100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U001が保証する情報</a:t>
            </a:r>
          </a:p>
        </p:txBody>
      </p:sp>
      <p:sp>
        <p:nvSpPr>
          <p:cNvPr id="8" name="col-rule-0">
            <a:extLst xmlns:a="http://schemas.openxmlformats.org/drawingml/2006/main">
              <a:ext uri="{FF2B5EF4-FFF2-40B4-BE49-F238E27FC236}">
                <a16:creationId xmlns:a16="http://schemas.microsoft.com/office/drawing/2014/main" id="{B4BA3290-BDA0-48F5-B80F-8FE83B487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952500" y="2209800"/>
            <a:ext cx="4191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73F5F"/>
            </a:solidFill>
            <a:prstDash val="solid"/>
          </a:ln>
        </p:spPr>
      </p:sp>
      <p:sp>
        <p:nvSpPr>
          <p:cNvPr id="9" name="col-box-0">
            <a:extLst xmlns:a="http://schemas.openxmlformats.org/drawingml/2006/main">
              <a:ext uri="{FF2B5EF4-FFF2-40B4-BE49-F238E27FC236}">
                <a16:creationId xmlns:a16="http://schemas.microsoft.com/office/drawing/2014/main" id="{184224BD-89D4-4F16-A58F-429BFC723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4762500" cy="3143250"/>
          </a:xfrm>
          <a:prstGeom xmlns:a="http://schemas.openxmlformats.org/drawingml/2006/main" prst="roundRect">
            <a:avLst>
              <a:gd name="adj" fmla="val 12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7C8D6"/>
            </a:solidFill>
            <a:prstDash val="solid"/>
          </a:ln>
        </p:spPr>
      </p:sp>
      <p:sp>
        <p:nvSpPr>
          <p:cNvPr id="10" name="col-body-0">
            <a:extLst xmlns:a="http://schemas.openxmlformats.org/drawingml/2006/main">
              <a:ext uri="{FF2B5EF4-FFF2-40B4-BE49-F238E27FC236}">
                <a16:creationId xmlns:a16="http://schemas.microsoft.com/office/drawing/2014/main" id="{62BC1BB1-E2D3-4EF5-AD7A-521080877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28900"/>
            <a:ext cx="41148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marL="20" indent="-10">
              <a:spcAft>
                <a:spcPts val="7"/>
              </a:spcAft>
              <a:buChar char="•"/>
              <a:defRPr sz="135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FrameCountと元時刻</a:t>
            </a:r>
          </a:p>
          <a:p xmlns:a="http://schemas.openxmlformats.org/drawingml/2006/main">
            <a:pPr marL="20" indent="-10">
              <a:spcAft>
                <a:spcPts val="7"/>
              </a:spcAft>
              <a:buChar char="•"/>
              <a:defRPr sz="135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信号名・単位・値</a:t>
            </a:r>
          </a:p>
          <a:p xmlns:a="http://schemas.openxmlformats.org/drawingml/2006/main">
            <a:pPr marL="20" indent="-10">
              <a:spcAft>
                <a:spcPts val="7"/>
              </a:spcAft>
              <a:buChar char="•"/>
              <a:defRPr sz="135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更新有無・保持時間</a:t>
            </a:r>
          </a:p>
          <a:p xmlns:a="http://schemas.openxmlformats.org/drawingml/2006/main">
            <a:pPr marL="20" indent="-10">
              <a:spcAft>
                <a:spcPts val="7"/>
              </a:spcAft>
              <a:buChar char="•"/>
              <a:defRPr sz="135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無効理由・入力元</a:t>
            </a:r>
          </a:p>
          <a:p xmlns:a="http://schemas.openxmlformats.org/drawingml/2006/main">
            <a:pPr marL="20" indent="-10">
              <a:spcAft>
                <a:spcPts val="7"/>
              </a:spcAft>
              <a:buChar char="•"/>
              <a:defRPr sz="135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信号一覧・品質結果</a:t>
            </a:r>
          </a:p>
        </p:txBody>
      </p:sp>
      <p:sp>
        <p:nvSpPr>
          <p:cNvPr id="11" name="col-title-1">
            <a:extLst xmlns:a="http://schemas.openxmlformats.org/drawingml/2006/main">
              <a:ext uri="{FF2B5EF4-FFF2-40B4-BE49-F238E27FC236}">
                <a16:creationId xmlns:a16="http://schemas.microsoft.com/office/drawing/2014/main" id="{E3EFE1CE-03DC-4B8B-BBC1-F6B1ECDC4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5735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100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U002・U003へ渡す情報</a:t>
            </a:r>
          </a:p>
        </p:txBody>
      </p:sp>
      <p:sp>
        <p:nvSpPr>
          <p:cNvPr id="12" name="col-rule-1">
            <a:extLst xmlns:a="http://schemas.openxmlformats.org/drawingml/2006/main">
              <a:ext uri="{FF2B5EF4-FFF2-40B4-BE49-F238E27FC236}">
                <a16:creationId xmlns:a16="http://schemas.microsoft.com/office/drawing/2014/main" id="{7FBA8354-BC2F-48AE-BE75-990903335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6477000" y="2209800"/>
            <a:ext cx="4191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73F5F"/>
            </a:solidFill>
            <a:prstDash val="solid"/>
          </a:ln>
        </p:spPr>
      </p:sp>
      <p:sp>
        <p:nvSpPr>
          <p:cNvPr id="13" name="col-box-1">
            <a:extLst xmlns:a="http://schemas.openxmlformats.org/drawingml/2006/main">
              <a:ext uri="{FF2B5EF4-FFF2-40B4-BE49-F238E27FC236}">
                <a16:creationId xmlns:a16="http://schemas.microsoft.com/office/drawing/2014/main" id="{8CFD4C8D-1B84-43C6-96C7-081D51A42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81250"/>
            <a:ext cx="4762500" cy="3143250"/>
          </a:xfrm>
          <a:prstGeom xmlns:a="http://schemas.openxmlformats.org/drawingml/2006/main" prst="roundRect">
            <a:avLst>
              <a:gd name="adj" fmla="val 12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7C8D6"/>
            </a:solidFill>
            <a:prstDash val="solid"/>
          </a:ln>
        </p:spPr>
      </p:sp>
      <p:sp>
        <p:nvSpPr>
          <p:cNvPr id="14" name="col-body-1">
            <a:extLst xmlns:a="http://schemas.openxmlformats.org/drawingml/2006/main">
              <a:ext uri="{FF2B5EF4-FFF2-40B4-BE49-F238E27FC236}">
                <a16:creationId xmlns:a16="http://schemas.microsoft.com/office/drawing/2014/main" id="{9A970003-CC05-42C2-B419-53E33487F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628900"/>
            <a:ext cx="41148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marL="20" indent="-10">
              <a:spcAft>
                <a:spcPts val="7"/>
              </a:spcAft>
              <a:buChar char="•"/>
              <a:defRPr sz="135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候補IDと確認範囲</a:t>
            </a:r>
          </a:p>
          <a:p xmlns:a="http://schemas.openxmlformats.org/drawingml/2006/main">
            <a:pPr marL="20" indent="-10">
              <a:spcAft>
                <a:spcPts val="7"/>
              </a:spcAft>
              <a:buChar char="•"/>
              <a:defRPr sz="135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代表Frame</a:t>
            </a:r>
          </a:p>
          <a:p xmlns:a="http://schemas.openxmlformats.org/drawingml/2006/main">
            <a:pPr marL="20" indent="-10">
              <a:spcAft>
                <a:spcPts val="7"/>
              </a:spcAft>
              <a:buChar char="•"/>
              <a:defRPr sz="135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候補にした理由</a:t>
            </a:r>
          </a:p>
          <a:p xmlns:a="http://schemas.openxmlformats.org/drawingml/2006/main">
            <a:pPr marL="20" indent="-10">
              <a:spcAft>
                <a:spcPts val="7"/>
              </a:spcAft>
              <a:buChar char="•"/>
              <a:defRPr sz="135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使用Moduleと設定</a:t>
            </a:r>
          </a:p>
          <a:p xmlns:a="http://schemas.openxmlformats.org/drawingml/2006/main">
            <a:pPr marL="20" indent="-10">
              <a:spcAft>
                <a:spcPts val="7"/>
              </a:spcAft>
              <a:buChar char="•"/>
              <a:defRPr sz="135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Review Memoと証拠位置</a:t>
            </a:r>
          </a:p>
        </p:txBody>
      </p:sp>
      <p:sp>
        <p:nvSpPr>
          <p:cNvPr id="15" name="two-col-conclusion">
            <a:extLst xmlns:a="http://schemas.openxmlformats.org/drawingml/2006/main">
              <a:ext uri="{FF2B5EF4-FFF2-40B4-BE49-F238E27FC236}">
                <a16:creationId xmlns:a16="http://schemas.microsoft.com/office/drawing/2014/main" id="{DA6BFA64-F67F-4A79-8E4B-B80C28D41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810250"/>
            <a:ext cx="8953500" cy="4762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7F0F6"/>
          </a:solidFill>
          <a:ln xmlns:a="http://schemas.openxmlformats.org/drawingml/2006/main" w="14288">
            <a:solidFill>
              <a:srgbClr val="173F5F"/>
            </a:solidFill>
            <a:prstDash val="solid"/>
          </a:ln>
        </p:spPr>
      </p:sp>
      <p:sp>
        <p:nvSpPr>
          <p:cNvPr id="16" name="two-col-conclusion-text">
            <a:extLst xmlns:a="http://schemas.openxmlformats.org/drawingml/2006/main">
              <a:ext uri="{FF2B5EF4-FFF2-40B4-BE49-F238E27FC236}">
                <a16:creationId xmlns:a16="http://schemas.microsoft.com/office/drawing/2014/main" id="{1434F208-0620-482A-9807-7DDB7629B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5867400"/>
            <a:ext cx="847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57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共通規則を固定し、内部の分析方法は交換できる</a:t>
            </a:r>
          </a:p>
        </p:txBody>
      </p:sp>
    </p:spTree>
    <p:extLst>
      <p:ext uri="{BB962C8B-B14F-4D97-AF65-F5344CB8AC3E}">
        <p14:creationId xmlns:p14="http://schemas.microsoft.com/office/powerpoint/2010/main" val="152135804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top-accent">
            <a:extLst xmlns:a="http://schemas.openxmlformats.org/drawingml/2006/main">
              <a:ext uri="{FF2B5EF4-FFF2-40B4-BE49-F238E27FC236}">
                <a16:creationId xmlns:a16="http://schemas.microsoft.com/office/drawing/2014/main" id="{0BC29236-82AF-4C3B-A88B-514656051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F5F"/>
          </a:solidFill>
          <a:ln xmlns:a="http://schemas.openxmlformats.org/drawingml/2006/main" w="0">
            <a:solidFill>
              <a:srgbClr val="173F5F"/>
            </a:solidFill>
            <a:prstDash val="solid"/>
          </a:ln>
        </p:spPr>
      </p:sp>
      <p:sp>
        <p:nvSpPr>
          <p:cNvPr id="2" name="deck-name">
            <a:extLst xmlns:a="http://schemas.openxmlformats.org/drawingml/2006/main">
              <a:ext uri="{FF2B5EF4-FFF2-40B4-BE49-F238E27FC236}">
                <a16:creationId xmlns:a16="http://schemas.microsoft.com/office/drawing/2014/main" id="{AFF29F6C-D71E-43C3-8DB9-15C76B314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670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U001–U003 詳細説明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B4BC7CF-00D8-409C-811A-F7F9FC7CA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"/>
            <a:ext cx="11010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17324D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850" b="1">
                <a:solidFill>
                  <a:srgbClr val="17324D"/>
                </a:solidFill>
                <a:latin typeface="Hiragino Kaku Gothic ProN"/>
                <a:ea typeface="Hiragino Kaku Gothic ProN"/>
                <a:cs typeface="Hiragino Kaku Gothic ProN"/>
              </a:rPr>
              <a:t>実例：一つの確認区間は、こうして工程判断になる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F1630827-9340-49C9-B1B7-7BD211981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90550" y="1381125"/>
            <a:ext cx="110109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7C8D6"/>
            </a:solidFill>
            <a:prstDash val="solid"/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1F44DF7E-2A1A-42A4-9A88-FB5FA19BC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34150"/>
            <a:ext cx="781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97222"/>
          </a:bodyPr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900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rPr>
              <a:t>ZHAO ZHILI  |  U-Series Detailed Review  |  2026-09-01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D0E4D3F-608D-4B49-8739-F70BD3AFB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524625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97222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900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rPr>
              <a:t>7</a:t>
            </a:r>
          </a:p>
        </p:txBody>
      </p:sp>
      <p:sp>
        <p:nvSpPr>
          <p:cNvPr id="7" name="flow-arrow-1">
            <a:extLst xmlns:a="http://schemas.openxmlformats.org/drawingml/2006/main">
              <a:ext uri="{FF2B5EF4-FFF2-40B4-BE49-F238E27FC236}">
                <a16:creationId xmlns:a16="http://schemas.microsoft.com/office/drawing/2014/main" id="{34D06CFF-8CAB-42AA-90FE-7DEF281C0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4070350" y="3190875"/>
            <a:ext cx="3238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B7C8D6"/>
            </a:solidFill>
            <a:prstDash val="solid"/>
          </a:ln>
        </p:spPr>
      </p:sp>
      <p:sp>
        <p:nvSpPr>
          <p:cNvPr id="8" name="flow-arrow-2">
            <a:extLst xmlns:a="http://schemas.openxmlformats.org/drawingml/2006/main">
              <a:ext uri="{FF2B5EF4-FFF2-40B4-BE49-F238E27FC236}">
                <a16:creationId xmlns:a16="http://schemas.microsoft.com/office/drawing/2014/main" id="{ECAC6DAA-7F2F-4C71-8458-54855235B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7797800" y="3190875"/>
            <a:ext cx="3238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B7C8D6"/>
            </a:solidFill>
            <a:prstDash val="solid"/>
          </a:ln>
        </p:spPr>
      </p:sp>
      <p:sp>
        <p:nvSpPr>
          <p:cNvPr id="9" name="flow-box-1">
            <a:extLst xmlns:a="http://schemas.openxmlformats.org/drawingml/2006/main">
              <a:ext uri="{FF2B5EF4-FFF2-40B4-BE49-F238E27FC236}">
                <a16:creationId xmlns:a16="http://schemas.microsoft.com/office/drawing/2014/main" id="{CBA1CEF3-DA0F-45B3-A858-1F43C2021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33625"/>
            <a:ext cx="3479800" cy="17145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E7F0F6"/>
          </a:solidFill>
          <a:ln xmlns:a="http://schemas.openxmlformats.org/drawingml/2006/main" w="14288">
            <a:solidFill>
              <a:srgbClr val="B7C8D6"/>
            </a:solidFill>
            <a:prstDash val="solid"/>
          </a:ln>
        </p:spPr>
      </p:sp>
      <p:sp>
        <p:nvSpPr>
          <p:cNvPr id="10" name="flow-badge-1">
            <a:extLst xmlns:a="http://schemas.openxmlformats.org/drawingml/2006/main">
              <a:ext uri="{FF2B5EF4-FFF2-40B4-BE49-F238E27FC236}">
                <a16:creationId xmlns:a16="http://schemas.microsoft.com/office/drawing/2014/main" id="{7E2AF246-7C4A-4AEE-9D79-5A38E13DF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9950" y="20097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F5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rPr>
              <a:t>1</a:t>
            </a:r>
          </a:p>
        </p:txBody>
      </p:sp>
      <p:sp>
        <p:nvSpPr>
          <p:cNvPr id="11" name="flow-title-1">
            <a:extLst xmlns:a="http://schemas.openxmlformats.org/drawingml/2006/main">
              <a:ext uri="{FF2B5EF4-FFF2-40B4-BE49-F238E27FC236}">
                <a16:creationId xmlns:a16="http://schemas.microsoft.com/office/drawing/2014/main" id="{A660ED1C-266E-4230-AA4B-8C9C38F4B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0325"/>
            <a:ext cx="3213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650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元Data</a:t>
            </a:r>
          </a:p>
        </p:txBody>
      </p:sp>
      <p:sp>
        <p:nvSpPr>
          <p:cNvPr id="12" name="flow-body-1">
            <a:extLst xmlns:a="http://schemas.openxmlformats.org/drawingml/2006/main">
              <a:ext uri="{FF2B5EF4-FFF2-40B4-BE49-F238E27FC236}">
                <a16:creationId xmlns:a16="http://schemas.microsoft.com/office/drawing/2014/main" id="{50C3D12F-EEB6-4220-A195-22A0F7CAD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81350"/>
            <a:ext cx="3213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CAN + DBC + Video</a:t>
            </a:r>
          </a:p>
          <a:p xmlns:a="http://schemas.openxmlformats.org/drawingml/2006/main">
            <a:pPr algn="ctr">
              <a:buNone/>
              <a:defRPr sz="135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全動画50,198 Frame</a:t>
            </a:r>
          </a:p>
        </p:txBody>
      </p:sp>
      <p:sp>
        <p:nvSpPr>
          <p:cNvPr id="13" name="flow-box-2">
            <a:extLst xmlns:a="http://schemas.openxmlformats.org/drawingml/2006/main">
              <a:ext uri="{FF2B5EF4-FFF2-40B4-BE49-F238E27FC236}">
                <a16:creationId xmlns:a16="http://schemas.microsoft.com/office/drawing/2014/main" id="{221E531E-4684-44FE-96E2-AB6347BEA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6100" y="2333625"/>
            <a:ext cx="3479800" cy="17145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E8F1F8"/>
          </a:solidFill>
          <a:ln xmlns:a="http://schemas.openxmlformats.org/drawingml/2006/main" w="14288">
            <a:solidFill>
              <a:srgbClr val="B7C8D6"/>
            </a:solidFill>
            <a:prstDash val="solid"/>
          </a:ln>
        </p:spPr>
      </p:sp>
      <p:sp>
        <p:nvSpPr>
          <p:cNvPr id="14" name="flow-badge-2">
            <a:extLst xmlns:a="http://schemas.openxmlformats.org/drawingml/2006/main">
              <a:ext uri="{FF2B5EF4-FFF2-40B4-BE49-F238E27FC236}">
                <a16:creationId xmlns:a16="http://schemas.microsoft.com/office/drawing/2014/main" id="{43EECA2A-6B83-44CD-97B6-3994ED19A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0097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F5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rPr>
              <a:t>2</a:t>
            </a:r>
          </a:p>
        </p:txBody>
      </p:sp>
      <p:sp>
        <p:nvSpPr>
          <p:cNvPr id="15" name="flow-title-2">
            <a:extLst xmlns:a="http://schemas.openxmlformats.org/drawingml/2006/main">
              <a:ext uri="{FF2B5EF4-FFF2-40B4-BE49-F238E27FC236}">
                <a16:creationId xmlns:a16="http://schemas.microsoft.com/office/drawing/2014/main" id="{C42A1A31-020D-4BA9-8643-667F53687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450" y="2600325"/>
            <a:ext cx="3213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650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分析</a:t>
            </a:r>
          </a:p>
        </p:txBody>
      </p:sp>
      <p:sp>
        <p:nvSpPr>
          <p:cNvPr id="16" name="flow-body-2">
            <a:extLst xmlns:a="http://schemas.openxmlformats.org/drawingml/2006/main">
              <a:ext uri="{FF2B5EF4-FFF2-40B4-BE49-F238E27FC236}">
                <a16:creationId xmlns:a16="http://schemas.microsoft.com/office/drawing/2014/main" id="{C4E765A2-C89A-46CF-A1C0-631A6DE4D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450" y="3181350"/>
            <a:ext cx="3213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Camera位置とRadar状態から</a:t>
            </a:r>
          </a:p>
          <a:p xmlns:a="http://schemas.openxmlformats.org/drawingml/2006/main">
            <a:pPr algn="ctr">
              <a:buNone/>
              <a:defRPr sz="135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確認区間を候補化</a:t>
            </a:r>
          </a:p>
        </p:txBody>
      </p:sp>
      <p:sp>
        <p:nvSpPr>
          <p:cNvPr id="17" name="flow-box-3">
            <a:extLst xmlns:a="http://schemas.openxmlformats.org/drawingml/2006/main">
              <a:ext uri="{FF2B5EF4-FFF2-40B4-BE49-F238E27FC236}">
                <a16:creationId xmlns:a16="http://schemas.microsoft.com/office/drawing/2014/main" id="{70093573-6196-4C7B-A604-38291B36D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3550" y="2333625"/>
            <a:ext cx="3479800" cy="17145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E5F2EE"/>
          </a:solidFill>
          <a:ln xmlns:a="http://schemas.openxmlformats.org/drawingml/2006/main" w="14288">
            <a:solidFill>
              <a:srgbClr val="B7C8D6"/>
            </a:solidFill>
            <a:prstDash val="solid"/>
          </a:ln>
        </p:spPr>
      </p:sp>
      <p:sp>
        <p:nvSpPr>
          <p:cNvPr id="18" name="flow-badge-3">
            <a:extLst xmlns:a="http://schemas.openxmlformats.org/drawingml/2006/main">
              <a:ext uri="{FF2B5EF4-FFF2-40B4-BE49-F238E27FC236}">
                <a16:creationId xmlns:a16="http://schemas.microsoft.com/office/drawing/2014/main" id="{BB7435CF-AFE2-4FB6-B970-3DACECEC2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4850" y="20097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D6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rPr>
              <a:t>3</a:t>
            </a:r>
          </a:p>
        </p:txBody>
      </p:sp>
      <p:sp>
        <p:nvSpPr>
          <p:cNvPr id="19" name="flow-title-3">
            <a:extLst xmlns:a="http://schemas.openxmlformats.org/drawingml/2006/main">
              <a:ext uri="{FF2B5EF4-FFF2-40B4-BE49-F238E27FC236}">
                <a16:creationId xmlns:a16="http://schemas.microsoft.com/office/drawing/2014/main" id="{30E22A2C-8AD7-44A0-BFEB-3C5FAFA61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6900" y="2600325"/>
            <a:ext cx="3213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650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確認</a:t>
            </a:r>
          </a:p>
        </p:txBody>
      </p:sp>
      <p:sp>
        <p:nvSpPr>
          <p:cNvPr id="20" name="flow-body-3">
            <a:extLst xmlns:a="http://schemas.openxmlformats.org/drawingml/2006/main">
              <a:ext uri="{FF2B5EF4-FFF2-40B4-BE49-F238E27FC236}">
                <a16:creationId xmlns:a16="http://schemas.microsoft.com/office/drawing/2014/main" id="{585BD930-BA69-4D49-9AA8-EF17C7713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6900" y="3181350"/>
            <a:ext cx="3213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U003で映像とCANを見て</a:t>
            </a:r>
          </a:p>
          <a:p xmlns:a="http://schemas.openxmlformats.org/drawingml/2006/main">
            <a:pPr algn="ctr">
              <a:buNone/>
              <a:defRPr sz="135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現象・理由・判断を保存</a:t>
            </a:r>
          </a:p>
        </p:txBody>
      </p:sp>
      <p:sp>
        <p:nvSpPr>
          <p:cNvPr id="21" name="flow-kicker">
            <a:extLst xmlns:a="http://schemas.openxmlformats.org/drawingml/2006/main">
              <a:ext uri="{FF2B5EF4-FFF2-40B4-BE49-F238E27FC236}">
                <a16:creationId xmlns:a16="http://schemas.microsoft.com/office/drawing/2014/main" id="{54010D7A-D943-4ED3-9788-B305C3114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1450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650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rPr>
              <a:t>代表例：Frame 41,380–41,780付近</a:t>
            </a:r>
          </a:p>
        </p:txBody>
      </p:sp>
      <p:sp>
        <p:nvSpPr>
          <p:cNvPr id="22" name="flow-conclusion">
            <a:extLst xmlns:a="http://schemas.openxmlformats.org/drawingml/2006/main">
              <a:ext uri="{FF2B5EF4-FFF2-40B4-BE49-F238E27FC236}">
                <a16:creationId xmlns:a16="http://schemas.microsoft.com/office/drawing/2014/main" id="{36FBEF3C-20A7-4D99-97E8-8C4897937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953000"/>
            <a:ext cx="10096500" cy="7239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E7F0F6"/>
          </a:solidFill>
          <a:ln xmlns:a="http://schemas.openxmlformats.org/drawingml/2006/main" w="14288">
            <a:solidFill>
              <a:srgbClr val="173F5F"/>
            </a:solidFill>
            <a:prstDash val="solid"/>
          </a:ln>
        </p:spPr>
      </p:sp>
      <p:sp>
        <p:nvSpPr>
          <p:cNvPr id="23" name="flow-conclusion-text">
            <a:extLst xmlns:a="http://schemas.openxmlformats.org/drawingml/2006/main">
              <a:ext uri="{FF2B5EF4-FFF2-40B4-BE49-F238E27FC236}">
                <a16:creationId xmlns:a16="http://schemas.microsoft.com/office/drawing/2014/main" id="{45D54776-8780-4AA0-BFF1-5046A85FD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114925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7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架構図ではなく、一つの候補を最後まで追う</a:t>
            </a:r>
          </a:p>
        </p:txBody>
      </p:sp>
    </p:spTree>
    <p:extLst>
      <p:ext uri="{BB962C8B-B14F-4D97-AF65-F5344CB8AC3E}">
        <p14:creationId xmlns:p14="http://schemas.microsoft.com/office/powerpoint/2010/main" val="39231311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top-accent">
            <a:extLst xmlns:a="http://schemas.openxmlformats.org/drawingml/2006/main">
              <a:ext uri="{FF2B5EF4-FFF2-40B4-BE49-F238E27FC236}">
                <a16:creationId xmlns:a16="http://schemas.microsoft.com/office/drawing/2014/main" id="{6209E79B-4422-45DE-8BB5-CC29FAC5E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F5F"/>
          </a:solidFill>
          <a:ln xmlns:a="http://schemas.openxmlformats.org/drawingml/2006/main" w="0">
            <a:solidFill>
              <a:srgbClr val="173F5F"/>
            </a:solidFill>
            <a:prstDash val="solid"/>
          </a:ln>
        </p:spPr>
      </p:sp>
      <p:sp>
        <p:nvSpPr>
          <p:cNvPr id="2" name="deck-name">
            <a:extLst xmlns:a="http://schemas.openxmlformats.org/drawingml/2006/main">
              <a:ext uri="{FF2B5EF4-FFF2-40B4-BE49-F238E27FC236}">
                <a16:creationId xmlns:a16="http://schemas.microsoft.com/office/drawing/2014/main" id="{1721907B-1DF8-4F2D-BDBB-DAB06DADC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670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U001–U003 詳細説明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CE7C8DA-7DD1-419C-A3AE-99CE4E575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"/>
            <a:ext cx="11010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17324D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850" b="1">
                <a:solidFill>
                  <a:srgbClr val="17324D"/>
                </a:solidFill>
                <a:latin typeface="Hiragino Kaku Gothic ProN"/>
                <a:ea typeface="Hiragino Kaku Gothic ProN"/>
                <a:cs typeface="Hiragino Kaku Gothic ProN"/>
              </a:rPr>
              <a:t>一つの候補が、六つの工程を通る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BEFA1F30-76A2-47F0-8A13-0CBBD6211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90550" y="1381125"/>
            <a:ext cx="110109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7C8D6"/>
            </a:solidFill>
            <a:prstDash val="solid"/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75728F57-D5B9-45C1-9455-3040FBAFE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34150"/>
            <a:ext cx="781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97222"/>
          </a:bodyPr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900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rPr>
              <a:t>ZHAO ZHILI  |  U-Series Detailed Review  |  2026-09-01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5D5359C7-3D18-486D-B7D3-8B78B12D1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524625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97222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900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rPr>
              <a:t>8</a:t>
            </a:r>
          </a:p>
        </p:txBody>
      </p:sp>
      <p:sp>
        <p:nvSpPr>
          <p:cNvPr id="7" name="flow-arrow-1">
            <a:extLst xmlns:a="http://schemas.openxmlformats.org/drawingml/2006/main">
              <a:ext uri="{FF2B5EF4-FFF2-40B4-BE49-F238E27FC236}">
                <a16:creationId xmlns:a16="http://schemas.microsoft.com/office/drawing/2014/main" id="{3862D7B0-2861-4E20-9D97-DDBAEBC06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2286000" y="3190875"/>
            <a:ext cx="228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B7C8D6"/>
            </a:solidFill>
            <a:prstDash val="solid"/>
          </a:ln>
        </p:spPr>
      </p:sp>
      <p:sp>
        <p:nvSpPr>
          <p:cNvPr id="8" name="flow-arrow-2">
            <a:extLst xmlns:a="http://schemas.openxmlformats.org/drawingml/2006/main">
              <a:ext uri="{FF2B5EF4-FFF2-40B4-BE49-F238E27FC236}">
                <a16:creationId xmlns:a16="http://schemas.microsoft.com/office/drawing/2014/main" id="{1F901E21-8F61-4ED9-B4B2-6BA70A05E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4133850" y="3190875"/>
            <a:ext cx="228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B7C8D6"/>
            </a:solidFill>
            <a:prstDash val="solid"/>
          </a:ln>
        </p:spPr>
      </p:sp>
      <p:sp>
        <p:nvSpPr>
          <p:cNvPr id="9" name="flow-arrow-3">
            <a:extLst xmlns:a="http://schemas.openxmlformats.org/drawingml/2006/main">
              <a:ext uri="{FF2B5EF4-FFF2-40B4-BE49-F238E27FC236}">
                <a16:creationId xmlns:a16="http://schemas.microsoft.com/office/drawing/2014/main" id="{D6810145-9195-4D09-B390-BB5D34B39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981700" y="3190875"/>
            <a:ext cx="228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B7C8D6"/>
            </a:solidFill>
            <a:prstDash val="solid"/>
          </a:ln>
        </p:spPr>
      </p:sp>
      <p:sp>
        <p:nvSpPr>
          <p:cNvPr id="10" name="flow-arrow-4">
            <a:extLst xmlns:a="http://schemas.openxmlformats.org/drawingml/2006/main">
              <a:ext uri="{FF2B5EF4-FFF2-40B4-BE49-F238E27FC236}">
                <a16:creationId xmlns:a16="http://schemas.microsoft.com/office/drawing/2014/main" id="{270CEFFB-F459-40AB-8F54-A23993E3C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7829550" y="3190875"/>
            <a:ext cx="228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B7C8D6"/>
            </a:solidFill>
            <a:prstDash val="solid"/>
          </a:ln>
        </p:spPr>
      </p:sp>
      <p:sp>
        <p:nvSpPr>
          <p:cNvPr id="11" name="flow-arrow-5">
            <a:extLst xmlns:a="http://schemas.openxmlformats.org/drawingml/2006/main">
              <a:ext uri="{FF2B5EF4-FFF2-40B4-BE49-F238E27FC236}">
                <a16:creationId xmlns:a16="http://schemas.microsoft.com/office/drawing/2014/main" id="{E7F6AEBF-1B67-4184-B216-7A65972AF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9677400" y="3190875"/>
            <a:ext cx="228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B7C8D6"/>
            </a:solidFill>
            <a:prstDash val="solid"/>
          </a:ln>
        </p:spPr>
      </p:sp>
      <p:sp>
        <p:nvSpPr>
          <p:cNvPr id="12" name="flow-box-1">
            <a:extLst xmlns:a="http://schemas.openxmlformats.org/drawingml/2006/main">
              <a:ext uri="{FF2B5EF4-FFF2-40B4-BE49-F238E27FC236}">
                <a16:creationId xmlns:a16="http://schemas.microsoft.com/office/drawing/2014/main" id="{FC60123A-00CE-4E12-B489-6861E9C0A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33625"/>
            <a:ext cx="1695450" cy="1714500"/>
          </a:xfrm>
          <a:prstGeom xmlns:a="http://schemas.openxmlformats.org/drawingml/2006/main" prst="roundRect">
            <a:avLst>
              <a:gd name="adj" fmla="val 22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7C8D6"/>
            </a:solidFill>
            <a:prstDash val="solid"/>
          </a:ln>
        </p:spPr>
      </p:sp>
      <p:sp>
        <p:nvSpPr>
          <p:cNvPr id="13" name="flow-title-1">
            <a:extLst xmlns:a="http://schemas.openxmlformats.org/drawingml/2006/main">
              <a:ext uri="{FF2B5EF4-FFF2-40B4-BE49-F238E27FC236}">
                <a16:creationId xmlns:a16="http://schemas.microsoft.com/office/drawing/2014/main" id="{8EE7FC25-7FFE-4D70-93AE-1B6D5C1A5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0325"/>
            <a:ext cx="142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4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元File</a:t>
            </a:r>
          </a:p>
        </p:txBody>
      </p:sp>
      <p:sp>
        <p:nvSpPr>
          <p:cNvPr id="14" name="flow-body-1">
            <a:extLst xmlns:a="http://schemas.openxmlformats.org/drawingml/2006/main">
              <a:ext uri="{FF2B5EF4-FFF2-40B4-BE49-F238E27FC236}">
                <a16:creationId xmlns:a16="http://schemas.microsoft.com/office/drawing/2014/main" id="{8AA49447-9CB0-4B5D-9DEE-357F4D1BB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81350"/>
            <a:ext cx="142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CAN・DBC・映像</a:t>
            </a:r>
          </a:p>
        </p:txBody>
      </p:sp>
      <p:sp>
        <p:nvSpPr>
          <p:cNvPr id="15" name="flow-box-2">
            <a:extLst xmlns:a="http://schemas.openxmlformats.org/drawingml/2006/main">
              <a:ext uri="{FF2B5EF4-FFF2-40B4-BE49-F238E27FC236}">
                <a16:creationId xmlns:a16="http://schemas.microsoft.com/office/drawing/2014/main" id="{DECDDACA-EAE8-4472-A0C2-6138131E1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333625"/>
            <a:ext cx="1695450" cy="1714500"/>
          </a:xfrm>
          <a:prstGeom xmlns:a="http://schemas.openxmlformats.org/drawingml/2006/main" prst="roundRect">
            <a:avLst>
              <a:gd name="adj" fmla="val 22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7C8D6"/>
            </a:solidFill>
            <a:prstDash val="solid"/>
          </a:ln>
        </p:spPr>
      </p:sp>
      <p:sp>
        <p:nvSpPr>
          <p:cNvPr id="16" name="flow-title-2">
            <a:extLst xmlns:a="http://schemas.openxmlformats.org/drawingml/2006/main">
              <a:ext uri="{FF2B5EF4-FFF2-40B4-BE49-F238E27FC236}">
                <a16:creationId xmlns:a16="http://schemas.microsoft.com/office/drawing/2014/main" id="{2AD66484-68DE-4C47-858E-E8F1578B4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600325"/>
            <a:ext cx="142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4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U001</a:t>
            </a:r>
          </a:p>
        </p:txBody>
      </p:sp>
      <p:sp>
        <p:nvSpPr>
          <p:cNvPr id="17" name="flow-body-2">
            <a:extLst xmlns:a="http://schemas.openxmlformats.org/drawingml/2006/main">
              <a:ext uri="{FF2B5EF4-FFF2-40B4-BE49-F238E27FC236}">
                <a16:creationId xmlns:a16="http://schemas.microsoft.com/office/drawing/2014/main" id="{3E51EAA8-6C6F-495D-A2A6-1FCFEEFB7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181350"/>
            <a:ext cx="142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必要Signalを
Frame表へ変換</a:t>
            </a:r>
          </a:p>
        </p:txBody>
      </p:sp>
      <p:sp>
        <p:nvSpPr>
          <p:cNvPr id="18" name="flow-box-3">
            <a:extLst xmlns:a="http://schemas.openxmlformats.org/drawingml/2006/main">
              <a:ext uri="{FF2B5EF4-FFF2-40B4-BE49-F238E27FC236}">
                <a16:creationId xmlns:a16="http://schemas.microsoft.com/office/drawing/2014/main" id="{EB27E90C-C6FA-4AE5-B9FE-E71CD8D29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333625"/>
            <a:ext cx="1695450" cy="1714500"/>
          </a:xfrm>
          <a:prstGeom xmlns:a="http://schemas.openxmlformats.org/drawingml/2006/main" prst="roundRect">
            <a:avLst>
              <a:gd name="adj" fmla="val 22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7C8D6"/>
            </a:solidFill>
            <a:prstDash val="solid"/>
          </a:ln>
        </p:spPr>
      </p:sp>
      <p:sp>
        <p:nvSpPr>
          <p:cNvPr id="19" name="flow-title-3">
            <a:extLst xmlns:a="http://schemas.openxmlformats.org/drawingml/2006/main">
              <a:ext uri="{FF2B5EF4-FFF2-40B4-BE49-F238E27FC236}">
                <a16:creationId xmlns:a16="http://schemas.microsoft.com/office/drawing/2014/main" id="{3D58DB3E-444E-4715-B5DF-BEF6423A4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600325"/>
            <a:ext cx="142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4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U002 Module</a:t>
            </a:r>
          </a:p>
        </p:txBody>
      </p:sp>
      <p:sp>
        <p:nvSpPr>
          <p:cNvPr id="20" name="flow-body-3">
            <a:extLst xmlns:a="http://schemas.openxmlformats.org/drawingml/2006/main">
              <a:ext uri="{FF2B5EF4-FFF2-40B4-BE49-F238E27FC236}">
                <a16:creationId xmlns:a16="http://schemas.microsoft.com/office/drawing/2014/main" id="{7272BC13-54AD-4973-8A0E-A40678E94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181350"/>
            <a:ext cx="142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条件を計算し
確認窓を作る</a:t>
            </a:r>
          </a:p>
        </p:txBody>
      </p:sp>
      <p:sp>
        <p:nvSpPr>
          <p:cNvPr id="21" name="flow-box-4">
            <a:extLst xmlns:a="http://schemas.openxmlformats.org/drawingml/2006/main">
              <a:ext uri="{FF2B5EF4-FFF2-40B4-BE49-F238E27FC236}">
                <a16:creationId xmlns:a16="http://schemas.microsoft.com/office/drawing/2014/main" id="{147506D8-3B0B-4FE0-83E9-AA1D9A717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333625"/>
            <a:ext cx="1695450" cy="1714500"/>
          </a:xfrm>
          <a:prstGeom xmlns:a="http://schemas.openxmlformats.org/drawingml/2006/main" prst="roundRect">
            <a:avLst>
              <a:gd name="adj" fmla="val 22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7C8D6"/>
            </a:solidFill>
            <a:prstDash val="solid"/>
          </a:ln>
        </p:spPr>
      </p:sp>
      <p:sp>
        <p:nvSpPr>
          <p:cNvPr id="22" name="flow-title-4">
            <a:extLst xmlns:a="http://schemas.openxmlformats.org/drawingml/2006/main">
              <a:ext uri="{FF2B5EF4-FFF2-40B4-BE49-F238E27FC236}">
                <a16:creationId xmlns:a16="http://schemas.microsoft.com/office/drawing/2014/main" id="{D2F25FDA-CDC4-4A90-AABF-84F3106E8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600325"/>
            <a:ext cx="142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4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候補Package</a:t>
            </a:r>
          </a:p>
        </p:txBody>
      </p:sp>
      <p:sp>
        <p:nvSpPr>
          <p:cNvPr id="23" name="flow-body-4">
            <a:extLst xmlns:a="http://schemas.openxmlformats.org/drawingml/2006/main">
              <a:ext uri="{FF2B5EF4-FFF2-40B4-BE49-F238E27FC236}">
                <a16:creationId xmlns:a16="http://schemas.microsoft.com/office/drawing/2014/main" id="{A1D64EF8-C131-4CA0-A0BC-95C070F0A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181350"/>
            <a:ext cx="142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範囲・理由・
表示Signal</a:t>
            </a:r>
          </a:p>
        </p:txBody>
      </p:sp>
      <p:sp>
        <p:nvSpPr>
          <p:cNvPr id="24" name="flow-box-5">
            <a:extLst xmlns:a="http://schemas.openxmlformats.org/drawingml/2006/main">
              <a:ext uri="{FF2B5EF4-FFF2-40B4-BE49-F238E27FC236}">
                <a16:creationId xmlns:a16="http://schemas.microsoft.com/office/drawing/2014/main" id="{10A7A31A-DB7F-4239-8CEC-5A14FFDC2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33625"/>
            <a:ext cx="1695450" cy="1714500"/>
          </a:xfrm>
          <a:prstGeom xmlns:a="http://schemas.openxmlformats.org/drawingml/2006/main" prst="roundRect">
            <a:avLst>
              <a:gd name="adj" fmla="val 22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7C8D6"/>
            </a:solidFill>
            <a:prstDash val="solid"/>
          </a:ln>
        </p:spPr>
      </p:sp>
      <p:sp>
        <p:nvSpPr>
          <p:cNvPr id="25" name="flow-title-5">
            <a:extLst xmlns:a="http://schemas.openxmlformats.org/drawingml/2006/main">
              <a:ext uri="{FF2B5EF4-FFF2-40B4-BE49-F238E27FC236}">
                <a16:creationId xmlns:a16="http://schemas.microsoft.com/office/drawing/2014/main" id="{B27E271A-2807-43EE-8A4A-AD0C08A62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600325"/>
            <a:ext cx="142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4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U003</a:t>
            </a:r>
          </a:p>
        </p:txBody>
      </p:sp>
      <p:sp>
        <p:nvSpPr>
          <p:cNvPr id="26" name="flow-body-5">
            <a:extLst xmlns:a="http://schemas.openxmlformats.org/drawingml/2006/main">
              <a:ext uri="{FF2B5EF4-FFF2-40B4-BE49-F238E27FC236}">
                <a16:creationId xmlns:a16="http://schemas.microsoft.com/office/drawing/2014/main" id="{56661279-26D5-4DE0-89AC-565BC7D7D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181350"/>
            <a:ext cx="142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映像とCANを
同じFrameで確認</a:t>
            </a:r>
          </a:p>
        </p:txBody>
      </p:sp>
      <p:sp>
        <p:nvSpPr>
          <p:cNvPr id="27" name="flow-box-6">
            <a:extLst xmlns:a="http://schemas.openxmlformats.org/drawingml/2006/main">
              <a:ext uri="{FF2B5EF4-FFF2-40B4-BE49-F238E27FC236}">
                <a16:creationId xmlns:a16="http://schemas.microsoft.com/office/drawing/2014/main" id="{9DCC640B-9B50-49EA-97FF-A72D70D03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333625"/>
            <a:ext cx="1695450" cy="1714500"/>
          </a:xfrm>
          <a:prstGeom xmlns:a="http://schemas.openxmlformats.org/drawingml/2006/main" prst="roundRect">
            <a:avLst>
              <a:gd name="adj" fmla="val 2247"/>
            </a:avLst>
          </a:prstGeom>
          <a:solidFill xmlns:a="http://schemas.openxmlformats.org/drawingml/2006/main">
            <a:srgbClr val="E5F2EE"/>
          </a:solidFill>
          <a:ln xmlns:a="http://schemas.openxmlformats.org/drawingml/2006/main" w="14288">
            <a:solidFill>
              <a:srgbClr val="2F7D68"/>
            </a:solidFill>
            <a:prstDash val="solid"/>
          </a:ln>
        </p:spPr>
      </p:sp>
      <p:sp>
        <p:nvSpPr>
          <p:cNvPr id="28" name="flow-title-6">
            <a:extLst xmlns:a="http://schemas.openxmlformats.org/drawingml/2006/main">
              <a:ext uri="{FF2B5EF4-FFF2-40B4-BE49-F238E27FC236}">
                <a16:creationId xmlns:a16="http://schemas.microsoft.com/office/drawing/2014/main" id="{7CAC8D28-CC0C-40DA-B770-A6E3FCA72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600325"/>
            <a:ext cx="142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4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工程判断</a:t>
            </a:r>
          </a:p>
        </p:txBody>
      </p:sp>
      <p:sp>
        <p:nvSpPr>
          <p:cNvPr id="29" name="flow-body-6">
            <a:extLst xmlns:a="http://schemas.openxmlformats.org/drawingml/2006/main">
              <a:ext uri="{FF2B5EF4-FFF2-40B4-BE49-F238E27FC236}">
                <a16:creationId xmlns:a16="http://schemas.microsoft.com/office/drawing/2014/main" id="{C44E7A93-251D-49F9-A085-B3F32950C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181350"/>
            <a:ext cx="142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Memo・Evidence・</a:t>
            </a:r>
          </a:p>
          <a:p xmlns:a="http://schemas.openxmlformats.org/drawingml/2006/main">
            <a:pPr algn="ctr">
              <a:buNone/>
              <a:defRPr sz="120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適用条件を保存</a:t>
            </a:r>
          </a:p>
        </p:txBody>
      </p:sp>
      <p:sp>
        <p:nvSpPr>
          <p:cNvPr id="30" name="flow-conclusion">
            <a:extLst xmlns:a="http://schemas.openxmlformats.org/drawingml/2006/main">
              <a:ext uri="{FF2B5EF4-FFF2-40B4-BE49-F238E27FC236}">
                <a16:creationId xmlns:a16="http://schemas.microsoft.com/office/drawing/2014/main" id="{E2BAB2AF-9512-4A51-8A8A-E333685DC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953000"/>
            <a:ext cx="10096500" cy="7239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E7F0F6"/>
          </a:solidFill>
          <a:ln xmlns:a="http://schemas.openxmlformats.org/drawingml/2006/main" w="14288">
            <a:solidFill>
              <a:srgbClr val="173F5F"/>
            </a:solidFill>
            <a:prstDash val="solid"/>
          </a:ln>
        </p:spPr>
      </p:sp>
      <p:sp>
        <p:nvSpPr>
          <p:cNvPr id="31" name="flow-conclusion-text">
            <a:extLst xmlns:a="http://schemas.openxmlformats.org/drawingml/2006/main">
              <a:ext uri="{FF2B5EF4-FFF2-40B4-BE49-F238E27FC236}">
                <a16:creationId xmlns:a16="http://schemas.microsoft.com/office/drawing/2014/main" id="{AEC4F46B-95DC-4797-A40A-B187925FD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114925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7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入力から判断まで、同じ候補IDとFrameCountで追跡できる</a:t>
            </a:r>
          </a:p>
        </p:txBody>
      </p:sp>
    </p:spTree>
    <p:extLst>
      <p:ext uri="{BB962C8B-B14F-4D97-AF65-F5344CB8AC3E}">
        <p14:creationId xmlns:p14="http://schemas.microsoft.com/office/powerpoint/2010/main" val="80886878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op-accent">
            <a:extLst xmlns:a="http://schemas.openxmlformats.org/drawingml/2006/main">
              <a:ext uri="{FF2B5EF4-FFF2-40B4-BE49-F238E27FC236}">
                <a16:creationId xmlns:a16="http://schemas.microsoft.com/office/drawing/2014/main" id="{89B1BDF6-03BC-4C3F-9677-0A27F32DE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F5F"/>
          </a:solidFill>
          <a:ln xmlns:a="http://schemas.openxmlformats.org/drawingml/2006/main" w="0">
            <a:solidFill>
              <a:srgbClr val="173F5F"/>
            </a:solidFill>
            <a:prstDash val="solid"/>
          </a:ln>
        </p:spPr>
      </p:sp>
      <p:sp>
        <p:nvSpPr>
          <p:cNvPr id="2" name="deck-name">
            <a:extLst xmlns:a="http://schemas.openxmlformats.org/drawingml/2006/main">
              <a:ext uri="{FF2B5EF4-FFF2-40B4-BE49-F238E27FC236}">
                <a16:creationId xmlns:a16="http://schemas.microsoft.com/office/drawing/2014/main" id="{3861B3C5-9405-413A-8204-B05C31B1E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670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U001–U003 詳細説明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69A2D4E-FE20-4EF8-BC6D-8E9F1F92A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"/>
            <a:ext cx="11010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17324D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850" b="1">
                <a:solidFill>
                  <a:srgbClr val="17324D"/>
                </a:solidFill>
                <a:latin typeface="Hiragino Kaku Gothic ProN"/>
                <a:ea typeface="Hiragino Kaku Gothic ProN"/>
                <a:cs typeface="Hiragino Kaku Gothic ProN"/>
              </a:rPr>
              <a:t>実例のU001：元の読数を、比較できる状態へ変える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4C9F4BF3-9F8E-48F4-8C57-3E3E80C2C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90550" y="1381125"/>
            <a:ext cx="110109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7C8D6"/>
            </a:solidFill>
            <a:prstDash val="solid"/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91D92D56-D695-4835-80AF-3F1133676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34150"/>
            <a:ext cx="781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97222"/>
          </a:bodyPr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900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rPr>
              <a:t>ZHAO ZHILI  |  U-Series Detailed Review  |  2026-09-01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DA4DD73-79DC-45F4-A1D0-49D5133A3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524625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97222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900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rPr>
              <a:t>9</a:t>
            </a:r>
          </a:p>
        </p:txBody>
      </p:sp>
      <p:sp>
        <p:nvSpPr>
          <p:cNvPr id="7" name="col-title-0">
            <a:extLst xmlns:a="http://schemas.openxmlformats.org/drawingml/2006/main">
              <a:ext uri="{FF2B5EF4-FFF2-40B4-BE49-F238E27FC236}">
                <a16:creationId xmlns:a16="http://schemas.microsoft.com/office/drawing/2014/main" id="{C7297E31-7236-495A-91DF-798596334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100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入力</a:t>
            </a:r>
          </a:p>
        </p:txBody>
      </p:sp>
      <p:sp>
        <p:nvSpPr>
          <p:cNvPr id="8" name="col-rule-0">
            <a:extLst xmlns:a="http://schemas.openxmlformats.org/drawingml/2006/main">
              <a:ext uri="{FF2B5EF4-FFF2-40B4-BE49-F238E27FC236}">
                <a16:creationId xmlns:a16="http://schemas.microsoft.com/office/drawing/2014/main" id="{B4BA3290-BDA0-48F5-B80F-8FE83B487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952500" y="2209800"/>
            <a:ext cx="4191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73F5F"/>
            </a:solidFill>
            <a:prstDash val="solid"/>
          </a:ln>
        </p:spPr>
      </p:sp>
      <p:sp>
        <p:nvSpPr>
          <p:cNvPr id="9" name="col-box-0">
            <a:extLst xmlns:a="http://schemas.openxmlformats.org/drawingml/2006/main">
              <a:ext uri="{FF2B5EF4-FFF2-40B4-BE49-F238E27FC236}">
                <a16:creationId xmlns:a16="http://schemas.microsoft.com/office/drawing/2014/main" id="{184224BD-89D4-4F16-A58F-429BFC723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4762500" cy="3143250"/>
          </a:xfrm>
          <a:prstGeom xmlns:a="http://schemas.openxmlformats.org/drawingml/2006/main" prst="roundRect">
            <a:avLst>
              <a:gd name="adj" fmla="val 12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7C8D6"/>
            </a:solidFill>
            <a:prstDash val="solid"/>
          </a:ln>
        </p:spPr>
      </p:sp>
      <p:sp>
        <p:nvSpPr>
          <p:cNvPr id="10" name="col-body-0">
            <a:extLst xmlns:a="http://schemas.openxmlformats.org/drawingml/2006/main">
              <a:ext uri="{FF2B5EF4-FFF2-40B4-BE49-F238E27FC236}">
                <a16:creationId xmlns:a16="http://schemas.microsoft.com/office/drawing/2014/main" id="{62BC1BB1-E2D3-4EF5-AD7A-521080877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28900"/>
            <a:ext cx="41148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marL="20" indent="-10">
              <a:spcAft>
                <a:spcPts val="7"/>
              </a:spcAft>
              <a:buChar char="•"/>
              <a:defRPr sz="135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DBC 1 + DBC 2</a:t>
            </a:r>
          </a:p>
          <a:p xmlns:a="http://schemas.openxmlformats.org/drawingml/2006/main">
            <a:pPr marL="20" indent="-10">
              <a:spcAft>
                <a:spcPts val="7"/>
              </a:spcAft>
              <a:buChar char="•"/>
              <a:defRPr sz="135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CAN Dump CSV</a:t>
            </a:r>
          </a:p>
          <a:p xmlns:a="http://schemas.openxmlformats.org/drawingml/2006/main">
            <a:pPr marL="20" indent="-10">
              <a:spcAft>
                <a:spcPts val="7"/>
              </a:spcAft>
              <a:buChar char="•"/>
              <a:defRPr sz="135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FrameCount対応情報</a:t>
            </a:r>
          </a:p>
          <a:p xmlns:a="http://schemas.openxmlformats.org/drawingml/2006/main">
            <a:pPr marL="20" indent="-10">
              <a:spcAft>
                <a:spcPts val="7"/>
              </a:spcAft>
              <a:buChar char="•"/>
              <a:defRPr sz="135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Camera 1 / 3距離・横位置</a:t>
            </a:r>
          </a:p>
          <a:p xmlns:a="http://schemas.openxmlformats.org/drawingml/2006/main">
            <a:pPr marL="20" indent="-10">
              <a:spcAft>
                <a:spcPts val="7"/>
              </a:spcAft>
              <a:buChar char="•"/>
              <a:defRPr sz="135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Radar距離・有効状態</a:t>
            </a:r>
          </a:p>
        </p:txBody>
      </p:sp>
      <p:sp>
        <p:nvSpPr>
          <p:cNvPr id="11" name="col-title-1">
            <a:extLst xmlns:a="http://schemas.openxmlformats.org/drawingml/2006/main">
              <a:ext uri="{FF2B5EF4-FFF2-40B4-BE49-F238E27FC236}">
                <a16:creationId xmlns:a16="http://schemas.microsoft.com/office/drawing/2014/main" id="{E3EFE1CE-03DC-4B8B-BBC1-F6B1ECDC4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5735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100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U001出力</a:t>
            </a:r>
          </a:p>
        </p:txBody>
      </p:sp>
      <p:sp>
        <p:nvSpPr>
          <p:cNvPr id="12" name="col-rule-1">
            <a:extLst xmlns:a="http://schemas.openxmlformats.org/drawingml/2006/main">
              <a:ext uri="{FF2B5EF4-FFF2-40B4-BE49-F238E27FC236}">
                <a16:creationId xmlns:a16="http://schemas.microsoft.com/office/drawing/2014/main" id="{7FBA8354-BC2F-48AE-BE75-990903335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6477000" y="2209800"/>
            <a:ext cx="4191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73F5F"/>
            </a:solidFill>
            <a:prstDash val="solid"/>
          </a:ln>
        </p:spPr>
      </p:sp>
      <p:sp>
        <p:nvSpPr>
          <p:cNvPr id="13" name="col-box-1">
            <a:extLst xmlns:a="http://schemas.openxmlformats.org/drawingml/2006/main">
              <a:ext uri="{FF2B5EF4-FFF2-40B4-BE49-F238E27FC236}">
                <a16:creationId xmlns:a16="http://schemas.microsoft.com/office/drawing/2014/main" id="{8CFD4C8D-1B84-43C6-96C7-081D51A42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81250"/>
            <a:ext cx="4762500" cy="3143250"/>
          </a:xfrm>
          <a:prstGeom xmlns:a="http://schemas.openxmlformats.org/drawingml/2006/main" prst="roundRect">
            <a:avLst>
              <a:gd name="adj" fmla="val 12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7C8D6"/>
            </a:solidFill>
            <a:prstDash val="solid"/>
          </a:ln>
        </p:spPr>
      </p:sp>
      <p:sp>
        <p:nvSpPr>
          <p:cNvPr id="14" name="col-body-1">
            <a:extLst xmlns:a="http://schemas.openxmlformats.org/drawingml/2006/main">
              <a:ext uri="{FF2B5EF4-FFF2-40B4-BE49-F238E27FC236}">
                <a16:creationId xmlns:a16="http://schemas.microsoft.com/office/drawing/2014/main" id="{9A970003-CC05-42C2-B419-53E33487F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628900"/>
            <a:ext cx="41148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marL="20" indent="-10">
              <a:spcAft>
                <a:spcPts val="7"/>
              </a:spcAft>
              <a:buChar char="•"/>
              <a:defRPr sz="135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Frameごとの信号値</a:t>
            </a:r>
          </a:p>
          <a:p xmlns:a="http://schemas.openxmlformats.org/drawingml/2006/main">
            <a:pPr marL="20" indent="-10">
              <a:spcAft>
                <a:spcPts val="7"/>
              </a:spcAft>
              <a:buChar char="•"/>
              <a:defRPr sz="135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そのFrameで更新したか</a:t>
            </a:r>
          </a:p>
          <a:p xmlns:a="http://schemas.openxmlformats.org/drawingml/2006/main">
            <a:pPr marL="20" indent="-10">
              <a:spcAft>
                <a:spcPts val="7"/>
              </a:spcAft>
              <a:buChar char="•"/>
              <a:defRPr sz="135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保持された古い値のAge</a:t>
            </a:r>
          </a:p>
          <a:p xmlns:a="http://schemas.openxmlformats.org/drawingml/2006/main">
            <a:pPr marL="20" indent="-10">
              <a:spcAft>
                <a:spcPts val="7"/>
              </a:spcAft>
              <a:buChar char="•"/>
              <a:defRPr sz="135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無効理由</a:t>
            </a:r>
          </a:p>
          <a:p xmlns:a="http://schemas.openxmlformats.org/drawingml/2006/main">
            <a:pPr marL="20" indent="-10">
              <a:spcAft>
                <a:spcPts val="7"/>
              </a:spcAft>
              <a:buChar char="•"/>
              <a:defRPr sz="135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入力元と信号定義</a:t>
            </a:r>
          </a:p>
        </p:txBody>
      </p:sp>
      <p:sp>
        <p:nvSpPr>
          <p:cNvPr id="15" name="two-col-conclusion">
            <a:extLst xmlns:a="http://schemas.openxmlformats.org/drawingml/2006/main">
              <a:ext uri="{FF2B5EF4-FFF2-40B4-BE49-F238E27FC236}">
                <a16:creationId xmlns:a16="http://schemas.microsoft.com/office/drawing/2014/main" id="{DA6BFA64-F67F-4A79-8E4B-B80C28D41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810250"/>
            <a:ext cx="8953500" cy="4762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7F0F6"/>
          </a:solidFill>
          <a:ln xmlns:a="http://schemas.openxmlformats.org/drawingml/2006/main" w="14288">
            <a:solidFill>
              <a:srgbClr val="173F5F"/>
            </a:solidFill>
            <a:prstDash val="solid"/>
          </a:ln>
        </p:spPr>
      </p:sp>
      <p:sp>
        <p:nvSpPr>
          <p:cNvPr id="16" name="two-col-conclusion-text">
            <a:extLst xmlns:a="http://schemas.openxmlformats.org/drawingml/2006/main">
              <a:ext uri="{FF2B5EF4-FFF2-40B4-BE49-F238E27FC236}">
                <a16:creationId xmlns:a16="http://schemas.microsoft.com/office/drawing/2014/main" id="{1434F208-0620-482A-9807-7DDB7629B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5867400"/>
            <a:ext cx="847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57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同じ数字でも、更新値・保持値・無効値を区別してU002へ渡す</a:t>
            </a:r>
          </a:p>
        </p:txBody>
      </p:sp>
    </p:spTree>
    <p:extLst>
      <p:ext uri="{BB962C8B-B14F-4D97-AF65-F5344CB8AC3E}">
        <p14:creationId xmlns:p14="http://schemas.microsoft.com/office/powerpoint/2010/main" val="152135804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op-accent">
            <a:extLst xmlns:a="http://schemas.openxmlformats.org/drawingml/2006/main">
              <a:ext uri="{FF2B5EF4-FFF2-40B4-BE49-F238E27FC236}">
                <a16:creationId xmlns:a16="http://schemas.microsoft.com/office/drawing/2014/main" id="{89B1BDF6-03BC-4C3F-9677-0A27F32DE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F5F"/>
          </a:solidFill>
          <a:ln xmlns:a="http://schemas.openxmlformats.org/drawingml/2006/main" w="0">
            <a:solidFill>
              <a:srgbClr val="173F5F"/>
            </a:solidFill>
            <a:prstDash val="solid"/>
          </a:ln>
        </p:spPr>
      </p:sp>
      <p:sp>
        <p:nvSpPr>
          <p:cNvPr id="2" name="deck-name">
            <a:extLst xmlns:a="http://schemas.openxmlformats.org/drawingml/2006/main">
              <a:ext uri="{FF2B5EF4-FFF2-40B4-BE49-F238E27FC236}">
                <a16:creationId xmlns:a16="http://schemas.microsoft.com/office/drawing/2014/main" id="{3861B3C5-9405-413A-8204-B05C31B1E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670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U001–U003 詳細説明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69A2D4E-FE20-4EF8-BC6D-8E9F1F92A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"/>
            <a:ext cx="11010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17324D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850" b="1">
                <a:solidFill>
                  <a:srgbClr val="17324D"/>
                </a:solidFill>
                <a:latin typeface="Hiragino Kaku Gothic ProN"/>
                <a:ea typeface="Hiragino Kaku Gothic ProN"/>
                <a:cs typeface="Hiragino Kaku Gothic ProN"/>
              </a:rPr>
              <a:t>実例のU002：なぜ、その区間を選んだのか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4C9F4BF3-9F8E-48F4-8C57-3E3E80C2C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90550" y="1381125"/>
            <a:ext cx="110109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7C8D6"/>
            </a:solidFill>
            <a:prstDash val="solid"/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91D92D56-D695-4835-80AF-3F1133676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34150"/>
            <a:ext cx="781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97222"/>
          </a:bodyPr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900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rPr>
              <a:t>ZHAO ZHILI  |  U-Series Detailed Review  |  2026-09-01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DA4DD73-79DC-45F4-A1D0-49D5133A3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524625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97222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900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rPr>
              <a:t>10</a:t>
            </a:r>
          </a:p>
        </p:txBody>
      </p:sp>
      <p:sp>
        <p:nvSpPr>
          <p:cNvPr id="7" name="col-title-0">
            <a:extLst xmlns:a="http://schemas.openxmlformats.org/drawingml/2006/main">
              <a:ext uri="{FF2B5EF4-FFF2-40B4-BE49-F238E27FC236}">
                <a16:creationId xmlns:a16="http://schemas.microsoft.com/office/drawing/2014/main" id="{C7297E31-7236-495A-91DF-798596334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100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Moduleが見る現象</a:t>
            </a:r>
          </a:p>
        </p:txBody>
      </p:sp>
      <p:sp>
        <p:nvSpPr>
          <p:cNvPr id="8" name="col-rule-0">
            <a:extLst xmlns:a="http://schemas.openxmlformats.org/drawingml/2006/main">
              <a:ext uri="{FF2B5EF4-FFF2-40B4-BE49-F238E27FC236}">
                <a16:creationId xmlns:a16="http://schemas.microsoft.com/office/drawing/2014/main" id="{B4BA3290-BDA0-48F5-B80F-8FE83B487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952500" y="2209800"/>
            <a:ext cx="4191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73F5F"/>
            </a:solidFill>
            <a:prstDash val="solid"/>
          </a:ln>
        </p:spPr>
      </p:sp>
      <p:sp>
        <p:nvSpPr>
          <p:cNvPr id="9" name="col-box-0">
            <a:extLst xmlns:a="http://schemas.openxmlformats.org/drawingml/2006/main">
              <a:ext uri="{FF2B5EF4-FFF2-40B4-BE49-F238E27FC236}">
                <a16:creationId xmlns:a16="http://schemas.microsoft.com/office/drawing/2014/main" id="{184224BD-89D4-4F16-A58F-429BFC723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4762500" cy="3143250"/>
          </a:xfrm>
          <a:prstGeom xmlns:a="http://schemas.openxmlformats.org/drawingml/2006/main" prst="roundRect">
            <a:avLst>
              <a:gd name="adj" fmla="val 12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7C8D6"/>
            </a:solidFill>
            <a:prstDash val="solid"/>
          </a:ln>
        </p:spPr>
      </p:sp>
      <p:sp>
        <p:nvSpPr>
          <p:cNvPr id="10" name="col-body-0">
            <a:extLst xmlns:a="http://schemas.openxmlformats.org/drawingml/2006/main">
              <a:ext uri="{FF2B5EF4-FFF2-40B4-BE49-F238E27FC236}">
                <a16:creationId xmlns:a16="http://schemas.microsoft.com/office/drawing/2014/main" id="{62BC1BB1-E2D3-4EF5-AD7A-521080877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28900"/>
            <a:ext cx="41148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marL="20" indent="-10">
              <a:spcAft>
                <a:spcPts val="7"/>
              </a:spcAft>
              <a:buChar char="•"/>
              <a:defRPr sz="135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Cameraの対象距離</a:t>
            </a:r>
          </a:p>
          <a:p xmlns:a="http://schemas.openxmlformats.org/drawingml/2006/main">
            <a:pPr marL="20" indent="-10">
              <a:spcAft>
                <a:spcPts val="7"/>
              </a:spcAft>
              <a:buChar char="•"/>
              <a:defRPr sz="135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Cameraの横位置</a:t>
            </a:r>
          </a:p>
          <a:p xmlns:a="http://schemas.openxmlformats.org/drawingml/2006/main">
            <a:pPr marL="20" indent="-10">
              <a:spcAft>
                <a:spcPts val="7"/>
              </a:spcAft>
              <a:buChar char="•"/>
              <a:defRPr sz="135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Radar距離の有効・無効</a:t>
            </a:r>
          </a:p>
          <a:p xmlns:a="http://schemas.openxmlformats.org/drawingml/2006/main">
            <a:pPr marL="20" indent="-10">
              <a:spcAft>
                <a:spcPts val="7"/>
              </a:spcAft>
              <a:buChar char="•"/>
              <a:defRPr sz="135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欠落の継続時間</a:t>
            </a:r>
          </a:p>
          <a:p xmlns:a="http://schemas.openxmlformats.org/drawingml/2006/main">
            <a:pPr marL="20" indent="-10">
              <a:spcAft>
                <a:spcPts val="7"/>
              </a:spcAft>
              <a:buChar char="•"/>
              <a:defRPr sz="135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復帰までの遅れ</a:t>
            </a:r>
          </a:p>
        </p:txBody>
      </p:sp>
      <p:sp>
        <p:nvSpPr>
          <p:cNvPr id="11" name="col-title-1">
            <a:extLst xmlns:a="http://schemas.openxmlformats.org/drawingml/2006/main">
              <a:ext uri="{FF2B5EF4-FFF2-40B4-BE49-F238E27FC236}">
                <a16:creationId xmlns:a16="http://schemas.microsoft.com/office/drawing/2014/main" id="{E3EFE1CE-03DC-4B8B-BBC1-F6B1ECDC4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5735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100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候補Packageに残す理由</a:t>
            </a:r>
          </a:p>
        </p:txBody>
      </p:sp>
      <p:sp>
        <p:nvSpPr>
          <p:cNvPr id="12" name="col-rule-1">
            <a:extLst xmlns:a="http://schemas.openxmlformats.org/drawingml/2006/main">
              <a:ext uri="{FF2B5EF4-FFF2-40B4-BE49-F238E27FC236}">
                <a16:creationId xmlns:a16="http://schemas.microsoft.com/office/drawing/2014/main" id="{7FBA8354-BC2F-48AE-BE75-990903335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6477000" y="2209800"/>
            <a:ext cx="4191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73F5F"/>
            </a:solidFill>
            <a:prstDash val="solid"/>
          </a:ln>
        </p:spPr>
      </p:sp>
      <p:sp>
        <p:nvSpPr>
          <p:cNvPr id="13" name="col-box-1">
            <a:extLst xmlns:a="http://schemas.openxmlformats.org/drawingml/2006/main">
              <a:ext uri="{FF2B5EF4-FFF2-40B4-BE49-F238E27FC236}">
                <a16:creationId xmlns:a16="http://schemas.microsoft.com/office/drawing/2014/main" id="{8CFD4C8D-1B84-43C6-96C7-081D51A42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81250"/>
            <a:ext cx="4762500" cy="3143250"/>
          </a:xfrm>
          <a:prstGeom xmlns:a="http://schemas.openxmlformats.org/drawingml/2006/main" prst="roundRect">
            <a:avLst>
              <a:gd name="adj" fmla="val 12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7C8D6"/>
            </a:solidFill>
            <a:prstDash val="solid"/>
          </a:ln>
        </p:spPr>
      </p:sp>
      <p:sp>
        <p:nvSpPr>
          <p:cNvPr id="14" name="col-body-1">
            <a:extLst xmlns:a="http://schemas.openxmlformats.org/drawingml/2006/main">
              <a:ext uri="{FF2B5EF4-FFF2-40B4-BE49-F238E27FC236}">
                <a16:creationId xmlns:a16="http://schemas.microsoft.com/office/drawing/2014/main" id="{9A970003-CC05-42C2-B419-53E33487F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628900"/>
            <a:ext cx="41148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marL="20" indent="-10">
              <a:spcAft>
                <a:spcPts val="7"/>
              </a:spcAft>
              <a:buChar char="•"/>
              <a:defRPr sz="135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確認開始・終了Frame</a:t>
            </a:r>
          </a:p>
          <a:p xmlns:a="http://schemas.openxmlformats.org/drawingml/2006/main">
            <a:pPr marL="20" indent="-10">
              <a:spcAft>
                <a:spcPts val="7"/>
              </a:spcAft>
              <a:buChar char="•"/>
              <a:defRPr sz="135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代表Frame</a:t>
            </a:r>
          </a:p>
          <a:p xmlns:a="http://schemas.openxmlformats.org/drawingml/2006/main">
            <a:pPr marL="20" indent="-10">
              <a:spcAft>
                <a:spcPts val="7"/>
              </a:spcAft>
              <a:buChar char="•"/>
              <a:defRPr sz="135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Radar欠落の長さ</a:t>
            </a:r>
          </a:p>
          <a:p xmlns:a="http://schemas.openxmlformats.org/drawingml/2006/main">
            <a:pPr marL="20" indent="-10">
              <a:spcAft>
                <a:spcPts val="7"/>
              </a:spcAft>
              <a:buChar char="•"/>
              <a:defRPr sz="135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対象の横方向変化</a:t>
            </a:r>
          </a:p>
          <a:p xmlns:a="http://schemas.openxmlformats.org/drawingml/2006/main">
            <a:pPr marL="20" indent="-10">
              <a:spcAft>
                <a:spcPts val="7"/>
              </a:spcAft>
              <a:buChar char="•"/>
              <a:defRPr sz="135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映像で確認すべき点</a:t>
            </a:r>
          </a:p>
        </p:txBody>
      </p:sp>
      <p:sp>
        <p:nvSpPr>
          <p:cNvPr id="15" name="two-col-conclusion">
            <a:extLst xmlns:a="http://schemas.openxmlformats.org/drawingml/2006/main">
              <a:ext uri="{FF2B5EF4-FFF2-40B4-BE49-F238E27FC236}">
                <a16:creationId xmlns:a16="http://schemas.microsoft.com/office/drawing/2014/main" id="{DA6BFA64-F67F-4A79-8E4B-B80C28D41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810250"/>
            <a:ext cx="8953500" cy="4762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7F0F6"/>
          </a:solidFill>
          <a:ln xmlns:a="http://schemas.openxmlformats.org/drawingml/2006/main" w="14288">
            <a:solidFill>
              <a:srgbClr val="173F5F"/>
            </a:solidFill>
            <a:prstDash val="solid"/>
          </a:ln>
        </p:spPr>
      </p:sp>
      <p:sp>
        <p:nvSpPr>
          <p:cNvPr id="16" name="two-col-conclusion-text">
            <a:extLst xmlns:a="http://schemas.openxmlformats.org/drawingml/2006/main">
              <a:ext uri="{FF2B5EF4-FFF2-40B4-BE49-F238E27FC236}">
                <a16:creationId xmlns:a16="http://schemas.microsoft.com/office/drawing/2014/main" id="{1434F208-0620-482A-9807-7DDB7629B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5867400"/>
            <a:ext cx="847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57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Scoreだけでなく、候補化した理由をU003へ渡す</a:t>
            </a:r>
          </a:p>
        </p:txBody>
      </p:sp>
    </p:spTree>
    <p:extLst>
      <p:ext uri="{BB962C8B-B14F-4D97-AF65-F5344CB8AC3E}">
        <p14:creationId xmlns:p14="http://schemas.microsoft.com/office/powerpoint/2010/main" val="152135804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op-accent">
            <a:extLst xmlns:a="http://schemas.openxmlformats.org/drawingml/2006/main">
              <a:ext uri="{FF2B5EF4-FFF2-40B4-BE49-F238E27FC236}">
                <a16:creationId xmlns:a16="http://schemas.microsoft.com/office/drawing/2014/main" id="{446530FA-F39F-4D53-A5CC-3FD1F8EBA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F5F"/>
          </a:solidFill>
          <a:ln xmlns:a="http://schemas.openxmlformats.org/drawingml/2006/main" w="0">
            <a:solidFill>
              <a:srgbClr val="173F5F"/>
            </a:solidFill>
            <a:prstDash val="solid"/>
          </a:ln>
        </p:spPr>
      </p:sp>
      <p:sp>
        <p:nvSpPr>
          <p:cNvPr id="2" name="deck-name">
            <a:extLst xmlns:a="http://schemas.openxmlformats.org/drawingml/2006/main">
              <a:ext uri="{FF2B5EF4-FFF2-40B4-BE49-F238E27FC236}">
                <a16:creationId xmlns:a16="http://schemas.microsoft.com/office/drawing/2014/main" id="{CCAB3FFC-EEEC-48D8-80F3-E807EE902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670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U001–U003 詳細説明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AC58916-9909-46DC-93AF-47F31A63B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"/>
            <a:ext cx="11010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17324D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850" b="1">
                <a:solidFill>
                  <a:srgbClr val="17324D"/>
                </a:solidFill>
                <a:latin typeface="Hiragino Kaku Gothic ProN"/>
                <a:ea typeface="Hiragino Kaku Gothic ProN"/>
                <a:cs typeface="Hiragino Kaku Gothic ProN"/>
              </a:rPr>
              <a:t>Golden Runは、全量からReview範囲を圧縮した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FCB93324-D2DA-4FD9-BCF2-DA742093B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90550" y="1381125"/>
            <a:ext cx="110109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7C8D6"/>
            </a:solidFill>
            <a:prstDash val="solid"/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A1A0A0F2-0180-4C7B-B8F0-4F029F88D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34150"/>
            <a:ext cx="781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97222"/>
          </a:bodyPr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900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rPr>
              <a:t>ZHAO ZHILI  |  U-Series Detailed Review  |  2026-09-01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869C8DC-401B-441E-A285-F8EC06EC9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524625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97222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900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rPr>
              <a:t>11</a:t>
            </a:r>
          </a:p>
        </p:txBody>
      </p:sp>
      <p:sp>
        <p:nvSpPr>
          <p:cNvPr id="7" name="metric-0">
            <a:extLst xmlns:a="http://schemas.openxmlformats.org/drawingml/2006/main">
              <a:ext uri="{FF2B5EF4-FFF2-40B4-BE49-F238E27FC236}">
                <a16:creationId xmlns:a16="http://schemas.microsoft.com/office/drawing/2014/main" id="{6D7892D0-6E68-4875-AE53-69E1376F3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3327400" cy="180975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73F5F"/>
            </a:solidFill>
            <a:prstDash val="solid"/>
          </a:ln>
        </p:spPr>
      </p:sp>
      <p:sp>
        <p:nvSpPr>
          <p:cNvPr id="8" name="metric-value-0">
            <a:extLst xmlns:a="http://schemas.openxmlformats.org/drawingml/2006/main">
              <a:ext uri="{FF2B5EF4-FFF2-40B4-BE49-F238E27FC236}">
                <a16:creationId xmlns:a16="http://schemas.microsoft.com/office/drawing/2014/main" id="{0726FBE8-FDF2-463E-BD0B-D6111C985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095500"/>
            <a:ext cx="3098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450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3450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50,198</a:t>
            </a:r>
          </a:p>
        </p:txBody>
      </p:sp>
      <p:sp>
        <p:nvSpPr>
          <p:cNvPr id="9" name="metric-label-0">
            <a:extLst xmlns:a="http://schemas.openxmlformats.org/drawingml/2006/main">
              <a:ext uri="{FF2B5EF4-FFF2-40B4-BE49-F238E27FC236}">
                <a16:creationId xmlns:a16="http://schemas.microsoft.com/office/drawing/2014/main" id="{3B330E28-0D9A-4A81-8ACD-606A2487B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914650"/>
            <a:ext cx="3022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35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rPr>
              <a:t>入力Frame</a:t>
            </a:r>
          </a:p>
        </p:txBody>
      </p:sp>
      <p:sp>
        <p:nvSpPr>
          <p:cNvPr id="10" name="metric-1">
            <a:extLst xmlns:a="http://schemas.openxmlformats.org/drawingml/2006/main">
              <a:ext uri="{FF2B5EF4-FFF2-40B4-BE49-F238E27FC236}">
                <a16:creationId xmlns:a16="http://schemas.microsoft.com/office/drawing/2014/main" id="{018913C9-7D68-44CA-AA82-CBF53BA0A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2300" y="1809750"/>
            <a:ext cx="3327400" cy="180975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EDF4F8"/>
          </a:solidFill>
          <a:ln xmlns:a="http://schemas.openxmlformats.org/drawingml/2006/main" w="14288">
            <a:solidFill>
              <a:srgbClr val="2E6F9E"/>
            </a:solidFill>
            <a:prstDash val="solid"/>
          </a:ln>
        </p:spPr>
      </p:sp>
      <p:sp>
        <p:nvSpPr>
          <p:cNvPr id="11" name="metric-value-1">
            <a:extLst xmlns:a="http://schemas.openxmlformats.org/drawingml/2006/main">
              <a:ext uri="{FF2B5EF4-FFF2-40B4-BE49-F238E27FC236}">
                <a16:creationId xmlns:a16="http://schemas.microsoft.com/office/drawing/2014/main" id="{612EC52E-1F8D-4ED1-89E0-E00A8D168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6600" y="2095500"/>
            <a:ext cx="3098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450" b="1">
                <a:solidFill>
                  <a:srgbClr val="2E6F9E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3450" b="1">
                <a:solidFill>
                  <a:srgbClr val="2E6F9E"/>
                </a:solidFill>
                <a:latin typeface="Hiragino Kaku Gothic ProN"/>
                <a:ea typeface="Hiragino Kaku Gothic ProN"/>
                <a:cs typeface="Hiragino Kaku Gothic ProN"/>
              </a:rPr>
              <a:t>1,937</a:t>
            </a:r>
          </a:p>
        </p:txBody>
      </p:sp>
      <p:sp>
        <p:nvSpPr>
          <p:cNvPr id="12" name="metric-label-1">
            <a:extLst xmlns:a="http://schemas.openxmlformats.org/drawingml/2006/main">
              <a:ext uri="{FF2B5EF4-FFF2-40B4-BE49-F238E27FC236}">
                <a16:creationId xmlns:a16="http://schemas.microsoft.com/office/drawing/2014/main" id="{6841A41E-D79C-44D6-8E8A-B1F104494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4700" y="2914650"/>
            <a:ext cx="3022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35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rPr>
              <a:t>候補内Frame</a:t>
            </a:r>
          </a:p>
        </p:txBody>
      </p:sp>
      <p:sp>
        <p:nvSpPr>
          <p:cNvPr id="13" name="metric-2">
            <a:extLst xmlns:a="http://schemas.openxmlformats.org/drawingml/2006/main">
              <a:ext uri="{FF2B5EF4-FFF2-40B4-BE49-F238E27FC236}">
                <a16:creationId xmlns:a16="http://schemas.microsoft.com/office/drawing/2014/main" id="{79F0B500-8C60-44ED-8400-68A538BCE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7350" y="1809750"/>
            <a:ext cx="3327400" cy="180975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E5F2EE"/>
          </a:solidFill>
          <a:ln xmlns:a="http://schemas.openxmlformats.org/drawingml/2006/main" w="14288">
            <a:solidFill>
              <a:srgbClr val="2F7D68"/>
            </a:solidFill>
            <a:prstDash val="solid"/>
          </a:ln>
        </p:spPr>
      </p:sp>
      <p:sp>
        <p:nvSpPr>
          <p:cNvPr id="14" name="metric-value-2">
            <a:extLst xmlns:a="http://schemas.openxmlformats.org/drawingml/2006/main">
              <a:ext uri="{FF2B5EF4-FFF2-40B4-BE49-F238E27FC236}">
                <a16:creationId xmlns:a16="http://schemas.microsoft.com/office/drawing/2014/main" id="{8E87C321-7A2B-4102-8978-C10593CD2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1650" y="2095500"/>
            <a:ext cx="3098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450" b="1">
                <a:solidFill>
                  <a:srgbClr val="2F7D6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3450" b="1">
                <a:solidFill>
                  <a:srgbClr val="2F7D68"/>
                </a:solidFill>
                <a:latin typeface="Hiragino Kaku Gothic ProN"/>
                <a:ea typeface="Hiragino Kaku Gothic ProN"/>
                <a:cs typeface="Hiragino Kaku Gothic ProN"/>
              </a:rPr>
              <a:t>16</a:t>
            </a:r>
          </a:p>
        </p:txBody>
      </p:sp>
      <p:sp>
        <p:nvSpPr>
          <p:cNvPr id="15" name="metric-label-2">
            <a:extLst xmlns:a="http://schemas.openxmlformats.org/drawingml/2006/main">
              <a:ext uri="{FF2B5EF4-FFF2-40B4-BE49-F238E27FC236}">
                <a16:creationId xmlns:a16="http://schemas.microsoft.com/office/drawing/2014/main" id="{B608F5A2-8E33-4688-886C-B39BD8B57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9750" y="2914650"/>
            <a:ext cx="3022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35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rPr>
              <a:t>確認Window</a:t>
            </a:r>
          </a:p>
        </p:txBody>
      </p:sp>
      <p:sp>
        <p:nvSpPr>
          <p:cNvPr id="16" name="metric-explain">
            <a:extLst xmlns:a="http://schemas.openxmlformats.org/drawingml/2006/main">
              <a:ext uri="{FF2B5EF4-FFF2-40B4-BE49-F238E27FC236}">
                <a16:creationId xmlns:a16="http://schemas.microsoft.com/office/drawing/2014/main" id="{B1395408-979C-4213-A9F8-9745075AA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095750"/>
            <a:ext cx="9810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80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rPr>
              <a:t>候補内Frameは全体の約3.9%。16は16 Frameではなく、前後を含む16個のReview Window。</a:t>
            </a:r>
          </a:p>
        </p:txBody>
      </p:sp>
      <p:sp>
        <p:nvSpPr>
          <p:cNvPr id="17" name="metric-conclusion">
            <a:extLst xmlns:a="http://schemas.openxmlformats.org/drawingml/2006/main">
              <a:ext uri="{FF2B5EF4-FFF2-40B4-BE49-F238E27FC236}">
                <a16:creationId xmlns:a16="http://schemas.microsoft.com/office/drawing/2014/main" id="{E0A0A2DD-3892-4C71-9D81-7E986E573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429250"/>
            <a:ext cx="9334500" cy="6667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7F0F6"/>
          </a:solidFill>
          <a:ln xmlns:a="http://schemas.openxmlformats.org/drawingml/2006/main" w="14288">
            <a:solidFill>
              <a:srgbClr val="173F5F"/>
            </a:solidFill>
            <a:prstDash val="solid"/>
          </a:ln>
        </p:spPr>
      </p:sp>
      <p:sp>
        <p:nvSpPr>
          <p:cNvPr id="18" name="metric-conclusion-text">
            <a:extLst xmlns:a="http://schemas.openxmlformats.org/drawingml/2006/main">
              <a:ext uri="{FF2B5EF4-FFF2-40B4-BE49-F238E27FC236}">
                <a16:creationId xmlns:a16="http://schemas.microsoft.com/office/drawing/2014/main" id="{92FF0B22-A860-44C1-A315-50ABAC3F7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562600"/>
            <a:ext cx="876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650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工数削減率ではなく、まず確認範囲の圧縮を実測した</a:t>
            </a:r>
          </a:p>
        </p:txBody>
      </p:sp>
    </p:spTree>
    <p:extLst>
      <p:ext uri="{BB962C8B-B14F-4D97-AF65-F5344CB8AC3E}">
        <p14:creationId xmlns:p14="http://schemas.microsoft.com/office/powerpoint/2010/main" val="113936828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top-accent">
            <a:extLst xmlns:a="http://schemas.openxmlformats.org/drawingml/2006/main">
              <a:ext uri="{FF2B5EF4-FFF2-40B4-BE49-F238E27FC236}">
                <a16:creationId xmlns:a16="http://schemas.microsoft.com/office/drawing/2014/main" id="{0BC29236-82AF-4C3B-A88B-514656051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F5F"/>
          </a:solidFill>
          <a:ln xmlns:a="http://schemas.openxmlformats.org/drawingml/2006/main" w="0">
            <a:solidFill>
              <a:srgbClr val="173F5F"/>
            </a:solidFill>
            <a:prstDash val="solid"/>
          </a:ln>
        </p:spPr>
      </p:sp>
      <p:sp>
        <p:nvSpPr>
          <p:cNvPr id="2" name="deck-name">
            <a:extLst xmlns:a="http://schemas.openxmlformats.org/drawingml/2006/main">
              <a:ext uri="{FF2B5EF4-FFF2-40B4-BE49-F238E27FC236}">
                <a16:creationId xmlns:a16="http://schemas.microsoft.com/office/drawing/2014/main" id="{AFF29F6C-D71E-43C3-8DB9-15C76B314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670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U001–U003 詳細説明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B4BC7CF-00D8-409C-811A-F7F9FC7CA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"/>
            <a:ext cx="11010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17324D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850" b="1">
                <a:solidFill>
                  <a:srgbClr val="17324D"/>
                </a:solidFill>
                <a:latin typeface="Hiragino Kaku Gothic ProN"/>
                <a:ea typeface="Hiragino Kaku Gothic ProN"/>
                <a:cs typeface="Hiragino Kaku Gothic ProN"/>
              </a:rPr>
              <a:t>16件の内訳：15件は想定現象、1件は別現象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F1630827-9340-49C9-B1B7-7BD211981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90550" y="1381125"/>
            <a:ext cx="110109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7C8D6"/>
            </a:solidFill>
            <a:prstDash val="solid"/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1F44DF7E-2A1A-42A4-9A88-FB5FA19BC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34150"/>
            <a:ext cx="781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97222"/>
          </a:bodyPr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900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rPr>
              <a:t>ZHAO ZHILI  |  U-Series Detailed Review  |  2026-09-01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D0E4D3F-608D-4B49-8739-F70BD3AFB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524625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97222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900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rPr>
              <a:t>12</a:t>
            </a:r>
          </a:p>
        </p:txBody>
      </p:sp>
      <p:sp>
        <p:nvSpPr>
          <p:cNvPr id="7" name="flow-arrow-1">
            <a:extLst xmlns:a="http://schemas.openxmlformats.org/drawingml/2006/main">
              <a:ext uri="{FF2B5EF4-FFF2-40B4-BE49-F238E27FC236}">
                <a16:creationId xmlns:a16="http://schemas.microsoft.com/office/drawing/2014/main" id="{34D06CFF-8CAB-42AA-90FE-7DEF281C0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4070350" y="3190875"/>
            <a:ext cx="3238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B7C8D6"/>
            </a:solidFill>
            <a:prstDash val="solid"/>
          </a:ln>
        </p:spPr>
      </p:sp>
      <p:sp>
        <p:nvSpPr>
          <p:cNvPr id="8" name="flow-arrow-2">
            <a:extLst xmlns:a="http://schemas.openxmlformats.org/drawingml/2006/main">
              <a:ext uri="{FF2B5EF4-FFF2-40B4-BE49-F238E27FC236}">
                <a16:creationId xmlns:a16="http://schemas.microsoft.com/office/drawing/2014/main" id="{ECAC6DAA-7F2F-4C71-8458-54855235B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7797800" y="3190875"/>
            <a:ext cx="3238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B7C8D6"/>
            </a:solidFill>
            <a:prstDash val="solid"/>
          </a:ln>
        </p:spPr>
      </p:sp>
      <p:sp>
        <p:nvSpPr>
          <p:cNvPr id="9" name="flow-box-1">
            <a:extLst xmlns:a="http://schemas.openxmlformats.org/drawingml/2006/main">
              <a:ext uri="{FF2B5EF4-FFF2-40B4-BE49-F238E27FC236}">
                <a16:creationId xmlns:a16="http://schemas.microsoft.com/office/drawing/2014/main" id="{CBA1CEF3-DA0F-45B3-A858-1F43C2021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33625"/>
            <a:ext cx="3479800" cy="17145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E7F0F6"/>
          </a:solidFill>
          <a:ln xmlns:a="http://schemas.openxmlformats.org/drawingml/2006/main" w="14288">
            <a:solidFill>
              <a:srgbClr val="B7C8D6"/>
            </a:solidFill>
            <a:prstDash val="solid"/>
          </a:ln>
        </p:spPr>
      </p:sp>
      <p:sp>
        <p:nvSpPr>
          <p:cNvPr id="10" name="flow-badge-1">
            <a:extLst xmlns:a="http://schemas.openxmlformats.org/drawingml/2006/main">
              <a:ext uri="{FF2B5EF4-FFF2-40B4-BE49-F238E27FC236}">
                <a16:creationId xmlns:a16="http://schemas.microsoft.com/office/drawing/2014/main" id="{7E2AF246-7C4A-4AEE-9D79-5A38E13DF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9950" y="20097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F5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rPr>
              <a:t>15</a:t>
            </a:r>
          </a:p>
        </p:txBody>
      </p:sp>
      <p:sp>
        <p:nvSpPr>
          <p:cNvPr id="11" name="flow-title-1">
            <a:extLst xmlns:a="http://schemas.openxmlformats.org/drawingml/2006/main">
              <a:ext uri="{FF2B5EF4-FFF2-40B4-BE49-F238E27FC236}">
                <a16:creationId xmlns:a16="http://schemas.microsoft.com/office/drawing/2014/main" id="{A660ED1C-266E-4230-AA4B-8C9C38F4B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0325"/>
            <a:ext cx="3213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650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想定した現象と整合</a:t>
            </a:r>
          </a:p>
        </p:txBody>
      </p:sp>
      <p:sp>
        <p:nvSpPr>
          <p:cNvPr id="12" name="flow-body-1">
            <a:extLst xmlns:a="http://schemas.openxmlformats.org/drawingml/2006/main">
              <a:ext uri="{FF2B5EF4-FFF2-40B4-BE49-F238E27FC236}">
                <a16:creationId xmlns:a16="http://schemas.microsoft.com/office/drawing/2014/main" id="{50C3D12F-EEB6-4220-A195-22A0F7CAD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81350"/>
            <a:ext cx="3213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横方向の変化と</a:t>
            </a:r>
          </a:p>
          <a:p xmlns:a="http://schemas.openxmlformats.org/drawingml/2006/main">
            <a:pPr algn="ctr">
              <a:buNone/>
              <a:defRPr sz="135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Radar欠落・復帰が対応</a:t>
            </a:r>
          </a:p>
        </p:txBody>
      </p:sp>
      <p:sp>
        <p:nvSpPr>
          <p:cNvPr id="13" name="flow-box-2">
            <a:extLst xmlns:a="http://schemas.openxmlformats.org/drawingml/2006/main">
              <a:ext uri="{FF2B5EF4-FFF2-40B4-BE49-F238E27FC236}">
                <a16:creationId xmlns:a16="http://schemas.microsoft.com/office/drawing/2014/main" id="{221E531E-4684-44FE-96E2-AB6347BEA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6100" y="2333625"/>
            <a:ext cx="3479800" cy="17145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E8F1F8"/>
          </a:solidFill>
          <a:ln xmlns:a="http://schemas.openxmlformats.org/drawingml/2006/main" w="14288">
            <a:solidFill>
              <a:srgbClr val="B7C8D6"/>
            </a:solidFill>
            <a:prstDash val="solid"/>
          </a:ln>
        </p:spPr>
      </p:sp>
      <p:sp>
        <p:nvSpPr>
          <p:cNvPr id="14" name="flow-badge-2">
            <a:extLst xmlns:a="http://schemas.openxmlformats.org/drawingml/2006/main">
              <a:ext uri="{FF2B5EF4-FFF2-40B4-BE49-F238E27FC236}">
                <a16:creationId xmlns:a16="http://schemas.microsoft.com/office/drawing/2014/main" id="{43EECA2A-6B83-44CD-97B6-3994ED19A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0097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F5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rPr>
              <a:t>1</a:t>
            </a:r>
          </a:p>
        </p:txBody>
      </p:sp>
      <p:sp>
        <p:nvSpPr>
          <p:cNvPr id="15" name="flow-title-2">
            <a:extLst xmlns:a="http://schemas.openxmlformats.org/drawingml/2006/main">
              <a:ext uri="{FF2B5EF4-FFF2-40B4-BE49-F238E27FC236}">
                <a16:creationId xmlns:a16="http://schemas.microsoft.com/office/drawing/2014/main" id="{C42A1A31-020D-4BA9-8643-667F53687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450" y="2600325"/>
            <a:ext cx="3213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650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別現象として分離</a:t>
            </a:r>
          </a:p>
        </p:txBody>
      </p:sp>
      <p:sp>
        <p:nvSpPr>
          <p:cNvPr id="16" name="flow-body-2">
            <a:extLst xmlns:a="http://schemas.openxmlformats.org/drawingml/2006/main">
              <a:ext uri="{FF2B5EF4-FFF2-40B4-BE49-F238E27FC236}">
                <a16:creationId xmlns:a16="http://schemas.microsoft.com/office/drawing/2014/main" id="{C4E765A2-C89A-46CF-A1C0-631A6DE4D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450" y="3181350"/>
            <a:ext cx="3213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正面追従中の</a:t>
            </a:r>
          </a:p>
          <a:p xmlns:a="http://schemas.openxmlformats.org/drawingml/2006/main">
            <a:pPr algn="ctr">
              <a:buNone/>
              <a:defRPr sz="135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短時間Radar欠落</a:t>
            </a:r>
          </a:p>
        </p:txBody>
      </p:sp>
      <p:sp>
        <p:nvSpPr>
          <p:cNvPr id="17" name="flow-box-3">
            <a:extLst xmlns:a="http://schemas.openxmlformats.org/drawingml/2006/main">
              <a:ext uri="{FF2B5EF4-FFF2-40B4-BE49-F238E27FC236}">
                <a16:creationId xmlns:a16="http://schemas.microsoft.com/office/drawing/2014/main" id="{70093573-6196-4C7B-A604-38291B36D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3550" y="2333625"/>
            <a:ext cx="3479800" cy="17145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E5F2EE"/>
          </a:solidFill>
          <a:ln xmlns:a="http://schemas.openxmlformats.org/drawingml/2006/main" w="14288">
            <a:solidFill>
              <a:srgbClr val="B7C8D6"/>
            </a:solidFill>
            <a:prstDash val="solid"/>
          </a:ln>
        </p:spPr>
      </p:sp>
      <p:sp>
        <p:nvSpPr>
          <p:cNvPr id="18" name="flow-badge-3">
            <a:extLst xmlns:a="http://schemas.openxmlformats.org/drawingml/2006/main">
              <a:ext uri="{FF2B5EF4-FFF2-40B4-BE49-F238E27FC236}">
                <a16:creationId xmlns:a16="http://schemas.microsoft.com/office/drawing/2014/main" id="{BB7435CF-AFE2-4FB6-B970-3DACECEC2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4850" y="20097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D6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rPr>
              <a:t>0</a:t>
            </a:r>
          </a:p>
        </p:txBody>
      </p:sp>
      <p:sp>
        <p:nvSpPr>
          <p:cNvPr id="19" name="flow-title-3">
            <a:extLst xmlns:a="http://schemas.openxmlformats.org/drawingml/2006/main">
              <a:ext uri="{FF2B5EF4-FFF2-40B4-BE49-F238E27FC236}">
                <a16:creationId xmlns:a16="http://schemas.microsoft.com/office/drawing/2014/main" id="{30E22A2C-8AD7-44A0-BFEB-3C5FAFA61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6900" y="2600325"/>
            <a:ext cx="3213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650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断定したCamera故障</a:t>
            </a:r>
          </a:p>
        </p:txBody>
      </p:sp>
      <p:sp>
        <p:nvSpPr>
          <p:cNvPr id="20" name="flow-body-3">
            <a:extLst xmlns:a="http://schemas.openxmlformats.org/drawingml/2006/main">
              <a:ext uri="{FF2B5EF4-FFF2-40B4-BE49-F238E27FC236}">
                <a16:creationId xmlns:a16="http://schemas.microsoft.com/office/drawing/2014/main" id="{585BD930-BA69-4D49-9AA8-EF17C7713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6900" y="3181350"/>
            <a:ext cx="3213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Ground Truthがないため</a:t>
            </a:r>
          </a:p>
          <a:p xmlns:a="http://schemas.openxmlformats.org/drawingml/2006/main">
            <a:pPr algn="ctr">
              <a:buNone/>
              <a:defRPr sz="135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故障とは呼ばない</a:t>
            </a:r>
          </a:p>
        </p:txBody>
      </p:sp>
      <p:sp>
        <p:nvSpPr>
          <p:cNvPr id="21" name="flow-kicker">
            <a:extLst xmlns:a="http://schemas.openxmlformats.org/drawingml/2006/main">
              <a:ext uri="{FF2B5EF4-FFF2-40B4-BE49-F238E27FC236}">
                <a16:creationId xmlns:a16="http://schemas.microsoft.com/office/drawing/2014/main" id="{54010D7A-D943-4ED3-9788-B305C3114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1450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650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rPr>
              <a:t>全16件を映像とCANでReview</a:t>
            </a:r>
          </a:p>
        </p:txBody>
      </p:sp>
      <p:sp>
        <p:nvSpPr>
          <p:cNvPr id="22" name="flow-conclusion">
            <a:extLst xmlns:a="http://schemas.openxmlformats.org/drawingml/2006/main">
              <a:ext uri="{FF2B5EF4-FFF2-40B4-BE49-F238E27FC236}">
                <a16:creationId xmlns:a16="http://schemas.microsoft.com/office/drawing/2014/main" id="{36FBEF3C-20A7-4D99-97E8-8C4897937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953000"/>
            <a:ext cx="10096500" cy="7239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E7F0F6"/>
          </a:solidFill>
          <a:ln xmlns:a="http://schemas.openxmlformats.org/drawingml/2006/main" w="14288">
            <a:solidFill>
              <a:srgbClr val="173F5F"/>
            </a:solidFill>
            <a:prstDash val="solid"/>
          </a:ln>
        </p:spPr>
      </p:sp>
      <p:sp>
        <p:nvSpPr>
          <p:cNvPr id="23" name="flow-conclusion-text">
            <a:extLst xmlns:a="http://schemas.openxmlformats.org/drawingml/2006/main">
              <a:ext uri="{FF2B5EF4-FFF2-40B4-BE49-F238E27FC236}">
                <a16:creationId xmlns:a16="http://schemas.microsoft.com/office/drawing/2014/main" id="{45D54776-8780-4AA0-BFF1-5046A85FD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114925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7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15 + 1は分類結果であり、15件の故障という意味ではない</a:t>
            </a:r>
          </a:p>
        </p:txBody>
      </p:sp>
    </p:spTree>
    <p:extLst>
      <p:ext uri="{BB962C8B-B14F-4D97-AF65-F5344CB8AC3E}">
        <p14:creationId xmlns:p14="http://schemas.microsoft.com/office/powerpoint/2010/main" val="39231311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top-accent">
            <a:extLst xmlns:a="http://schemas.openxmlformats.org/drawingml/2006/main">
              <a:ext uri="{FF2B5EF4-FFF2-40B4-BE49-F238E27FC236}">
                <a16:creationId xmlns:a16="http://schemas.microsoft.com/office/drawing/2014/main" id="{6209E79B-4422-45DE-8BB5-CC29FAC5E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F5F"/>
          </a:solidFill>
          <a:ln xmlns:a="http://schemas.openxmlformats.org/drawingml/2006/main" w="0">
            <a:solidFill>
              <a:srgbClr val="173F5F"/>
            </a:solidFill>
            <a:prstDash val="solid"/>
          </a:ln>
        </p:spPr>
      </p:sp>
      <p:sp>
        <p:nvSpPr>
          <p:cNvPr id="2" name="deck-name">
            <a:extLst xmlns:a="http://schemas.openxmlformats.org/drawingml/2006/main">
              <a:ext uri="{FF2B5EF4-FFF2-40B4-BE49-F238E27FC236}">
                <a16:creationId xmlns:a16="http://schemas.microsoft.com/office/drawing/2014/main" id="{1721907B-1DF8-4F2D-BDBB-DAB06DADC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670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U001–U003 詳細説明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CE7C8DA-7DD1-419C-A3AE-99CE4E575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"/>
            <a:ext cx="11010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17324D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850" b="1">
                <a:solidFill>
                  <a:srgbClr val="17324D"/>
                </a:solidFill>
                <a:latin typeface="Hiragino Kaku Gothic ProN"/>
                <a:ea typeface="Hiragino Kaku Gothic ProN"/>
                <a:cs typeface="Hiragino Kaku Gothic ProN"/>
              </a:rPr>
              <a:t>代表区間で、U003が何を確認したか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BEFA1F30-76A2-47F0-8A13-0CBBD6211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90550" y="1381125"/>
            <a:ext cx="110109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7C8D6"/>
            </a:solidFill>
            <a:prstDash val="solid"/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75728F57-D5B9-45C1-9455-3040FBAFE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34150"/>
            <a:ext cx="781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97222"/>
          </a:bodyPr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900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rPr>
              <a:t>ZHAO ZHILI  |  U-Series Detailed Review  |  2026-09-01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5D5359C7-3D18-486D-B7D3-8B78B12D1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524625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97222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900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rPr>
              <a:t>13</a:t>
            </a:r>
          </a:p>
        </p:txBody>
      </p:sp>
      <p:sp>
        <p:nvSpPr>
          <p:cNvPr id="7" name="flow-arrow-1">
            <a:extLst xmlns:a="http://schemas.openxmlformats.org/drawingml/2006/main">
              <a:ext uri="{FF2B5EF4-FFF2-40B4-BE49-F238E27FC236}">
                <a16:creationId xmlns:a16="http://schemas.microsoft.com/office/drawing/2014/main" id="{3862D7B0-2861-4E20-9D97-DDBAEBC06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2286000" y="3190875"/>
            <a:ext cx="228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B7C8D6"/>
            </a:solidFill>
            <a:prstDash val="solid"/>
          </a:ln>
        </p:spPr>
      </p:sp>
      <p:sp>
        <p:nvSpPr>
          <p:cNvPr id="8" name="flow-arrow-2">
            <a:extLst xmlns:a="http://schemas.openxmlformats.org/drawingml/2006/main">
              <a:ext uri="{FF2B5EF4-FFF2-40B4-BE49-F238E27FC236}">
                <a16:creationId xmlns:a16="http://schemas.microsoft.com/office/drawing/2014/main" id="{1F901E21-8F61-4ED9-B4B2-6BA70A05E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4133850" y="3190875"/>
            <a:ext cx="228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B7C8D6"/>
            </a:solidFill>
            <a:prstDash val="solid"/>
          </a:ln>
        </p:spPr>
      </p:sp>
      <p:sp>
        <p:nvSpPr>
          <p:cNvPr id="9" name="flow-arrow-3">
            <a:extLst xmlns:a="http://schemas.openxmlformats.org/drawingml/2006/main">
              <a:ext uri="{FF2B5EF4-FFF2-40B4-BE49-F238E27FC236}">
                <a16:creationId xmlns:a16="http://schemas.microsoft.com/office/drawing/2014/main" id="{D6810145-9195-4D09-B390-BB5D34B39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981700" y="3190875"/>
            <a:ext cx="228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B7C8D6"/>
            </a:solidFill>
            <a:prstDash val="solid"/>
          </a:ln>
        </p:spPr>
      </p:sp>
      <p:sp>
        <p:nvSpPr>
          <p:cNvPr id="10" name="flow-arrow-4">
            <a:extLst xmlns:a="http://schemas.openxmlformats.org/drawingml/2006/main">
              <a:ext uri="{FF2B5EF4-FFF2-40B4-BE49-F238E27FC236}">
                <a16:creationId xmlns:a16="http://schemas.microsoft.com/office/drawing/2014/main" id="{270CEFFB-F459-40AB-8F54-A23993E3C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7829550" y="3190875"/>
            <a:ext cx="228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B7C8D6"/>
            </a:solidFill>
            <a:prstDash val="solid"/>
          </a:ln>
        </p:spPr>
      </p:sp>
      <p:sp>
        <p:nvSpPr>
          <p:cNvPr id="11" name="flow-arrow-5">
            <a:extLst xmlns:a="http://schemas.openxmlformats.org/drawingml/2006/main">
              <a:ext uri="{FF2B5EF4-FFF2-40B4-BE49-F238E27FC236}">
                <a16:creationId xmlns:a16="http://schemas.microsoft.com/office/drawing/2014/main" id="{E7F6AEBF-1B67-4184-B216-7A65972AF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9677400" y="3190875"/>
            <a:ext cx="228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B7C8D6"/>
            </a:solidFill>
            <a:prstDash val="solid"/>
          </a:ln>
        </p:spPr>
      </p:sp>
      <p:sp>
        <p:nvSpPr>
          <p:cNvPr id="12" name="flow-box-1">
            <a:extLst xmlns:a="http://schemas.openxmlformats.org/drawingml/2006/main">
              <a:ext uri="{FF2B5EF4-FFF2-40B4-BE49-F238E27FC236}">
                <a16:creationId xmlns:a16="http://schemas.microsoft.com/office/drawing/2014/main" id="{FC60123A-00CE-4E12-B489-6861E9C0A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33625"/>
            <a:ext cx="1695450" cy="1714500"/>
          </a:xfrm>
          <a:prstGeom xmlns:a="http://schemas.openxmlformats.org/drawingml/2006/main" prst="roundRect">
            <a:avLst>
              <a:gd name="adj" fmla="val 22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7C8D6"/>
            </a:solidFill>
            <a:prstDash val="solid"/>
          </a:ln>
        </p:spPr>
      </p:sp>
      <p:sp>
        <p:nvSpPr>
          <p:cNvPr id="13" name="flow-title-1">
            <a:extLst xmlns:a="http://schemas.openxmlformats.org/drawingml/2006/main">
              <a:ext uri="{FF2B5EF4-FFF2-40B4-BE49-F238E27FC236}">
                <a16:creationId xmlns:a16="http://schemas.microsoft.com/office/drawing/2014/main" id="{8EE7FC25-7FFE-4D70-93AE-1B6D5C1A5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0325"/>
            <a:ext cx="142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4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41,380</a:t>
            </a:r>
          </a:p>
        </p:txBody>
      </p:sp>
      <p:sp>
        <p:nvSpPr>
          <p:cNvPr id="14" name="flow-body-1">
            <a:extLst xmlns:a="http://schemas.openxmlformats.org/drawingml/2006/main">
              <a:ext uri="{FF2B5EF4-FFF2-40B4-BE49-F238E27FC236}">
                <a16:creationId xmlns:a16="http://schemas.microsoft.com/office/drawing/2014/main" id="{8AA49447-9CB0-4B5D-9DEE-357F4D1BB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81350"/>
            <a:ext cx="142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確認窓を開始</a:t>
            </a:r>
          </a:p>
        </p:txBody>
      </p:sp>
      <p:sp>
        <p:nvSpPr>
          <p:cNvPr id="15" name="flow-box-2">
            <a:extLst xmlns:a="http://schemas.openxmlformats.org/drawingml/2006/main">
              <a:ext uri="{FF2B5EF4-FFF2-40B4-BE49-F238E27FC236}">
                <a16:creationId xmlns:a16="http://schemas.microsoft.com/office/drawing/2014/main" id="{DECDDACA-EAE8-4472-A0C2-6138131E1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333625"/>
            <a:ext cx="1695450" cy="1714500"/>
          </a:xfrm>
          <a:prstGeom xmlns:a="http://schemas.openxmlformats.org/drawingml/2006/main" prst="roundRect">
            <a:avLst>
              <a:gd name="adj" fmla="val 22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7C8D6"/>
            </a:solidFill>
            <a:prstDash val="solid"/>
          </a:ln>
        </p:spPr>
      </p:sp>
      <p:sp>
        <p:nvSpPr>
          <p:cNvPr id="16" name="flow-title-2">
            <a:extLst xmlns:a="http://schemas.openxmlformats.org/drawingml/2006/main">
              <a:ext uri="{FF2B5EF4-FFF2-40B4-BE49-F238E27FC236}">
                <a16:creationId xmlns:a16="http://schemas.microsoft.com/office/drawing/2014/main" id="{2AD66484-68DE-4C47-858E-E8F1578B4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600325"/>
            <a:ext cx="142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4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横位置増加</a:t>
            </a:r>
          </a:p>
        </p:txBody>
      </p:sp>
      <p:sp>
        <p:nvSpPr>
          <p:cNvPr id="17" name="flow-body-2">
            <a:extLst xmlns:a="http://schemas.openxmlformats.org/drawingml/2006/main">
              <a:ext uri="{FF2B5EF4-FFF2-40B4-BE49-F238E27FC236}">
                <a16:creationId xmlns:a16="http://schemas.microsoft.com/office/drawing/2014/main" id="{3E51EAA8-6C6F-495D-A2A6-1FCFEEFB7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181350"/>
            <a:ext cx="142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対象が中心から
外れる</a:t>
            </a:r>
          </a:p>
        </p:txBody>
      </p:sp>
      <p:sp>
        <p:nvSpPr>
          <p:cNvPr id="18" name="flow-box-3">
            <a:extLst xmlns:a="http://schemas.openxmlformats.org/drawingml/2006/main">
              <a:ext uri="{FF2B5EF4-FFF2-40B4-BE49-F238E27FC236}">
                <a16:creationId xmlns:a16="http://schemas.microsoft.com/office/drawing/2014/main" id="{EB27E90C-C6FA-4AE5-B9FE-E71CD8D29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333625"/>
            <a:ext cx="1695450" cy="1714500"/>
          </a:xfrm>
          <a:prstGeom xmlns:a="http://schemas.openxmlformats.org/drawingml/2006/main" prst="roundRect">
            <a:avLst>
              <a:gd name="adj" fmla="val 22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7C8D6"/>
            </a:solidFill>
            <a:prstDash val="solid"/>
          </a:ln>
        </p:spPr>
      </p:sp>
      <p:sp>
        <p:nvSpPr>
          <p:cNvPr id="19" name="flow-title-3">
            <a:extLst xmlns:a="http://schemas.openxmlformats.org/drawingml/2006/main">
              <a:ext uri="{FF2B5EF4-FFF2-40B4-BE49-F238E27FC236}">
                <a16:creationId xmlns:a16="http://schemas.microsoft.com/office/drawing/2014/main" id="{3D58DB3E-444E-4715-B5DF-BEF6423A4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600325"/>
            <a:ext cx="142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4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約41,520</a:t>
            </a:r>
          </a:p>
        </p:txBody>
      </p:sp>
      <p:sp>
        <p:nvSpPr>
          <p:cNvPr id="20" name="flow-body-3">
            <a:extLst xmlns:a="http://schemas.openxmlformats.org/drawingml/2006/main">
              <a:ext uri="{FF2B5EF4-FFF2-40B4-BE49-F238E27FC236}">
                <a16:creationId xmlns:a16="http://schemas.microsoft.com/office/drawing/2014/main" id="{7272BC13-54AD-4973-8A0E-A40678E94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181350"/>
            <a:ext cx="142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Radar距離が
継続して欠落</a:t>
            </a:r>
          </a:p>
        </p:txBody>
      </p:sp>
      <p:sp>
        <p:nvSpPr>
          <p:cNvPr id="21" name="flow-box-4">
            <a:extLst xmlns:a="http://schemas.openxmlformats.org/drawingml/2006/main">
              <a:ext uri="{FF2B5EF4-FFF2-40B4-BE49-F238E27FC236}">
                <a16:creationId xmlns:a16="http://schemas.microsoft.com/office/drawing/2014/main" id="{147506D8-3B0B-4FE0-83E9-AA1D9A717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333625"/>
            <a:ext cx="1695450" cy="1714500"/>
          </a:xfrm>
          <a:prstGeom xmlns:a="http://schemas.openxmlformats.org/drawingml/2006/main" prst="roundRect">
            <a:avLst>
              <a:gd name="adj" fmla="val 22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7C8D6"/>
            </a:solidFill>
            <a:prstDash val="solid"/>
          </a:ln>
        </p:spPr>
      </p:sp>
      <p:sp>
        <p:nvSpPr>
          <p:cNvPr id="22" name="flow-title-4">
            <a:extLst xmlns:a="http://schemas.openxmlformats.org/drawingml/2006/main">
              <a:ext uri="{FF2B5EF4-FFF2-40B4-BE49-F238E27FC236}">
                <a16:creationId xmlns:a16="http://schemas.microsoft.com/office/drawing/2014/main" id="{D2F25FDA-CDC4-4A90-AABF-84F3106E8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600325"/>
            <a:ext cx="142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4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中心へ戻る</a:t>
            </a:r>
          </a:p>
        </p:txBody>
      </p:sp>
      <p:sp>
        <p:nvSpPr>
          <p:cNvPr id="23" name="flow-body-4">
            <a:extLst xmlns:a="http://schemas.openxmlformats.org/drawingml/2006/main">
              <a:ext uri="{FF2B5EF4-FFF2-40B4-BE49-F238E27FC236}">
                <a16:creationId xmlns:a16="http://schemas.microsoft.com/office/drawing/2014/main" id="{A1D64EF8-C131-4CA0-A0BC-95C070F0A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181350"/>
            <a:ext cx="142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Camera横位置が
小さくなる</a:t>
            </a:r>
          </a:p>
        </p:txBody>
      </p:sp>
      <p:sp>
        <p:nvSpPr>
          <p:cNvPr id="24" name="flow-box-5">
            <a:extLst xmlns:a="http://schemas.openxmlformats.org/drawingml/2006/main">
              <a:ext uri="{FF2B5EF4-FFF2-40B4-BE49-F238E27FC236}">
                <a16:creationId xmlns:a16="http://schemas.microsoft.com/office/drawing/2014/main" id="{10A7A31A-DB7F-4239-8CEC-5A14FFDC2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33625"/>
            <a:ext cx="1695450" cy="1714500"/>
          </a:xfrm>
          <a:prstGeom xmlns:a="http://schemas.openxmlformats.org/drawingml/2006/main" prst="roundRect">
            <a:avLst>
              <a:gd name="adj" fmla="val 22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7C8D6"/>
            </a:solidFill>
            <a:prstDash val="solid"/>
          </a:ln>
        </p:spPr>
      </p:sp>
      <p:sp>
        <p:nvSpPr>
          <p:cNvPr id="25" name="flow-title-5">
            <a:extLst xmlns:a="http://schemas.openxmlformats.org/drawingml/2006/main">
              <a:ext uri="{FF2B5EF4-FFF2-40B4-BE49-F238E27FC236}">
                <a16:creationId xmlns:a16="http://schemas.microsoft.com/office/drawing/2014/main" id="{B27E271A-2807-43EE-8A4A-AD0C08A62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600325"/>
            <a:ext cx="142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4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約41,598</a:t>
            </a:r>
          </a:p>
        </p:txBody>
      </p:sp>
      <p:sp>
        <p:nvSpPr>
          <p:cNvPr id="26" name="flow-body-5">
            <a:extLst xmlns:a="http://schemas.openxmlformats.org/drawingml/2006/main">
              <a:ext uri="{FF2B5EF4-FFF2-40B4-BE49-F238E27FC236}">
                <a16:creationId xmlns:a16="http://schemas.microsoft.com/office/drawing/2014/main" id="{56661279-26D5-4DE0-89AC-565BC7D7D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181350"/>
            <a:ext cx="142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Radar追跡が
遅れて復帰</a:t>
            </a:r>
          </a:p>
        </p:txBody>
      </p:sp>
      <p:sp>
        <p:nvSpPr>
          <p:cNvPr id="27" name="flow-box-6">
            <a:extLst xmlns:a="http://schemas.openxmlformats.org/drawingml/2006/main">
              <a:ext uri="{FF2B5EF4-FFF2-40B4-BE49-F238E27FC236}">
                <a16:creationId xmlns:a16="http://schemas.microsoft.com/office/drawing/2014/main" id="{9DCC640B-9B50-49EA-97FF-A72D70D03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333625"/>
            <a:ext cx="1695450" cy="1714500"/>
          </a:xfrm>
          <a:prstGeom xmlns:a="http://schemas.openxmlformats.org/drawingml/2006/main" prst="roundRect">
            <a:avLst>
              <a:gd name="adj" fmla="val 2247"/>
            </a:avLst>
          </a:prstGeom>
          <a:solidFill xmlns:a="http://schemas.openxmlformats.org/drawingml/2006/main">
            <a:srgbClr val="E5F2EE"/>
          </a:solidFill>
          <a:ln xmlns:a="http://schemas.openxmlformats.org/drawingml/2006/main" w="14288">
            <a:solidFill>
              <a:srgbClr val="2F7D68"/>
            </a:solidFill>
            <a:prstDash val="solid"/>
          </a:ln>
        </p:spPr>
      </p:sp>
      <p:sp>
        <p:nvSpPr>
          <p:cNvPr id="28" name="flow-title-6">
            <a:extLst xmlns:a="http://schemas.openxmlformats.org/drawingml/2006/main">
              <a:ext uri="{FF2B5EF4-FFF2-40B4-BE49-F238E27FC236}">
                <a16:creationId xmlns:a16="http://schemas.microsoft.com/office/drawing/2014/main" id="{7CAC8D28-CC0C-40DA-B770-A6E3FCA72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600325"/>
            <a:ext cx="142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4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判断</a:t>
            </a:r>
          </a:p>
        </p:txBody>
      </p:sp>
      <p:sp>
        <p:nvSpPr>
          <p:cNvPr id="29" name="flow-body-6">
            <a:extLst xmlns:a="http://schemas.openxmlformats.org/drawingml/2006/main">
              <a:ext uri="{FF2B5EF4-FFF2-40B4-BE49-F238E27FC236}">
                <a16:creationId xmlns:a16="http://schemas.microsoft.com/office/drawing/2014/main" id="{C44E7A93-251D-49F9-A085-B3F32950C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181350"/>
            <a:ext cx="142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横方向変化と</a:t>
            </a:r>
          </a:p>
          <a:p xmlns:a="http://schemas.openxmlformats.org/drawingml/2006/main">
            <a:pPr algn="ctr">
              <a:buNone/>
              <a:defRPr sz="120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復帰遅れを記録</a:t>
            </a:r>
          </a:p>
        </p:txBody>
      </p:sp>
      <p:sp>
        <p:nvSpPr>
          <p:cNvPr id="30" name="flow-conclusion">
            <a:extLst xmlns:a="http://schemas.openxmlformats.org/drawingml/2006/main">
              <a:ext uri="{FF2B5EF4-FFF2-40B4-BE49-F238E27FC236}">
                <a16:creationId xmlns:a16="http://schemas.microsoft.com/office/drawing/2014/main" id="{E2BAB2AF-9512-4A51-8A8A-E333685DC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953000"/>
            <a:ext cx="10096500" cy="7239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E7F0F6"/>
          </a:solidFill>
          <a:ln xmlns:a="http://schemas.openxmlformats.org/drawingml/2006/main" w="14288">
            <a:solidFill>
              <a:srgbClr val="173F5F"/>
            </a:solidFill>
            <a:prstDash val="solid"/>
          </a:ln>
        </p:spPr>
      </p:sp>
      <p:sp>
        <p:nvSpPr>
          <p:cNvPr id="31" name="flow-conclusion-text">
            <a:extLst xmlns:a="http://schemas.openxmlformats.org/drawingml/2006/main">
              <a:ext uri="{FF2B5EF4-FFF2-40B4-BE49-F238E27FC236}">
                <a16:creationId xmlns:a16="http://schemas.microsoft.com/office/drawing/2014/main" id="{AEC4F46B-95DC-4797-A40A-B187925FD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114925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7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Videoの見え方、CANの変化、Moduleの理由を同じ時間軸で確認</a:t>
            </a:r>
          </a:p>
        </p:txBody>
      </p:sp>
    </p:spTree>
    <p:extLst>
      <p:ext uri="{BB962C8B-B14F-4D97-AF65-F5344CB8AC3E}">
        <p14:creationId xmlns:p14="http://schemas.microsoft.com/office/powerpoint/2010/main" val="80886878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top-accent">
            <a:extLst xmlns:a="http://schemas.openxmlformats.org/drawingml/2006/main">
              <a:ext uri="{FF2B5EF4-FFF2-40B4-BE49-F238E27FC236}">
                <a16:creationId xmlns:a16="http://schemas.microsoft.com/office/drawing/2014/main" id="{43C3869A-2446-49CE-BF92-A806E879A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F5F"/>
          </a:solidFill>
          <a:ln xmlns:a="http://schemas.openxmlformats.org/drawingml/2006/main" w="0">
            <a:solidFill>
              <a:srgbClr val="173F5F"/>
            </a:solidFill>
            <a:prstDash val="solid"/>
          </a:ln>
        </p:spPr>
      </p:sp>
      <p:sp>
        <p:nvSpPr>
          <p:cNvPr id="2" name="deck-name">
            <a:extLst xmlns:a="http://schemas.openxmlformats.org/drawingml/2006/main">
              <a:ext uri="{FF2B5EF4-FFF2-40B4-BE49-F238E27FC236}">
                <a16:creationId xmlns:a16="http://schemas.microsoft.com/office/drawing/2014/main" id="{1783E163-4A5F-474A-B73E-864F3C208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670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U001–U003 詳細説明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1CC43D0-25F9-4DEB-A37F-948C08FB0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"/>
            <a:ext cx="11010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17324D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850" b="1">
                <a:solidFill>
                  <a:srgbClr val="17324D"/>
                </a:solidFill>
                <a:latin typeface="Hiragino Kaku Gothic ProN"/>
                <a:ea typeface="Hiragino Kaku Gothic ProN"/>
                <a:cs typeface="Hiragino Kaku Gothic ProN"/>
              </a:rPr>
              <a:t>Golden Runで確認できたこと／まだ確認していないこと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D3E7C4F2-C960-4C4E-A752-21C532A59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90550" y="1381125"/>
            <a:ext cx="110109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7C8D6"/>
            </a:solidFill>
            <a:prstDash val="solid"/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895B925A-AE08-4F5D-9DC3-BA175C0E7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34150"/>
            <a:ext cx="781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97222"/>
          </a:bodyPr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900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rPr>
              <a:t>ZHAO ZHILI  |  U-Series Detailed Review  |  2026-09-01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5E30254-8831-43D2-9F36-CDAD3B73A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524625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97222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900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rPr>
              <a:t>14</a:t>
            </a:r>
          </a:p>
        </p:txBody>
      </p:sp>
      <p:sp>
        <p:nvSpPr>
          <p:cNvPr id="7" name="q-index-0-0">
            <a:extLst xmlns:a="http://schemas.openxmlformats.org/drawingml/2006/main">
              <a:ext uri="{FF2B5EF4-FFF2-40B4-BE49-F238E27FC236}">
                <a16:creationId xmlns:a16="http://schemas.microsoft.com/office/drawing/2014/main" id="{23D2C955-C489-44F2-A9BF-BC72720F4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526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F5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50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rPr>
              <a:t>1</a:t>
            </a:r>
          </a:p>
        </p:txBody>
      </p:sp>
      <p:sp>
        <p:nvSpPr>
          <p:cNvPr id="8" name="q-index-text-0-0">
            <a:extLst xmlns:a="http://schemas.openxmlformats.org/drawingml/2006/main">
              <a:ext uri="{FF2B5EF4-FFF2-40B4-BE49-F238E27FC236}">
                <a16:creationId xmlns:a16="http://schemas.microsoft.com/office/drawing/2014/main" id="{4F89CC7E-0F02-4763-AE16-D3E4FE185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733550"/>
            <a:ext cx="447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7324D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350" b="1">
                <a:solidFill>
                  <a:srgbClr val="17324D"/>
                </a:solidFill>
                <a:latin typeface="Hiragino Kaku Gothic ProN"/>
                <a:ea typeface="Hiragino Kaku Gothic ProN"/>
                <a:cs typeface="Hiragino Kaku Gothic ProN"/>
              </a:rPr>
              <a:t>確認済：三つのProgramが接続</a:t>
            </a:r>
          </a:p>
        </p:txBody>
      </p:sp>
      <p:sp>
        <p:nvSpPr>
          <p:cNvPr id="9" name="q-index-rule-0-0">
            <a:extLst xmlns:a="http://schemas.openxmlformats.org/drawingml/2006/main">
              <a:ext uri="{FF2B5EF4-FFF2-40B4-BE49-F238E27FC236}">
                <a16:creationId xmlns:a16="http://schemas.microsoft.com/office/drawing/2014/main" id="{0DBDA3DD-69BF-4CB4-91DE-8D312CF36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1409700" y="2324100"/>
            <a:ext cx="42100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DF1"/>
            </a:solidFill>
            <a:prstDash val="solid"/>
          </a:ln>
        </p:spPr>
      </p:sp>
      <p:sp>
        <p:nvSpPr>
          <p:cNvPr id="10" name="q-index-0-1">
            <a:extLst xmlns:a="http://schemas.openxmlformats.org/drawingml/2006/main">
              <a:ext uri="{FF2B5EF4-FFF2-40B4-BE49-F238E27FC236}">
                <a16:creationId xmlns:a16="http://schemas.microsoft.com/office/drawing/2014/main" id="{C4ABB386-F922-4941-B3EA-BA1D13555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717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F5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50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rPr>
              <a:t>2</a:t>
            </a:r>
          </a:p>
        </p:txBody>
      </p:sp>
      <p:sp>
        <p:nvSpPr>
          <p:cNvPr id="11" name="q-index-text-0-1">
            <a:extLst xmlns:a="http://schemas.openxmlformats.org/drawingml/2006/main">
              <a:ext uri="{FF2B5EF4-FFF2-40B4-BE49-F238E27FC236}">
                <a16:creationId xmlns:a16="http://schemas.microsoft.com/office/drawing/2014/main" id="{00ACF83B-B70F-402E-AA88-0CD5DE514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552700"/>
            <a:ext cx="447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7324D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350" b="1">
                <a:solidFill>
                  <a:srgbClr val="17324D"/>
                </a:solidFill>
                <a:latin typeface="Hiragino Kaku Gothic ProN"/>
                <a:ea typeface="Hiragino Kaku Gothic ProN"/>
                <a:cs typeface="Hiragino Kaku Gothic ProN"/>
              </a:rPr>
              <a:t>確認済：全16 WindowをReview</a:t>
            </a:r>
          </a:p>
        </p:txBody>
      </p:sp>
      <p:sp>
        <p:nvSpPr>
          <p:cNvPr id="12" name="q-index-rule-0-1">
            <a:extLst xmlns:a="http://schemas.openxmlformats.org/drawingml/2006/main">
              <a:ext uri="{FF2B5EF4-FFF2-40B4-BE49-F238E27FC236}">
                <a16:creationId xmlns:a16="http://schemas.microsoft.com/office/drawing/2014/main" id="{A5F2FBC0-A876-4B92-9217-26E71011D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1409700" y="3143250"/>
            <a:ext cx="42100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DF1"/>
            </a:solidFill>
            <a:prstDash val="solid"/>
          </a:ln>
        </p:spPr>
      </p:sp>
      <p:sp>
        <p:nvSpPr>
          <p:cNvPr id="13" name="q-index-0-2">
            <a:extLst xmlns:a="http://schemas.openxmlformats.org/drawingml/2006/main">
              <a:ext uri="{FF2B5EF4-FFF2-40B4-BE49-F238E27FC236}">
                <a16:creationId xmlns:a16="http://schemas.microsoft.com/office/drawing/2014/main" id="{935E23EB-C210-476C-9BD7-BFF431207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909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F5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50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rPr>
              <a:t>3</a:t>
            </a:r>
          </a:p>
        </p:txBody>
      </p:sp>
      <p:sp>
        <p:nvSpPr>
          <p:cNvPr id="14" name="q-index-text-0-2">
            <a:extLst xmlns:a="http://schemas.openxmlformats.org/drawingml/2006/main">
              <a:ext uri="{FF2B5EF4-FFF2-40B4-BE49-F238E27FC236}">
                <a16:creationId xmlns:a16="http://schemas.microsoft.com/office/drawing/2014/main" id="{771747AD-8529-4219-935A-F62B55E90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371850"/>
            <a:ext cx="447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7324D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350" b="1">
                <a:solidFill>
                  <a:srgbClr val="17324D"/>
                </a:solidFill>
                <a:latin typeface="Hiragino Kaku Gothic ProN"/>
                <a:ea typeface="Hiragino Kaku Gothic ProN"/>
                <a:cs typeface="Hiragino Kaku Gothic ProN"/>
              </a:rPr>
              <a:t>確認済：候補理由と現象が対応</a:t>
            </a:r>
          </a:p>
        </p:txBody>
      </p:sp>
      <p:sp>
        <p:nvSpPr>
          <p:cNvPr id="15" name="q-index-rule-0-2">
            <a:extLst xmlns:a="http://schemas.openxmlformats.org/drawingml/2006/main">
              <a:ext uri="{FF2B5EF4-FFF2-40B4-BE49-F238E27FC236}">
                <a16:creationId xmlns:a16="http://schemas.microsoft.com/office/drawing/2014/main" id="{C99ECE1A-599A-4647-BFED-E2E9272F4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1409700" y="3962400"/>
            <a:ext cx="42100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DF1"/>
            </a:solidFill>
            <a:prstDash val="solid"/>
          </a:ln>
        </p:spPr>
      </p:sp>
      <p:sp>
        <p:nvSpPr>
          <p:cNvPr id="16" name="q-index-0-3">
            <a:extLst xmlns:a="http://schemas.openxmlformats.org/drawingml/2006/main">
              <a:ext uri="{FF2B5EF4-FFF2-40B4-BE49-F238E27FC236}">
                <a16:creationId xmlns:a16="http://schemas.microsoft.com/office/drawing/2014/main" id="{0A1B3187-15F6-48C8-B93D-805881710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100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F5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50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rPr>
              <a:t>4</a:t>
            </a:r>
          </a:p>
        </p:txBody>
      </p:sp>
      <p:sp>
        <p:nvSpPr>
          <p:cNvPr id="17" name="q-index-text-0-3">
            <a:extLst xmlns:a="http://schemas.openxmlformats.org/drawingml/2006/main">
              <a:ext uri="{FF2B5EF4-FFF2-40B4-BE49-F238E27FC236}">
                <a16:creationId xmlns:a16="http://schemas.microsoft.com/office/drawing/2014/main" id="{F87DEA3A-EF01-47AE-92B5-8C3BB3388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191000"/>
            <a:ext cx="447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7324D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350" b="1">
                <a:solidFill>
                  <a:srgbClr val="17324D"/>
                </a:solidFill>
                <a:latin typeface="Hiragino Kaku Gothic ProN"/>
                <a:ea typeface="Hiragino Kaku Gothic ProN"/>
                <a:cs typeface="Hiragino Kaku Gothic ProN"/>
              </a:rPr>
              <a:t>確認済：別現象を分離</a:t>
            </a:r>
          </a:p>
        </p:txBody>
      </p:sp>
      <p:sp>
        <p:nvSpPr>
          <p:cNvPr id="18" name="q-index-rule-0-3">
            <a:extLst xmlns:a="http://schemas.openxmlformats.org/drawingml/2006/main">
              <a:ext uri="{FF2B5EF4-FFF2-40B4-BE49-F238E27FC236}">
                <a16:creationId xmlns:a16="http://schemas.microsoft.com/office/drawing/2014/main" id="{CBD81FA5-1864-41E8-8087-7EF7B3BBE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1409700" y="4781550"/>
            <a:ext cx="42100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DF1"/>
            </a:solidFill>
            <a:prstDash val="solid"/>
          </a:ln>
        </p:spPr>
      </p:sp>
      <p:sp>
        <p:nvSpPr>
          <p:cNvPr id="19" name="q-index-0-4">
            <a:extLst xmlns:a="http://schemas.openxmlformats.org/drawingml/2006/main">
              <a:ext uri="{FF2B5EF4-FFF2-40B4-BE49-F238E27FC236}">
                <a16:creationId xmlns:a16="http://schemas.microsoft.com/office/drawing/2014/main" id="{FAF19F54-38EF-437C-8E22-81DD30825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292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F5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50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rPr>
              <a:t>5</a:t>
            </a:r>
          </a:p>
        </p:txBody>
      </p:sp>
      <p:sp>
        <p:nvSpPr>
          <p:cNvPr id="20" name="q-index-text-0-4">
            <a:extLst xmlns:a="http://schemas.openxmlformats.org/drawingml/2006/main">
              <a:ext uri="{FF2B5EF4-FFF2-40B4-BE49-F238E27FC236}">
                <a16:creationId xmlns:a16="http://schemas.microsoft.com/office/drawing/2014/main" id="{933A5477-882E-4313-A05F-A733DF2E8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010150"/>
            <a:ext cx="447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7324D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350" b="1">
                <a:solidFill>
                  <a:srgbClr val="17324D"/>
                </a:solidFill>
                <a:latin typeface="Hiragino Kaku Gothic ProN"/>
                <a:ea typeface="Hiragino Kaku Gothic ProN"/>
                <a:cs typeface="Hiragino Kaku Gothic ProN"/>
              </a:rPr>
              <a:t>確認済：結果を再追跡可能</a:t>
            </a:r>
          </a:p>
        </p:txBody>
      </p:sp>
      <p:sp>
        <p:nvSpPr>
          <p:cNvPr id="21" name="q-index-rule-0-4">
            <a:extLst xmlns:a="http://schemas.openxmlformats.org/drawingml/2006/main">
              <a:ext uri="{FF2B5EF4-FFF2-40B4-BE49-F238E27FC236}">
                <a16:creationId xmlns:a16="http://schemas.microsoft.com/office/drawing/2014/main" id="{65C06157-4E75-4A35-A92D-71DE4D198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1409700" y="5600700"/>
            <a:ext cx="42100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DF1"/>
            </a:solidFill>
            <a:prstDash val="solid"/>
          </a:ln>
        </p:spPr>
      </p:sp>
      <p:sp>
        <p:nvSpPr>
          <p:cNvPr id="22" name="q-index-1-0">
            <a:extLst xmlns:a="http://schemas.openxmlformats.org/drawingml/2006/main">
              <a:ext uri="{FF2B5EF4-FFF2-40B4-BE49-F238E27FC236}">
                <a16:creationId xmlns:a16="http://schemas.microsoft.com/office/drawing/2014/main" id="{74FC7105-850E-4C9A-B8B9-E0C63FC0D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7526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F5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50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rPr>
              <a:t>6</a:t>
            </a:r>
          </a:p>
        </p:txBody>
      </p:sp>
      <p:sp>
        <p:nvSpPr>
          <p:cNvPr id="23" name="q-index-text-1-0">
            <a:extLst xmlns:a="http://schemas.openxmlformats.org/drawingml/2006/main">
              <a:ext uri="{FF2B5EF4-FFF2-40B4-BE49-F238E27FC236}">
                <a16:creationId xmlns:a16="http://schemas.microsoft.com/office/drawing/2014/main" id="{7DA5F63E-B68B-4A31-9854-D15D09338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1733550"/>
            <a:ext cx="447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7324D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350" b="1">
                <a:solidFill>
                  <a:srgbClr val="17324D"/>
                </a:solidFill>
                <a:latin typeface="Hiragino Kaku Gothic ProN"/>
                <a:ea typeface="Hiragino Kaku Gothic ProN"/>
                <a:cs typeface="Hiragino Kaku Gothic ProN"/>
              </a:rPr>
              <a:t>未測定：正式な作業時間</a:t>
            </a:r>
          </a:p>
        </p:txBody>
      </p:sp>
      <p:sp>
        <p:nvSpPr>
          <p:cNvPr id="24" name="q-index-rule-1-0">
            <a:extLst xmlns:a="http://schemas.openxmlformats.org/drawingml/2006/main">
              <a:ext uri="{FF2B5EF4-FFF2-40B4-BE49-F238E27FC236}">
                <a16:creationId xmlns:a16="http://schemas.microsoft.com/office/drawing/2014/main" id="{08E4A4BD-1E11-4169-88D6-0A9F606F3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6838950" y="2324100"/>
            <a:ext cx="42100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DF1"/>
            </a:solidFill>
            <a:prstDash val="solid"/>
          </a:ln>
        </p:spPr>
      </p:sp>
      <p:sp>
        <p:nvSpPr>
          <p:cNvPr id="25" name="q-index-1-1">
            <a:extLst xmlns:a="http://schemas.openxmlformats.org/drawingml/2006/main">
              <a:ext uri="{FF2B5EF4-FFF2-40B4-BE49-F238E27FC236}">
                <a16:creationId xmlns:a16="http://schemas.microsoft.com/office/drawing/2014/main" id="{11A34164-5858-46CE-A3A0-B820EBA35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5717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F5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50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rPr>
              <a:t>7</a:t>
            </a:r>
          </a:p>
        </p:txBody>
      </p:sp>
      <p:sp>
        <p:nvSpPr>
          <p:cNvPr id="26" name="q-index-text-1-1">
            <a:extLst xmlns:a="http://schemas.openxmlformats.org/drawingml/2006/main">
              <a:ext uri="{FF2B5EF4-FFF2-40B4-BE49-F238E27FC236}">
                <a16:creationId xmlns:a16="http://schemas.microsoft.com/office/drawing/2014/main" id="{B2D79117-CC04-45BF-A78F-259C3FD8E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552700"/>
            <a:ext cx="447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7324D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350" b="1">
                <a:solidFill>
                  <a:srgbClr val="17324D"/>
                </a:solidFill>
                <a:latin typeface="Hiragino Kaku Gothic ProN"/>
                <a:ea typeface="Hiragino Kaku Gothic ProN"/>
                <a:cs typeface="Hiragino Kaku Gothic ProN"/>
              </a:rPr>
              <a:t>未評価：全動画の漏検率</a:t>
            </a:r>
          </a:p>
        </p:txBody>
      </p:sp>
      <p:sp>
        <p:nvSpPr>
          <p:cNvPr id="27" name="q-index-rule-1-1">
            <a:extLst xmlns:a="http://schemas.openxmlformats.org/drawingml/2006/main">
              <a:ext uri="{FF2B5EF4-FFF2-40B4-BE49-F238E27FC236}">
                <a16:creationId xmlns:a16="http://schemas.microsoft.com/office/drawing/2014/main" id="{57F77F76-2E5C-4B1A-87C2-814911349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6838950" y="3143250"/>
            <a:ext cx="42100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DF1"/>
            </a:solidFill>
            <a:prstDash val="solid"/>
          </a:ln>
        </p:spPr>
      </p:sp>
      <p:sp>
        <p:nvSpPr>
          <p:cNvPr id="28" name="q-index-1-2">
            <a:extLst xmlns:a="http://schemas.openxmlformats.org/drawingml/2006/main">
              <a:ext uri="{FF2B5EF4-FFF2-40B4-BE49-F238E27FC236}">
                <a16:creationId xmlns:a16="http://schemas.microsoft.com/office/drawing/2014/main" id="{169B2FF8-565E-4C85-A81B-37E882ED3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3909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F5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50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rPr>
              <a:t>8</a:t>
            </a:r>
          </a:p>
        </p:txBody>
      </p:sp>
      <p:sp>
        <p:nvSpPr>
          <p:cNvPr id="29" name="q-index-text-1-2">
            <a:extLst xmlns:a="http://schemas.openxmlformats.org/drawingml/2006/main">
              <a:ext uri="{FF2B5EF4-FFF2-40B4-BE49-F238E27FC236}">
                <a16:creationId xmlns:a16="http://schemas.microsoft.com/office/drawing/2014/main" id="{91ED6978-63DA-46E5-B8AB-8D1AE2170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371850"/>
            <a:ext cx="447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7324D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350" b="1">
                <a:solidFill>
                  <a:srgbClr val="17324D"/>
                </a:solidFill>
                <a:latin typeface="Hiragino Kaku Gothic ProN"/>
                <a:ea typeface="Hiragino Kaku Gothic ProN"/>
                <a:cs typeface="Hiragino Kaku Gothic ProN"/>
              </a:rPr>
              <a:t>未確定：Cameraの真の誤差</a:t>
            </a:r>
          </a:p>
        </p:txBody>
      </p:sp>
      <p:sp>
        <p:nvSpPr>
          <p:cNvPr id="30" name="q-index-rule-1-2">
            <a:extLst xmlns:a="http://schemas.openxmlformats.org/drawingml/2006/main">
              <a:ext uri="{FF2B5EF4-FFF2-40B4-BE49-F238E27FC236}">
                <a16:creationId xmlns:a16="http://schemas.microsoft.com/office/drawing/2014/main" id="{EEBC9D6A-2F5D-48F8-8FB8-3E75D88CC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6838950" y="3962400"/>
            <a:ext cx="42100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DF1"/>
            </a:solidFill>
            <a:prstDash val="solid"/>
          </a:ln>
        </p:spPr>
      </p:sp>
      <p:sp>
        <p:nvSpPr>
          <p:cNvPr id="31" name="q-index-1-3">
            <a:extLst xmlns:a="http://schemas.openxmlformats.org/drawingml/2006/main">
              <a:ext uri="{FF2B5EF4-FFF2-40B4-BE49-F238E27FC236}">
                <a16:creationId xmlns:a16="http://schemas.microsoft.com/office/drawing/2014/main" id="{95B7E20A-4B8B-4050-BC70-2A0B7C967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2100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F5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50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rPr>
              <a:t>9</a:t>
            </a:r>
          </a:p>
        </p:txBody>
      </p:sp>
      <p:sp>
        <p:nvSpPr>
          <p:cNvPr id="32" name="q-index-text-1-3">
            <a:extLst xmlns:a="http://schemas.openxmlformats.org/drawingml/2006/main">
              <a:ext uri="{FF2B5EF4-FFF2-40B4-BE49-F238E27FC236}">
                <a16:creationId xmlns:a16="http://schemas.microsoft.com/office/drawing/2014/main" id="{B5463B9B-D677-4819-9A36-0491AFEB6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191000"/>
            <a:ext cx="447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7324D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350" b="1">
                <a:solidFill>
                  <a:srgbClr val="17324D"/>
                </a:solidFill>
                <a:latin typeface="Hiragino Kaku Gothic ProN"/>
                <a:ea typeface="Hiragino Kaku Gothic ProN"/>
                <a:cs typeface="Hiragino Kaku Gothic ProN"/>
              </a:rPr>
              <a:t>未一般化：他車両・他条件</a:t>
            </a:r>
          </a:p>
        </p:txBody>
      </p:sp>
      <p:sp>
        <p:nvSpPr>
          <p:cNvPr id="33" name="q-index-rule-1-3">
            <a:extLst xmlns:a="http://schemas.openxmlformats.org/drawingml/2006/main">
              <a:ext uri="{FF2B5EF4-FFF2-40B4-BE49-F238E27FC236}">
                <a16:creationId xmlns:a16="http://schemas.microsoft.com/office/drawing/2014/main" id="{9675D9D1-007C-44E7-A109-FD77DA695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6838950" y="4781550"/>
            <a:ext cx="42100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DF1"/>
            </a:solidFill>
            <a:prstDash val="solid"/>
          </a:ln>
        </p:spPr>
      </p:sp>
      <p:sp>
        <p:nvSpPr>
          <p:cNvPr id="34" name="q-index-1-4">
            <a:extLst xmlns:a="http://schemas.openxmlformats.org/drawingml/2006/main">
              <a:ext uri="{FF2B5EF4-FFF2-40B4-BE49-F238E27FC236}">
                <a16:creationId xmlns:a16="http://schemas.microsoft.com/office/drawing/2014/main" id="{365AE045-0847-4B59-A61B-F12A1A3FB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0292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F5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50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rPr>
              <a:t>10</a:t>
            </a:r>
          </a:p>
        </p:txBody>
      </p:sp>
      <p:sp>
        <p:nvSpPr>
          <p:cNvPr id="35" name="q-index-text-1-4">
            <a:extLst xmlns:a="http://schemas.openxmlformats.org/drawingml/2006/main">
              <a:ext uri="{FF2B5EF4-FFF2-40B4-BE49-F238E27FC236}">
                <a16:creationId xmlns:a16="http://schemas.microsoft.com/office/drawing/2014/main" id="{19DE6E01-B427-4421-80F9-2B643280F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5010150"/>
            <a:ext cx="447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7324D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350" b="1">
                <a:solidFill>
                  <a:srgbClr val="17324D"/>
                </a:solidFill>
                <a:latin typeface="Hiragino Kaku Gothic ProN"/>
                <a:ea typeface="Hiragino Kaku Gothic ProN"/>
                <a:cs typeface="Hiragino Kaku Gothic ProN"/>
              </a:rPr>
              <a:t>次段階：Camera工程Campaign</a:t>
            </a:r>
          </a:p>
        </p:txBody>
      </p:sp>
      <p:sp>
        <p:nvSpPr>
          <p:cNvPr id="36" name="q-index-rule-1-4">
            <a:extLst xmlns:a="http://schemas.openxmlformats.org/drawingml/2006/main">
              <a:ext uri="{FF2B5EF4-FFF2-40B4-BE49-F238E27FC236}">
                <a16:creationId xmlns:a16="http://schemas.microsoft.com/office/drawing/2014/main" id="{471E644E-3485-4DDE-8153-4404C7532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6838950" y="5600700"/>
            <a:ext cx="42100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DF1"/>
            </a:solidFill>
            <a:prstDash val="solid"/>
          </a:ln>
        </p:spPr>
      </p:sp>
      <p:sp>
        <p:nvSpPr>
          <p:cNvPr id="37" name="index-hint">
            <a:extLst xmlns:a="http://schemas.openxmlformats.org/drawingml/2006/main">
              <a:ext uri="{FF2B5EF4-FFF2-40B4-BE49-F238E27FC236}">
                <a16:creationId xmlns:a16="http://schemas.microsoft.com/office/drawing/2014/main" id="{944B3DB4-011C-49E6-B483-BFE29749E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943600"/>
            <a:ext cx="723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575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rPr>
              <a:t>成果を強く示し、未検証項目は次の評価計画へ分ける</a:t>
            </a:r>
          </a:p>
        </p:txBody>
      </p:sp>
    </p:spTree>
    <p:extLst>
      <p:ext uri="{BB962C8B-B14F-4D97-AF65-F5344CB8AC3E}">
        <p14:creationId xmlns:p14="http://schemas.microsoft.com/office/powerpoint/2010/main" val="113740462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top-accent">
            <a:extLst xmlns:a="http://schemas.openxmlformats.org/drawingml/2006/main">
              <a:ext uri="{FF2B5EF4-FFF2-40B4-BE49-F238E27FC236}">
                <a16:creationId xmlns:a16="http://schemas.microsoft.com/office/drawing/2014/main" id="{F90861A8-65DC-4F53-9635-27F117E20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F5F"/>
          </a:solidFill>
          <a:ln xmlns:a="http://schemas.openxmlformats.org/drawingml/2006/main" w="0">
            <a:solidFill>
              <a:srgbClr val="173F5F"/>
            </a:solidFill>
            <a:prstDash val="solid"/>
          </a:ln>
        </p:spPr>
      </p:sp>
      <p:sp>
        <p:nvSpPr>
          <p:cNvPr id="2" name="deck-name">
            <a:extLst xmlns:a="http://schemas.openxmlformats.org/drawingml/2006/main">
              <a:ext uri="{FF2B5EF4-FFF2-40B4-BE49-F238E27FC236}">
                <a16:creationId xmlns:a16="http://schemas.microsoft.com/office/drawing/2014/main" id="{EB0DB4D3-7C0A-47A5-B87A-255C3D2D4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670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U001–U003 詳細説明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10DB9E0-1B0F-4868-B784-C5E2ED5A5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"/>
            <a:ext cx="11010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17324D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850" b="1">
                <a:solidFill>
                  <a:srgbClr val="17324D"/>
                </a:solidFill>
                <a:latin typeface="Hiragino Kaku Gothic ProN"/>
                <a:ea typeface="Hiragino Kaku Gothic ProN"/>
                <a:cs typeface="Hiragino Kaku Gothic ProN"/>
              </a:rPr>
              <a:t>実行条件は、五つの記録単位へ分けて保存する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31818F8C-CB97-43E6-90DB-1B0A04C65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90550" y="1381125"/>
            <a:ext cx="110109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7C8D6"/>
            </a:solidFill>
            <a:prstDash val="solid"/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C3FB087A-C685-4F8C-AFBF-3579D7524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34150"/>
            <a:ext cx="781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97222"/>
          </a:bodyPr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900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rPr>
              <a:t>ZHAO ZHILI  |  U-Series Detailed Review  |  2026-09-01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07759E3-6883-4E72-ACA4-577684047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524625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97222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900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rPr>
              <a:t>15</a:t>
            </a:r>
          </a:p>
        </p:txBody>
      </p:sp>
      <p:sp>
        <p:nvSpPr>
          <p:cNvPr id="7" name="q-index-0-0">
            <a:extLst xmlns:a="http://schemas.openxmlformats.org/drawingml/2006/main">
              <a:ext uri="{FF2B5EF4-FFF2-40B4-BE49-F238E27FC236}">
                <a16:creationId xmlns:a16="http://schemas.microsoft.com/office/drawing/2014/main" id="{6481938D-8BD5-40AF-B246-2B024B5A1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526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F5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50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rPr>
              <a:t>1</a:t>
            </a:r>
          </a:p>
        </p:txBody>
      </p:sp>
      <p:sp>
        <p:nvSpPr>
          <p:cNvPr id="8" name="q-index-text-0-0">
            <a:extLst xmlns:a="http://schemas.openxmlformats.org/drawingml/2006/main">
              <a:ext uri="{FF2B5EF4-FFF2-40B4-BE49-F238E27FC236}">
                <a16:creationId xmlns:a16="http://schemas.microsoft.com/office/drawing/2014/main" id="{9A77A31A-6FC6-4840-9BBA-BB871C1D0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733550"/>
            <a:ext cx="447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7324D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350" b="1">
                <a:solidFill>
                  <a:srgbClr val="17324D"/>
                </a:solidFill>
                <a:latin typeface="Hiragino Kaku Gothic ProN"/>
                <a:ea typeface="Hiragino Kaku Gothic ProN"/>
                <a:cs typeface="Hiragino Kaku Gothic ProN"/>
              </a:rPr>
              <a:t>Module：一つの処理能力</a:t>
            </a:r>
          </a:p>
        </p:txBody>
      </p:sp>
      <p:sp>
        <p:nvSpPr>
          <p:cNvPr id="9" name="q-index-rule-0-0">
            <a:extLst xmlns:a="http://schemas.openxmlformats.org/drawingml/2006/main">
              <a:ext uri="{FF2B5EF4-FFF2-40B4-BE49-F238E27FC236}">
                <a16:creationId xmlns:a16="http://schemas.microsoft.com/office/drawing/2014/main" id="{6D90EF3A-8911-4955-810C-915C8B6EF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1409700" y="2324100"/>
            <a:ext cx="42100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DF1"/>
            </a:solidFill>
            <a:prstDash val="solid"/>
          </a:ln>
        </p:spPr>
      </p:sp>
      <p:sp>
        <p:nvSpPr>
          <p:cNvPr id="10" name="q-index-0-1">
            <a:extLst xmlns:a="http://schemas.openxmlformats.org/drawingml/2006/main">
              <a:ext uri="{FF2B5EF4-FFF2-40B4-BE49-F238E27FC236}">
                <a16:creationId xmlns:a16="http://schemas.microsoft.com/office/drawing/2014/main" id="{8D4BFB3E-1038-44F3-9045-4D44F2DAB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717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F5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50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rPr>
              <a:t>2</a:t>
            </a:r>
          </a:p>
        </p:txBody>
      </p:sp>
      <p:sp>
        <p:nvSpPr>
          <p:cNvPr id="11" name="q-index-text-0-1">
            <a:extLst xmlns:a="http://schemas.openxmlformats.org/drawingml/2006/main">
              <a:ext uri="{FF2B5EF4-FFF2-40B4-BE49-F238E27FC236}">
                <a16:creationId xmlns:a16="http://schemas.microsoft.com/office/drawing/2014/main" id="{3A1865AE-CA8C-498C-8B5D-485131434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552700"/>
            <a:ext cx="447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7324D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350" b="1">
                <a:solidFill>
                  <a:srgbClr val="17324D"/>
                </a:solidFill>
                <a:latin typeface="Hiragino Kaku Gothic ProN"/>
                <a:ea typeface="Hiragino Kaku Gothic ProN"/>
                <a:cs typeface="Hiragino Kaku Gothic ProN"/>
              </a:rPr>
              <a:t>Algorithm Card：目的と計算</a:t>
            </a:r>
          </a:p>
        </p:txBody>
      </p:sp>
      <p:sp>
        <p:nvSpPr>
          <p:cNvPr id="12" name="q-index-rule-0-1">
            <a:extLst xmlns:a="http://schemas.openxmlformats.org/drawingml/2006/main">
              <a:ext uri="{FF2B5EF4-FFF2-40B4-BE49-F238E27FC236}">
                <a16:creationId xmlns:a16="http://schemas.microsoft.com/office/drawing/2014/main" id="{1A208F60-AEAF-4940-83E4-FF8DE05EB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1409700" y="3143250"/>
            <a:ext cx="42100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DF1"/>
            </a:solidFill>
            <a:prstDash val="solid"/>
          </a:ln>
        </p:spPr>
      </p:sp>
      <p:sp>
        <p:nvSpPr>
          <p:cNvPr id="13" name="q-index-0-2">
            <a:extLst xmlns:a="http://schemas.openxmlformats.org/drawingml/2006/main">
              <a:ext uri="{FF2B5EF4-FFF2-40B4-BE49-F238E27FC236}">
                <a16:creationId xmlns:a16="http://schemas.microsoft.com/office/drawing/2014/main" id="{F01AF619-2298-4AC2-B24E-488580165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909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F5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50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rPr>
              <a:t>3</a:t>
            </a:r>
          </a:p>
        </p:txBody>
      </p:sp>
      <p:sp>
        <p:nvSpPr>
          <p:cNvPr id="14" name="q-index-text-0-2">
            <a:extLst xmlns:a="http://schemas.openxmlformats.org/drawingml/2006/main">
              <a:ext uri="{FF2B5EF4-FFF2-40B4-BE49-F238E27FC236}">
                <a16:creationId xmlns:a16="http://schemas.microsoft.com/office/drawing/2014/main" id="{953E4407-1057-487D-AF3F-EA5D6AA4D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371850"/>
            <a:ext cx="447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7324D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350" b="1">
                <a:solidFill>
                  <a:srgbClr val="17324D"/>
                </a:solidFill>
                <a:latin typeface="Hiragino Kaku Gothic ProN"/>
                <a:ea typeface="Hiragino Kaku Gothic ProN"/>
                <a:cs typeface="Hiragino Kaku Gothic ProN"/>
              </a:rPr>
              <a:t>Profile：選択・順序・設定</a:t>
            </a:r>
          </a:p>
        </p:txBody>
      </p:sp>
      <p:sp>
        <p:nvSpPr>
          <p:cNvPr id="15" name="q-index-rule-0-2">
            <a:extLst xmlns:a="http://schemas.openxmlformats.org/drawingml/2006/main">
              <a:ext uri="{FF2B5EF4-FFF2-40B4-BE49-F238E27FC236}">
                <a16:creationId xmlns:a16="http://schemas.microsoft.com/office/drawing/2014/main" id="{46641A12-3609-475F-90D5-890112A16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1409700" y="3962400"/>
            <a:ext cx="42100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DF1"/>
            </a:solidFill>
            <a:prstDash val="solid"/>
          </a:ln>
        </p:spPr>
      </p:sp>
      <p:sp>
        <p:nvSpPr>
          <p:cNvPr id="16" name="q-index-0-3">
            <a:extLst xmlns:a="http://schemas.openxmlformats.org/drawingml/2006/main">
              <a:ext uri="{FF2B5EF4-FFF2-40B4-BE49-F238E27FC236}">
                <a16:creationId xmlns:a16="http://schemas.microsoft.com/office/drawing/2014/main" id="{9B5305B0-693E-435B-AE7C-28A2215AE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100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F5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50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rPr>
              <a:t>4</a:t>
            </a:r>
          </a:p>
        </p:txBody>
      </p:sp>
      <p:sp>
        <p:nvSpPr>
          <p:cNvPr id="17" name="q-index-text-0-3">
            <a:extLst xmlns:a="http://schemas.openxmlformats.org/drawingml/2006/main">
              <a:ext uri="{FF2B5EF4-FFF2-40B4-BE49-F238E27FC236}">
                <a16:creationId xmlns:a16="http://schemas.microsoft.com/office/drawing/2014/main" id="{DC997CCE-0730-4C55-9E6E-5E2F67457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191000"/>
            <a:ext cx="447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7324D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350" b="1">
                <a:solidFill>
                  <a:srgbClr val="17324D"/>
                </a:solidFill>
                <a:latin typeface="Hiragino Kaku Gothic ProN"/>
                <a:ea typeface="Hiragino Kaku Gothic ProN"/>
                <a:cs typeface="Hiragino Kaku Gothic ProN"/>
              </a:rPr>
              <a:t>Run Manifest：今回実際に使った物</a:t>
            </a:r>
          </a:p>
        </p:txBody>
      </p:sp>
      <p:sp>
        <p:nvSpPr>
          <p:cNvPr id="18" name="q-index-rule-0-3">
            <a:extLst xmlns:a="http://schemas.openxmlformats.org/drawingml/2006/main">
              <a:ext uri="{FF2B5EF4-FFF2-40B4-BE49-F238E27FC236}">
                <a16:creationId xmlns:a16="http://schemas.microsoft.com/office/drawing/2014/main" id="{0CE3DB66-BB11-4F65-8AE2-2AB3FE8C5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1409700" y="4781550"/>
            <a:ext cx="42100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DF1"/>
            </a:solidFill>
            <a:prstDash val="solid"/>
          </a:ln>
        </p:spPr>
      </p:sp>
      <p:sp>
        <p:nvSpPr>
          <p:cNvPr id="19" name="q-index-0-4">
            <a:extLst xmlns:a="http://schemas.openxmlformats.org/drawingml/2006/main">
              <a:ext uri="{FF2B5EF4-FFF2-40B4-BE49-F238E27FC236}">
                <a16:creationId xmlns:a16="http://schemas.microsoft.com/office/drawing/2014/main" id="{5C6FE2A6-BE04-40C3-B893-B8C5685C5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292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F5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50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rPr>
              <a:t>5</a:t>
            </a:r>
          </a:p>
        </p:txBody>
      </p:sp>
      <p:sp>
        <p:nvSpPr>
          <p:cNvPr id="20" name="q-index-text-0-4">
            <a:extLst xmlns:a="http://schemas.openxmlformats.org/drawingml/2006/main">
              <a:ext uri="{FF2B5EF4-FFF2-40B4-BE49-F238E27FC236}">
                <a16:creationId xmlns:a16="http://schemas.microsoft.com/office/drawing/2014/main" id="{FA2FFE61-704F-4AF1-B309-B402D117E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010150"/>
            <a:ext cx="447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7324D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350" b="1">
                <a:solidFill>
                  <a:srgbClr val="17324D"/>
                </a:solidFill>
                <a:latin typeface="Hiragino Kaku Gothic ProN"/>
                <a:ea typeface="Hiragino Kaku Gothic ProN"/>
                <a:cs typeface="Hiragino Kaku Gothic ProN"/>
              </a:rPr>
              <a:t>Review Result：人の判断</a:t>
            </a:r>
          </a:p>
        </p:txBody>
      </p:sp>
      <p:sp>
        <p:nvSpPr>
          <p:cNvPr id="21" name="q-index-rule-0-4">
            <a:extLst xmlns:a="http://schemas.openxmlformats.org/drawingml/2006/main">
              <a:ext uri="{FF2B5EF4-FFF2-40B4-BE49-F238E27FC236}">
                <a16:creationId xmlns:a16="http://schemas.microsoft.com/office/drawing/2014/main" id="{2F565136-55DA-421B-9B13-8BCAC6F27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1409700" y="5600700"/>
            <a:ext cx="42100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DF1"/>
            </a:solidFill>
            <a:prstDash val="solid"/>
          </a:ln>
        </p:spPr>
      </p:sp>
      <p:sp>
        <p:nvSpPr>
          <p:cNvPr id="22" name="q-index-1-0">
            <a:extLst xmlns:a="http://schemas.openxmlformats.org/drawingml/2006/main">
              <a:ext uri="{FF2B5EF4-FFF2-40B4-BE49-F238E27FC236}">
                <a16:creationId xmlns:a16="http://schemas.microsoft.com/office/drawing/2014/main" id="{4FF3BEB7-CCCC-472C-869E-91F3F8DAC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7526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F5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50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rPr>
              <a:t>6</a:t>
            </a:r>
          </a:p>
        </p:txBody>
      </p:sp>
      <p:sp>
        <p:nvSpPr>
          <p:cNvPr id="23" name="q-index-text-1-0">
            <a:extLst xmlns:a="http://schemas.openxmlformats.org/drawingml/2006/main">
              <a:ext uri="{FF2B5EF4-FFF2-40B4-BE49-F238E27FC236}">
                <a16:creationId xmlns:a16="http://schemas.microsoft.com/office/drawing/2014/main" id="{76F4EF0E-B613-4A23-8C6F-94FE9B1FE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1733550"/>
            <a:ext cx="447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7324D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350" b="1">
                <a:solidFill>
                  <a:srgbClr val="17324D"/>
                </a:solidFill>
                <a:latin typeface="Hiragino Kaku Gothic ProN"/>
                <a:ea typeface="Hiragino Kaku Gothic ProN"/>
                <a:cs typeface="Hiragino Kaku Gothic ProN"/>
              </a:rPr>
              <a:t>Input ID・Hash</a:t>
            </a:r>
          </a:p>
        </p:txBody>
      </p:sp>
      <p:sp>
        <p:nvSpPr>
          <p:cNvPr id="24" name="q-index-rule-1-0">
            <a:extLst xmlns:a="http://schemas.openxmlformats.org/drawingml/2006/main">
              <a:ext uri="{FF2B5EF4-FFF2-40B4-BE49-F238E27FC236}">
                <a16:creationId xmlns:a16="http://schemas.microsoft.com/office/drawing/2014/main" id="{5BEE287C-0CEA-4F24-90E4-6281C2893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6838950" y="2324100"/>
            <a:ext cx="42100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DF1"/>
            </a:solidFill>
            <a:prstDash val="solid"/>
          </a:ln>
        </p:spPr>
      </p:sp>
      <p:sp>
        <p:nvSpPr>
          <p:cNvPr id="25" name="q-index-1-1">
            <a:extLst xmlns:a="http://schemas.openxmlformats.org/drawingml/2006/main">
              <a:ext uri="{FF2B5EF4-FFF2-40B4-BE49-F238E27FC236}">
                <a16:creationId xmlns:a16="http://schemas.microsoft.com/office/drawing/2014/main" id="{1FDF88BA-1713-4205-A9D7-8D7AC0064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5717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F5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50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rPr>
              <a:t>7</a:t>
            </a:r>
          </a:p>
        </p:txBody>
      </p:sp>
      <p:sp>
        <p:nvSpPr>
          <p:cNvPr id="26" name="q-index-text-1-1">
            <a:extLst xmlns:a="http://schemas.openxmlformats.org/drawingml/2006/main">
              <a:ext uri="{FF2B5EF4-FFF2-40B4-BE49-F238E27FC236}">
                <a16:creationId xmlns:a16="http://schemas.microsoft.com/office/drawing/2014/main" id="{29AA4497-7E4B-4B0E-98BE-AC0279B0D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552700"/>
            <a:ext cx="447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7324D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350" b="1">
                <a:solidFill>
                  <a:srgbClr val="17324D"/>
                </a:solidFill>
                <a:latin typeface="Hiragino Kaku Gothic ProN"/>
                <a:ea typeface="Hiragino Kaku Gothic ProN"/>
                <a:cs typeface="Hiragino Kaku Gothic ProN"/>
              </a:rPr>
              <a:t>Module Version・Hash</a:t>
            </a:r>
          </a:p>
        </p:txBody>
      </p:sp>
      <p:sp>
        <p:nvSpPr>
          <p:cNvPr id="27" name="q-index-rule-1-1">
            <a:extLst xmlns:a="http://schemas.openxmlformats.org/drawingml/2006/main">
              <a:ext uri="{FF2B5EF4-FFF2-40B4-BE49-F238E27FC236}">
                <a16:creationId xmlns:a16="http://schemas.microsoft.com/office/drawing/2014/main" id="{800D762F-9C85-4267-8BF7-A8FDA2F18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6838950" y="3143250"/>
            <a:ext cx="42100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DF1"/>
            </a:solidFill>
            <a:prstDash val="solid"/>
          </a:ln>
        </p:spPr>
      </p:sp>
      <p:sp>
        <p:nvSpPr>
          <p:cNvPr id="28" name="q-index-1-2">
            <a:extLst xmlns:a="http://schemas.openxmlformats.org/drawingml/2006/main">
              <a:ext uri="{FF2B5EF4-FFF2-40B4-BE49-F238E27FC236}">
                <a16:creationId xmlns:a16="http://schemas.microsoft.com/office/drawing/2014/main" id="{EA86D336-CE47-427B-B723-16393BA65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3909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F5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50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rPr>
              <a:t>8</a:t>
            </a:r>
          </a:p>
        </p:txBody>
      </p:sp>
      <p:sp>
        <p:nvSpPr>
          <p:cNvPr id="29" name="q-index-text-1-2">
            <a:extLst xmlns:a="http://schemas.openxmlformats.org/drawingml/2006/main">
              <a:ext uri="{FF2B5EF4-FFF2-40B4-BE49-F238E27FC236}">
                <a16:creationId xmlns:a16="http://schemas.microsoft.com/office/drawing/2014/main" id="{DE920510-4127-46AB-9C3D-719330EC7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371850"/>
            <a:ext cx="447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7324D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350" b="1">
                <a:solidFill>
                  <a:srgbClr val="17324D"/>
                </a:solidFill>
                <a:latin typeface="Hiragino Kaku Gothic ProN"/>
                <a:ea typeface="Hiragino Kaku Gothic ProN"/>
                <a:cs typeface="Hiragino Kaku Gothic ProN"/>
              </a:rPr>
              <a:t>Parameter・対象範囲</a:t>
            </a:r>
          </a:p>
        </p:txBody>
      </p:sp>
      <p:sp>
        <p:nvSpPr>
          <p:cNvPr id="30" name="q-index-rule-1-2">
            <a:extLst xmlns:a="http://schemas.openxmlformats.org/drawingml/2006/main">
              <a:ext uri="{FF2B5EF4-FFF2-40B4-BE49-F238E27FC236}">
                <a16:creationId xmlns:a16="http://schemas.microsoft.com/office/drawing/2014/main" id="{903B4F11-A6D9-44C6-9529-FE0B4D889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6838950" y="3962400"/>
            <a:ext cx="42100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DF1"/>
            </a:solidFill>
            <a:prstDash val="solid"/>
          </a:ln>
        </p:spPr>
      </p:sp>
      <p:sp>
        <p:nvSpPr>
          <p:cNvPr id="31" name="q-index-1-3">
            <a:extLst xmlns:a="http://schemas.openxmlformats.org/drawingml/2006/main">
              <a:ext uri="{FF2B5EF4-FFF2-40B4-BE49-F238E27FC236}">
                <a16:creationId xmlns:a16="http://schemas.microsoft.com/office/drawing/2014/main" id="{9BD2D476-A67F-453D-8A11-A8535B562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2100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F5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50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rPr>
              <a:t>9</a:t>
            </a:r>
          </a:p>
        </p:txBody>
      </p:sp>
      <p:sp>
        <p:nvSpPr>
          <p:cNvPr id="32" name="q-index-text-1-3">
            <a:extLst xmlns:a="http://schemas.openxmlformats.org/drawingml/2006/main">
              <a:ext uri="{FF2B5EF4-FFF2-40B4-BE49-F238E27FC236}">
                <a16:creationId xmlns:a16="http://schemas.microsoft.com/office/drawing/2014/main" id="{AE76BEE4-08A6-43A9-A80A-C27247ECC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191000"/>
            <a:ext cx="447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7324D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350" b="1">
                <a:solidFill>
                  <a:srgbClr val="17324D"/>
                </a:solidFill>
                <a:latin typeface="Hiragino Kaku Gothic ProN"/>
                <a:ea typeface="Hiragino Kaku Gothic ProN"/>
                <a:cs typeface="Hiragino Kaku Gothic ProN"/>
              </a:rPr>
              <a:t>候補とEvidence</a:t>
            </a:r>
          </a:p>
        </p:txBody>
      </p:sp>
      <p:sp>
        <p:nvSpPr>
          <p:cNvPr id="33" name="q-index-rule-1-3">
            <a:extLst xmlns:a="http://schemas.openxmlformats.org/drawingml/2006/main">
              <a:ext uri="{FF2B5EF4-FFF2-40B4-BE49-F238E27FC236}">
                <a16:creationId xmlns:a16="http://schemas.microsoft.com/office/drawing/2014/main" id="{074BE772-E6C6-4EE9-9485-39B637B02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6838950" y="4781550"/>
            <a:ext cx="42100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DF1"/>
            </a:solidFill>
            <a:prstDash val="solid"/>
          </a:ln>
        </p:spPr>
      </p:sp>
      <p:sp>
        <p:nvSpPr>
          <p:cNvPr id="34" name="q-index-1-4">
            <a:extLst xmlns:a="http://schemas.openxmlformats.org/drawingml/2006/main">
              <a:ext uri="{FF2B5EF4-FFF2-40B4-BE49-F238E27FC236}">
                <a16:creationId xmlns:a16="http://schemas.microsoft.com/office/drawing/2014/main" id="{D57C2EF0-6B86-4997-9590-46E681BFB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0292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F5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50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rPr>
              <a:t>10</a:t>
            </a:r>
          </a:p>
        </p:txBody>
      </p:sp>
      <p:sp>
        <p:nvSpPr>
          <p:cNvPr id="35" name="q-index-text-1-4">
            <a:extLst xmlns:a="http://schemas.openxmlformats.org/drawingml/2006/main">
              <a:ext uri="{FF2B5EF4-FFF2-40B4-BE49-F238E27FC236}">
                <a16:creationId xmlns:a16="http://schemas.microsoft.com/office/drawing/2014/main" id="{1A2C8B18-13AB-4EDD-B0DC-F7A5413E1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5010150"/>
            <a:ext cx="447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7324D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350" b="1">
                <a:solidFill>
                  <a:srgbClr val="17324D"/>
                </a:solidFill>
                <a:latin typeface="Hiragino Kaku Gothic ProN"/>
                <a:ea typeface="Hiragino Kaku Gothic ProN"/>
                <a:cs typeface="Hiragino Kaku Gothic ProN"/>
              </a:rPr>
              <a:t>変更前後の比較結果</a:t>
            </a:r>
          </a:p>
        </p:txBody>
      </p:sp>
      <p:sp>
        <p:nvSpPr>
          <p:cNvPr id="36" name="q-index-rule-1-4">
            <a:extLst xmlns:a="http://schemas.openxmlformats.org/drawingml/2006/main">
              <a:ext uri="{FF2B5EF4-FFF2-40B4-BE49-F238E27FC236}">
                <a16:creationId xmlns:a16="http://schemas.microsoft.com/office/drawing/2014/main" id="{B3731E99-F48A-437E-80BC-F480A1282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6838950" y="5600700"/>
            <a:ext cx="42100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DF1"/>
            </a:solidFill>
            <a:prstDash val="solid"/>
          </a:ln>
        </p:spPr>
      </p:sp>
      <p:sp>
        <p:nvSpPr>
          <p:cNvPr id="37" name="index-hint">
            <a:extLst xmlns:a="http://schemas.openxmlformats.org/drawingml/2006/main">
              <a:ext uri="{FF2B5EF4-FFF2-40B4-BE49-F238E27FC236}">
                <a16:creationId xmlns:a16="http://schemas.microsoft.com/office/drawing/2014/main" id="{8A18B386-AFEB-45FE-881F-DD4745DC8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943600"/>
            <a:ext cx="723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575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rPr>
              <a:t>Profileという一語に、設定・実行記録・人工判断を混ぜない</a:t>
            </a:r>
          </a:p>
        </p:txBody>
      </p:sp>
    </p:spTree>
    <p:extLst>
      <p:ext uri="{BB962C8B-B14F-4D97-AF65-F5344CB8AC3E}">
        <p14:creationId xmlns:p14="http://schemas.microsoft.com/office/powerpoint/2010/main" val="199553748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op-accent">
            <a:extLst xmlns:a="http://schemas.openxmlformats.org/drawingml/2006/main">
              <a:ext uri="{FF2B5EF4-FFF2-40B4-BE49-F238E27FC236}">
                <a16:creationId xmlns:a16="http://schemas.microsoft.com/office/drawing/2014/main" id="{89B1BDF6-03BC-4C3F-9677-0A27F32DE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F5F"/>
          </a:solidFill>
          <a:ln xmlns:a="http://schemas.openxmlformats.org/drawingml/2006/main" w="0">
            <a:solidFill>
              <a:srgbClr val="173F5F"/>
            </a:solidFill>
            <a:prstDash val="solid"/>
          </a:ln>
        </p:spPr>
      </p:sp>
      <p:sp>
        <p:nvSpPr>
          <p:cNvPr id="2" name="deck-name">
            <a:extLst xmlns:a="http://schemas.openxmlformats.org/drawingml/2006/main">
              <a:ext uri="{FF2B5EF4-FFF2-40B4-BE49-F238E27FC236}">
                <a16:creationId xmlns:a16="http://schemas.microsoft.com/office/drawing/2014/main" id="{3861B3C5-9405-413A-8204-B05C31B1E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670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U001–U003 詳細説明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69A2D4E-FE20-4EF8-BC6D-8E9F1F92A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"/>
            <a:ext cx="11010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17324D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850" b="1">
                <a:solidFill>
                  <a:srgbClr val="17324D"/>
                </a:solidFill>
                <a:latin typeface="Hiragino Kaku Gothic ProN"/>
                <a:ea typeface="Hiragino Kaku Gothic ProN"/>
                <a:cs typeface="Hiragino Kaku Gothic ProN"/>
              </a:rPr>
              <a:t>Moduleとは、決められた入口と出口を持つ追加処理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4C9F4BF3-9F8E-48F4-8C57-3E3E80C2C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90550" y="1381125"/>
            <a:ext cx="110109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7C8D6"/>
            </a:solidFill>
            <a:prstDash val="solid"/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91D92D56-D695-4835-80AF-3F1133676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34150"/>
            <a:ext cx="781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97222"/>
          </a:bodyPr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900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rPr>
              <a:t>ZHAO ZHILI  |  U-Series Detailed Review  |  2026-09-01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DA4DD73-79DC-45F4-A1D0-49D5133A3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524625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97222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900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rPr>
              <a:t>16</a:t>
            </a:r>
          </a:p>
        </p:txBody>
      </p:sp>
      <p:sp>
        <p:nvSpPr>
          <p:cNvPr id="7" name="col-title-0">
            <a:extLst xmlns:a="http://schemas.openxmlformats.org/drawingml/2006/main">
              <a:ext uri="{FF2B5EF4-FFF2-40B4-BE49-F238E27FC236}">
                <a16:creationId xmlns:a16="http://schemas.microsoft.com/office/drawing/2014/main" id="{C7297E31-7236-495A-91DF-798596334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100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Moduleに必須のもの</a:t>
            </a:r>
          </a:p>
        </p:txBody>
      </p:sp>
      <p:sp>
        <p:nvSpPr>
          <p:cNvPr id="8" name="col-rule-0">
            <a:extLst xmlns:a="http://schemas.openxmlformats.org/drawingml/2006/main">
              <a:ext uri="{FF2B5EF4-FFF2-40B4-BE49-F238E27FC236}">
                <a16:creationId xmlns:a16="http://schemas.microsoft.com/office/drawing/2014/main" id="{B4BA3290-BDA0-48F5-B80F-8FE83B487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952500" y="2209800"/>
            <a:ext cx="4191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73F5F"/>
            </a:solidFill>
            <a:prstDash val="solid"/>
          </a:ln>
        </p:spPr>
      </p:sp>
      <p:sp>
        <p:nvSpPr>
          <p:cNvPr id="9" name="col-box-0">
            <a:extLst xmlns:a="http://schemas.openxmlformats.org/drawingml/2006/main">
              <a:ext uri="{FF2B5EF4-FFF2-40B4-BE49-F238E27FC236}">
                <a16:creationId xmlns:a16="http://schemas.microsoft.com/office/drawing/2014/main" id="{184224BD-89D4-4F16-A58F-429BFC723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4762500" cy="3143250"/>
          </a:xfrm>
          <a:prstGeom xmlns:a="http://schemas.openxmlformats.org/drawingml/2006/main" prst="roundRect">
            <a:avLst>
              <a:gd name="adj" fmla="val 12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7C8D6"/>
            </a:solidFill>
            <a:prstDash val="solid"/>
          </a:ln>
        </p:spPr>
      </p:sp>
      <p:sp>
        <p:nvSpPr>
          <p:cNvPr id="10" name="col-body-0">
            <a:extLst xmlns:a="http://schemas.openxmlformats.org/drawingml/2006/main">
              <a:ext uri="{FF2B5EF4-FFF2-40B4-BE49-F238E27FC236}">
                <a16:creationId xmlns:a16="http://schemas.microsoft.com/office/drawing/2014/main" id="{62BC1BB1-E2D3-4EF5-AD7A-521080877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28900"/>
            <a:ext cx="41148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marL="20" indent="-10">
              <a:spcAft>
                <a:spcPts val="7"/>
              </a:spcAft>
              <a:buChar char="•"/>
              <a:defRPr sz="135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対象Stage</a:t>
            </a:r>
          </a:p>
          <a:p xmlns:a="http://schemas.openxmlformats.org/drawingml/2006/main">
            <a:pPr marL="20" indent="-10">
              <a:spcAft>
                <a:spcPts val="7"/>
              </a:spcAft>
              <a:buChar char="•"/>
              <a:defRPr sz="135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入力・出力のSchema</a:t>
            </a:r>
          </a:p>
          <a:p xmlns:a="http://schemas.openxmlformats.org/drawingml/2006/main">
            <a:pPr marL="20" indent="-10">
              <a:spcAft>
                <a:spcPts val="7"/>
              </a:spcAft>
              <a:buChar char="•"/>
              <a:defRPr sz="135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Algorithm Card</a:t>
            </a:r>
          </a:p>
          <a:p xmlns:a="http://schemas.openxmlformats.org/drawingml/2006/main">
            <a:pPr marL="20" indent="-10">
              <a:spcAft>
                <a:spcPts val="7"/>
              </a:spcAft>
              <a:buChar char="•"/>
              <a:defRPr sz="135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Self-testとSample Data</a:t>
            </a:r>
          </a:p>
          <a:p xmlns:a="http://schemas.openxmlformats.org/drawingml/2006/main">
            <a:pPr marL="20" indent="-10">
              <a:spcAft>
                <a:spcPts val="7"/>
              </a:spcAft>
              <a:buChar char="•"/>
              <a:defRPr sz="135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Versionと失敗時の説明</a:t>
            </a:r>
          </a:p>
        </p:txBody>
      </p:sp>
      <p:sp>
        <p:nvSpPr>
          <p:cNvPr id="11" name="col-title-1">
            <a:extLst xmlns:a="http://schemas.openxmlformats.org/drawingml/2006/main">
              <a:ext uri="{FF2B5EF4-FFF2-40B4-BE49-F238E27FC236}">
                <a16:creationId xmlns:a16="http://schemas.microsoft.com/office/drawing/2014/main" id="{E3EFE1CE-03DC-4B8B-BBC1-F6B1ECDC4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5735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100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Moduleが自由に決められるもの</a:t>
            </a:r>
          </a:p>
        </p:txBody>
      </p:sp>
      <p:sp>
        <p:nvSpPr>
          <p:cNvPr id="12" name="col-rule-1">
            <a:extLst xmlns:a="http://schemas.openxmlformats.org/drawingml/2006/main">
              <a:ext uri="{FF2B5EF4-FFF2-40B4-BE49-F238E27FC236}">
                <a16:creationId xmlns:a16="http://schemas.microsoft.com/office/drawing/2014/main" id="{7FBA8354-BC2F-48AE-BE75-990903335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6477000" y="2209800"/>
            <a:ext cx="4191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73F5F"/>
            </a:solidFill>
            <a:prstDash val="solid"/>
          </a:ln>
        </p:spPr>
      </p:sp>
      <p:sp>
        <p:nvSpPr>
          <p:cNvPr id="13" name="col-box-1">
            <a:extLst xmlns:a="http://schemas.openxmlformats.org/drawingml/2006/main">
              <a:ext uri="{FF2B5EF4-FFF2-40B4-BE49-F238E27FC236}">
                <a16:creationId xmlns:a16="http://schemas.microsoft.com/office/drawing/2014/main" id="{8CFD4C8D-1B84-43C6-96C7-081D51A42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81250"/>
            <a:ext cx="4762500" cy="3143250"/>
          </a:xfrm>
          <a:prstGeom xmlns:a="http://schemas.openxmlformats.org/drawingml/2006/main" prst="roundRect">
            <a:avLst>
              <a:gd name="adj" fmla="val 12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7C8D6"/>
            </a:solidFill>
            <a:prstDash val="solid"/>
          </a:ln>
        </p:spPr>
      </p:sp>
      <p:sp>
        <p:nvSpPr>
          <p:cNvPr id="14" name="col-body-1">
            <a:extLst xmlns:a="http://schemas.openxmlformats.org/drawingml/2006/main">
              <a:ext uri="{FF2B5EF4-FFF2-40B4-BE49-F238E27FC236}">
                <a16:creationId xmlns:a16="http://schemas.microsoft.com/office/drawing/2014/main" id="{9A970003-CC05-42C2-B419-53E33487F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628900"/>
            <a:ext cx="41148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marL="20" indent="-10">
              <a:spcAft>
                <a:spcPts val="7"/>
              </a:spcAft>
              <a:buChar char="•"/>
              <a:defRPr sz="135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数学・統計の方法</a:t>
            </a:r>
          </a:p>
          <a:p xmlns:a="http://schemas.openxmlformats.org/drawingml/2006/main">
            <a:pPr marL="20" indent="-10">
              <a:spcAft>
                <a:spcPts val="7"/>
              </a:spcAft>
              <a:buChar char="•"/>
              <a:defRPr sz="135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Python / 将来MATLAB</a:t>
            </a:r>
          </a:p>
          <a:p xmlns:a="http://schemas.openxmlformats.org/drawingml/2006/main">
            <a:pPr marL="20" indent="-10">
              <a:spcAft>
                <a:spcPts val="7"/>
              </a:spcAft>
              <a:buChar char="•"/>
              <a:defRPr sz="135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内部の計算手順</a:t>
            </a:r>
          </a:p>
          <a:p xmlns:a="http://schemas.openxmlformats.org/drawingml/2006/main">
            <a:pPr marL="20" indent="-10">
              <a:spcAft>
                <a:spcPts val="7"/>
              </a:spcAft>
              <a:buChar char="•"/>
              <a:defRPr sz="135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表示用Review Memo</a:t>
            </a:r>
          </a:p>
          <a:p xmlns:a="http://schemas.openxmlformats.org/drawingml/2006/main">
            <a:pPr marL="20" indent="-10">
              <a:spcAft>
                <a:spcPts val="7"/>
              </a:spcAft>
              <a:buChar char="•"/>
              <a:defRPr sz="135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適用条件内のParameter</a:t>
            </a:r>
          </a:p>
        </p:txBody>
      </p:sp>
      <p:sp>
        <p:nvSpPr>
          <p:cNvPr id="15" name="two-col-conclusion">
            <a:extLst xmlns:a="http://schemas.openxmlformats.org/drawingml/2006/main">
              <a:ext uri="{FF2B5EF4-FFF2-40B4-BE49-F238E27FC236}">
                <a16:creationId xmlns:a16="http://schemas.microsoft.com/office/drawing/2014/main" id="{DA6BFA64-F67F-4A79-8E4B-B80C28D41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810250"/>
            <a:ext cx="8953500" cy="4762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7F0F6"/>
          </a:solidFill>
          <a:ln xmlns:a="http://schemas.openxmlformats.org/drawingml/2006/main" w="14288">
            <a:solidFill>
              <a:srgbClr val="173F5F"/>
            </a:solidFill>
            <a:prstDash val="solid"/>
          </a:ln>
        </p:spPr>
      </p:sp>
      <p:sp>
        <p:nvSpPr>
          <p:cNvPr id="16" name="two-col-conclusion-text">
            <a:extLst xmlns:a="http://schemas.openxmlformats.org/drawingml/2006/main">
              <a:ext uri="{FF2B5EF4-FFF2-40B4-BE49-F238E27FC236}">
                <a16:creationId xmlns:a16="http://schemas.microsoft.com/office/drawing/2014/main" id="{1434F208-0620-482A-9807-7DDB7629B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5867400"/>
            <a:ext cx="847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57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全体Programではなく、決められた場所へ一つの能力を追加する</a:t>
            </a:r>
          </a:p>
        </p:txBody>
      </p:sp>
    </p:spTree>
    <p:extLst>
      <p:ext uri="{BB962C8B-B14F-4D97-AF65-F5344CB8AC3E}">
        <p14:creationId xmlns:p14="http://schemas.microsoft.com/office/powerpoint/2010/main" val="152135804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op-accent">
            <a:extLst xmlns:a="http://schemas.openxmlformats.org/drawingml/2006/main">
              <a:ext uri="{FF2B5EF4-FFF2-40B4-BE49-F238E27FC236}">
                <a16:creationId xmlns:a16="http://schemas.microsoft.com/office/drawing/2014/main" id="{F318FEFC-863C-4173-B73F-5D6EB4CCC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F5F"/>
          </a:solidFill>
          <a:ln xmlns:a="http://schemas.openxmlformats.org/drawingml/2006/main" w="0">
            <a:solidFill>
              <a:srgbClr val="173F5F"/>
            </a:solidFill>
            <a:prstDash val="solid"/>
          </a:ln>
        </p:spPr>
      </p:sp>
      <p:sp>
        <p:nvSpPr>
          <p:cNvPr id="2" name="deck-name">
            <a:extLst xmlns:a="http://schemas.openxmlformats.org/drawingml/2006/main">
              <a:ext uri="{FF2B5EF4-FFF2-40B4-BE49-F238E27FC236}">
                <a16:creationId xmlns:a16="http://schemas.microsoft.com/office/drawing/2014/main" id="{EB14CB8C-FCBD-449D-B92F-2BE0A2785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670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U001–U003 詳細説明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5CA0735-1BE7-4FE3-A63E-337A84C80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"/>
            <a:ext cx="11010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17324D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550" b="1">
                <a:solidFill>
                  <a:srgbClr val="17324D"/>
                </a:solidFill>
                <a:latin typeface="Hiragino Kaku Gothic ProN"/>
                <a:ea typeface="Hiragino Kaku Gothic ProN"/>
                <a:cs typeface="Hiragino Kaku Gothic ProN"/>
              </a:rPr>
              <a:t>Profileは実行定義、経験資産は結果とReviewを含む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162E46F6-D864-4E44-8D90-B06A3AA19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90550" y="1381125"/>
            <a:ext cx="110109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7C8D6"/>
            </a:solidFill>
            <a:prstDash val="solid"/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5962E90C-712C-4C4F-A2C1-23246C9FB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34150"/>
            <a:ext cx="781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97222"/>
          </a:bodyPr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900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rPr>
              <a:t>ZHAO ZHILI  |  U-Series Detailed Review  |  2026-09-01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270C079-B10F-44C2-80FB-0751A8735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524625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97222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900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rPr>
              <a:t>17</a:t>
            </a:r>
          </a:p>
        </p:txBody>
      </p:sp>
      <p:sp>
        <p:nvSpPr>
          <p:cNvPr id="7" name="col-title-0">
            <a:extLst xmlns:a="http://schemas.openxmlformats.org/drawingml/2006/main">
              <a:ext uri="{FF2B5EF4-FFF2-40B4-BE49-F238E27FC236}">
                <a16:creationId xmlns:a16="http://schemas.microsoft.com/office/drawing/2014/main" id="{BD36DCA6-C446-4F2D-87E3-B38783985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2F7D6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100" b="1">
                <a:solidFill>
                  <a:srgbClr val="2F7D68"/>
                </a:solidFill>
                <a:latin typeface="Hiragino Kaku Gothic ProN"/>
                <a:ea typeface="Hiragino Kaku Gothic ProN"/>
                <a:cs typeface="Hiragino Kaku Gothic ProN"/>
              </a:rPr>
              <a:t>Profile Definition</a:t>
            </a:r>
          </a:p>
        </p:txBody>
      </p:sp>
      <p:sp>
        <p:nvSpPr>
          <p:cNvPr id="8" name="col-rule-0">
            <a:extLst xmlns:a="http://schemas.openxmlformats.org/drawingml/2006/main">
              <a:ext uri="{FF2B5EF4-FFF2-40B4-BE49-F238E27FC236}">
                <a16:creationId xmlns:a16="http://schemas.microsoft.com/office/drawing/2014/main" id="{93FF6806-D3D9-49A6-8E76-2B5E17145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952500" y="2209800"/>
            <a:ext cx="4191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F7D68"/>
            </a:solidFill>
            <a:prstDash val="solid"/>
          </a:ln>
        </p:spPr>
      </p:sp>
      <p:sp>
        <p:nvSpPr>
          <p:cNvPr id="9" name="col-box-0">
            <a:extLst xmlns:a="http://schemas.openxmlformats.org/drawingml/2006/main">
              <a:ext uri="{FF2B5EF4-FFF2-40B4-BE49-F238E27FC236}">
                <a16:creationId xmlns:a16="http://schemas.microsoft.com/office/drawing/2014/main" id="{033A33C3-9ED3-494B-A6F9-EADCCAA97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4762500" cy="3143250"/>
          </a:xfrm>
          <a:prstGeom xmlns:a="http://schemas.openxmlformats.org/drawingml/2006/main" prst="roundRect">
            <a:avLst>
              <a:gd name="adj" fmla="val 1212"/>
            </a:avLst>
          </a:prstGeom>
          <a:solidFill xmlns:a="http://schemas.openxmlformats.org/drawingml/2006/main">
            <a:srgbClr val="E5F2EE"/>
          </a:solidFill>
          <a:ln xmlns:a="http://schemas.openxmlformats.org/drawingml/2006/main" w="14288">
            <a:solidFill>
              <a:srgbClr val="2F7D68"/>
            </a:solidFill>
            <a:prstDash val="solid"/>
          </a:ln>
        </p:spPr>
      </p:sp>
      <p:sp>
        <p:nvSpPr>
          <p:cNvPr id="10" name="col-body-0">
            <a:extLst xmlns:a="http://schemas.openxmlformats.org/drawingml/2006/main">
              <a:ext uri="{FF2B5EF4-FFF2-40B4-BE49-F238E27FC236}">
                <a16:creationId xmlns:a16="http://schemas.microsoft.com/office/drawing/2014/main" id="{E86F7B16-F6ED-4ED1-AC07-3A87D8883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28900"/>
            <a:ext cx="41148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marL="20" indent="-10">
              <a:spcAft>
                <a:spcPts val="7"/>
              </a:spcAft>
              <a:buChar char="•"/>
              <a:defRPr sz="135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使用するSignal</a:t>
            </a:r>
          </a:p>
          <a:p xmlns:a="http://schemas.openxmlformats.org/drawingml/2006/main">
            <a:pPr marL="20" indent="-10">
              <a:spcAft>
                <a:spcPts val="7"/>
              </a:spcAft>
              <a:buChar char="•"/>
              <a:defRPr sz="135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Moduleの選択と順序</a:t>
            </a:r>
          </a:p>
          <a:p xmlns:a="http://schemas.openxmlformats.org/drawingml/2006/main">
            <a:pPr marL="20" indent="-10">
              <a:spcAft>
                <a:spcPts val="7"/>
              </a:spcAft>
              <a:buChar char="•"/>
              <a:defRPr sz="135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Parameter</a:t>
            </a:r>
          </a:p>
          <a:p xmlns:a="http://schemas.openxmlformats.org/drawingml/2006/main">
            <a:pPr marL="20" indent="-10">
              <a:spcAft>
                <a:spcPts val="7"/>
              </a:spcAft>
              <a:buChar char="•"/>
              <a:defRPr sz="135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Frame範囲・対象条件</a:t>
            </a:r>
          </a:p>
          <a:p xmlns:a="http://schemas.openxmlformats.org/drawingml/2006/main">
            <a:pPr marL="20" indent="-10">
              <a:spcAft>
                <a:spcPts val="7"/>
              </a:spcAft>
              <a:buChar char="•"/>
              <a:defRPr sz="135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出力先とReview言語</a:t>
            </a:r>
          </a:p>
        </p:txBody>
      </p:sp>
      <p:sp>
        <p:nvSpPr>
          <p:cNvPr id="11" name="col-title-1">
            <a:extLst xmlns:a="http://schemas.openxmlformats.org/drawingml/2006/main">
              <a:ext uri="{FF2B5EF4-FFF2-40B4-BE49-F238E27FC236}">
                <a16:creationId xmlns:a16="http://schemas.microsoft.com/office/drawing/2014/main" id="{082BC540-85D2-4265-A96F-7BACC3A19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5735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C58B2A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100" b="1">
                <a:solidFill>
                  <a:srgbClr val="C58B2A"/>
                </a:solidFill>
                <a:latin typeface="Hiragino Kaku Gothic ProN"/>
                <a:ea typeface="Hiragino Kaku Gothic ProN"/>
                <a:cs typeface="Hiragino Kaku Gothic ProN"/>
              </a:rPr>
              <a:t>検証済み経験として必要</a:t>
            </a:r>
          </a:p>
        </p:txBody>
      </p:sp>
      <p:sp>
        <p:nvSpPr>
          <p:cNvPr id="12" name="col-rule-1">
            <a:extLst xmlns:a="http://schemas.openxmlformats.org/drawingml/2006/main">
              <a:ext uri="{FF2B5EF4-FFF2-40B4-BE49-F238E27FC236}">
                <a16:creationId xmlns:a16="http://schemas.microsoft.com/office/drawing/2014/main" id="{757B5CEC-665D-4833-9CA5-C5B2C8D84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6477000" y="2209800"/>
            <a:ext cx="4191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58B2A"/>
            </a:solidFill>
            <a:prstDash val="solid"/>
          </a:ln>
        </p:spPr>
      </p:sp>
      <p:sp>
        <p:nvSpPr>
          <p:cNvPr id="13" name="col-box-1">
            <a:extLst xmlns:a="http://schemas.openxmlformats.org/drawingml/2006/main">
              <a:ext uri="{FF2B5EF4-FFF2-40B4-BE49-F238E27FC236}">
                <a16:creationId xmlns:a16="http://schemas.microsoft.com/office/drawing/2014/main" id="{619A4563-F921-4012-9FA2-C3FEE78A7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81250"/>
            <a:ext cx="4762500" cy="3143250"/>
          </a:xfrm>
          <a:prstGeom xmlns:a="http://schemas.openxmlformats.org/drawingml/2006/main" prst="roundRect">
            <a:avLst>
              <a:gd name="adj" fmla="val 1212"/>
            </a:avLst>
          </a:prstGeom>
          <a:solidFill xmlns:a="http://schemas.openxmlformats.org/drawingml/2006/main">
            <a:srgbClr val="FBF0D9"/>
          </a:solidFill>
          <a:ln xmlns:a="http://schemas.openxmlformats.org/drawingml/2006/main" w="14288">
            <a:solidFill>
              <a:srgbClr val="C58B2A"/>
            </a:solidFill>
            <a:prstDash val="solid"/>
          </a:ln>
        </p:spPr>
      </p:sp>
      <p:sp>
        <p:nvSpPr>
          <p:cNvPr id="14" name="col-body-1">
            <a:extLst xmlns:a="http://schemas.openxmlformats.org/drawingml/2006/main">
              <a:ext uri="{FF2B5EF4-FFF2-40B4-BE49-F238E27FC236}">
                <a16:creationId xmlns:a16="http://schemas.microsoft.com/office/drawing/2014/main" id="{2CE8596D-BD0B-449E-B2A2-A0F5B953F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628900"/>
            <a:ext cx="41148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marL="20" indent="-10">
              <a:spcAft>
                <a:spcPts val="7"/>
              </a:spcAft>
              <a:buChar char="•"/>
              <a:defRPr sz="135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Run Manifest</a:t>
            </a:r>
          </a:p>
          <a:p xmlns:a="http://schemas.openxmlformats.org/drawingml/2006/main">
            <a:pPr marL="20" indent="-10">
              <a:spcAft>
                <a:spcPts val="7"/>
              </a:spcAft>
              <a:buChar char="•"/>
              <a:defRPr sz="135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入力とModuleのVersion</a:t>
            </a:r>
          </a:p>
          <a:p xmlns:a="http://schemas.openxmlformats.org/drawingml/2006/main">
            <a:pPr marL="20" indent="-10">
              <a:spcAft>
                <a:spcPts val="7"/>
              </a:spcAft>
              <a:buChar char="•"/>
              <a:defRPr sz="135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実行結果・候補</a:t>
            </a:r>
          </a:p>
          <a:p xmlns:a="http://schemas.openxmlformats.org/drawingml/2006/main">
            <a:pPr marL="20" indent="-10">
              <a:spcAft>
                <a:spcPts val="7"/>
              </a:spcAft>
              <a:buChar char="•"/>
              <a:defRPr sz="135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人のReviewとEvidence</a:t>
            </a:r>
          </a:p>
          <a:p xmlns:a="http://schemas.openxmlformats.org/drawingml/2006/main">
            <a:pPr marL="20" indent="-10">
              <a:spcAft>
                <a:spcPts val="7"/>
              </a:spcAft>
              <a:buChar char="•"/>
              <a:defRPr sz="135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適用範囲・既知の限界</a:t>
            </a:r>
          </a:p>
        </p:txBody>
      </p:sp>
      <p:sp>
        <p:nvSpPr>
          <p:cNvPr id="15" name="two-col-conclusion">
            <a:extLst xmlns:a="http://schemas.openxmlformats.org/drawingml/2006/main">
              <a:ext uri="{FF2B5EF4-FFF2-40B4-BE49-F238E27FC236}">
                <a16:creationId xmlns:a16="http://schemas.microsoft.com/office/drawing/2014/main" id="{D9BDCE72-EBC0-484E-9907-A1C7B16E9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810250"/>
            <a:ext cx="8953500" cy="4762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7F0F6"/>
          </a:solidFill>
          <a:ln xmlns:a="http://schemas.openxmlformats.org/drawingml/2006/main" w="14288">
            <a:solidFill>
              <a:srgbClr val="173F5F"/>
            </a:solidFill>
            <a:prstDash val="solid"/>
          </a:ln>
        </p:spPr>
      </p:sp>
      <p:sp>
        <p:nvSpPr>
          <p:cNvPr id="16" name="two-col-conclusion-text">
            <a:extLst xmlns:a="http://schemas.openxmlformats.org/drawingml/2006/main">
              <a:ext uri="{FF2B5EF4-FFF2-40B4-BE49-F238E27FC236}">
                <a16:creationId xmlns:a16="http://schemas.microsoft.com/office/drawing/2014/main" id="{E62E4593-9CB5-4D11-89F8-A975ADA63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5867400"/>
            <a:ext cx="847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57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Profile + Run + Review + 適用範囲が、再利用できる工程経験</a:t>
            </a:r>
          </a:p>
        </p:txBody>
      </p:sp>
    </p:spTree>
    <p:extLst>
      <p:ext uri="{BB962C8B-B14F-4D97-AF65-F5344CB8AC3E}">
        <p14:creationId xmlns:p14="http://schemas.microsoft.com/office/powerpoint/2010/main" val="90866080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top-accent">
            <a:extLst xmlns:a="http://schemas.openxmlformats.org/drawingml/2006/main">
              <a:ext uri="{FF2B5EF4-FFF2-40B4-BE49-F238E27FC236}">
                <a16:creationId xmlns:a16="http://schemas.microsoft.com/office/drawing/2014/main" id="{0BC29236-82AF-4C3B-A88B-514656051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F5F"/>
          </a:solidFill>
          <a:ln xmlns:a="http://schemas.openxmlformats.org/drawingml/2006/main" w="0">
            <a:solidFill>
              <a:srgbClr val="173F5F"/>
            </a:solidFill>
            <a:prstDash val="solid"/>
          </a:ln>
        </p:spPr>
      </p:sp>
      <p:sp>
        <p:nvSpPr>
          <p:cNvPr id="2" name="deck-name">
            <a:extLst xmlns:a="http://schemas.openxmlformats.org/drawingml/2006/main">
              <a:ext uri="{FF2B5EF4-FFF2-40B4-BE49-F238E27FC236}">
                <a16:creationId xmlns:a16="http://schemas.microsoft.com/office/drawing/2014/main" id="{AFF29F6C-D71E-43C3-8DB9-15C76B314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670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U001–U003 詳細説明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B4BC7CF-00D8-409C-811A-F7F9FC7CA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"/>
            <a:ext cx="11010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17324D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850" b="1">
                <a:solidFill>
                  <a:srgbClr val="17324D"/>
                </a:solidFill>
                <a:latin typeface="Hiragino Kaku Gothic ProN"/>
                <a:ea typeface="Hiragino Kaku Gothic ProN"/>
                <a:cs typeface="Hiragino Kaku Gothic ProN"/>
              </a:rPr>
              <a:t>Profileを変更した時は、同じ入力で比較する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F1630827-9340-49C9-B1B7-7BD211981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90550" y="1381125"/>
            <a:ext cx="110109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7C8D6"/>
            </a:solidFill>
            <a:prstDash val="solid"/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1F44DF7E-2A1A-42A4-9A88-FB5FA19BC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34150"/>
            <a:ext cx="781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97222"/>
          </a:bodyPr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900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rPr>
              <a:t>ZHAO ZHILI  |  U-Series Detailed Review  |  2026-09-01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D0E4D3F-608D-4B49-8739-F70BD3AFB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524625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97222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900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rPr>
              <a:t>18</a:t>
            </a:r>
          </a:p>
        </p:txBody>
      </p:sp>
      <p:sp>
        <p:nvSpPr>
          <p:cNvPr id="7" name="flow-arrow-1">
            <a:extLst xmlns:a="http://schemas.openxmlformats.org/drawingml/2006/main">
              <a:ext uri="{FF2B5EF4-FFF2-40B4-BE49-F238E27FC236}">
                <a16:creationId xmlns:a16="http://schemas.microsoft.com/office/drawing/2014/main" id="{34D06CFF-8CAB-42AA-90FE-7DEF281C0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4070350" y="3190875"/>
            <a:ext cx="3238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B7C8D6"/>
            </a:solidFill>
            <a:prstDash val="solid"/>
          </a:ln>
        </p:spPr>
      </p:sp>
      <p:sp>
        <p:nvSpPr>
          <p:cNvPr id="8" name="flow-arrow-2">
            <a:extLst xmlns:a="http://schemas.openxmlformats.org/drawingml/2006/main">
              <a:ext uri="{FF2B5EF4-FFF2-40B4-BE49-F238E27FC236}">
                <a16:creationId xmlns:a16="http://schemas.microsoft.com/office/drawing/2014/main" id="{ECAC6DAA-7F2F-4C71-8458-54855235B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7797800" y="3190875"/>
            <a:ext cx="3238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B7C8D6"/>
            </a:solidFill>
            <a:prstDash val="solid"/>
          </a:ln>
        </p:spPr>
      </p:sp>
      <p:sp>
        <p:nvSpPr>
          <p:cNvPr id="9" name="flow-box-1">
            <a:extLst xmlns:a="http://schemas.openxmlformats.org/drawingml/2006/main">
              <a:ext uri="{FF2B5EF4-FFF2-40B4-BE49-F238E27FC236}">
                <a16:creationId xmlns:a16="http://schemas.microsoft.com/office/drawing/2014/main" id="{CBA1CEF3-DA0F-45B3-A858-1F43C2021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33625"/>
            <a:ext cx="3479800" cy="17145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E7F0F6"/>
          </a:solidFill>
          <a:ln xmlns:a="http://schemas.openxmlformats.org/drawingml/2006/main" w="14288">
            <a:solidFill>
              <a:srgbClr val="B7C8D6"/>
            </a:solidFill>
            <a:prstDash val="solid"/>
          </a:ln>
        </p:spPr>
      </p:sp>
      <p:sp>
        <p:nvSpPr>
          <p:cNvPr id="10" name="flow-badge-1">
            <a:extLst xmlns:a="http://schemas.openxmlformats.org/drawingml/2006/main">
              <a:ext uri="{FF2B5EF4-FFF2-40B4-BE49-F238E27FC236}">
                <a16:creationId xmlns:a16="http://schemas.microsoft.com/office/drawing/2014/main" id="{7E2AF246-7C4A-4AEE-9D79-5A38E13DF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9950" y="20097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F5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rPr>
              <a:t>1</a:t>
            </a:r>
          </a:p>
        </p:txBody>
      </p:sp>
      <p:sp>
        <p:nvSpPr>
          <p:cNvPr id="11" name="flow-title-1">
            <a:extLst xmlns:a="http://schemas.openxmlformats.org/drawingml/2006/main">
              <a:ext uri="{FF2B5EF4-FFF2-40B4-BE49-F238E27FC236}">
                <a16:creationId xmlns:a16="http://schemas.microsoft.com/office/drawing/2014/main" id="{A660ED1C-266E-4230-AA4B-8C9C38F4B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0325"/>
            <a:ext cx="3213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650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旧結果を固定</a:t>
            </a:r>
          </a:p>
        </p:txBody>
      </p:sp>
      <p:sp>
        <p:nvSpPr>
          <p:cNvPr id="12" name="flow-body-1">
            <a:extLst xmlns:a="http://schemas.openxmlformats.org/drawingml/2006/main">
              <a:ext uri="{FF2B5EF4-FFF2-40B4-BE49-F238E27FC236}">
                <a16:creationId xmlns:a16="http://schemas.microsoft.com/office/drawing/2014/main" id="{50C3D12F-EEB6-4220-A195-22A0F7CAD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81350"/>
            <a:ext cx="3213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旧Profile・Run・Reviewを</a:t>
            </a:r>
          </a:p>
          <a:p xmlns:a="http://schemas.openxmlformats.org/drawingml/2006/main">
            <a:pPr algn="ctr">
              <a:buNone/>
              <a:defRPr sz="135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上書きしない</a:t>
            </a:r>
          </a:p>
        </p:txBody>
      </p:sp>
      <p:sp>
        <p:nvSpPr>
          <p:cNvPr id="13" name="flow-box-2">
            <a:extLst xmlns:a="http://schemas.openxmlformats.org/drawingml/2006/main">
              <a:ext uri="{FF2B5EF4-FFF2-40B4-BE49-F238E27FC236}">
                <a16:creationId xmlns:a16="http://schemas.microsoft.com/office/drawing/2014/main" id="{221E531E-4684-44FE-96E2-AB6347BEA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6100" y="2333625"/>
            <a:ext cx="3479800" cy="17145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E8F1F8"/>
          </a:solidFill>
          <a:ln xmlns:a="http://schemas.openxmlformats.org/drawingml/2006/main" w="14288">
            <a:solidFill>
              <a:srgbClr val="B7C8D6"/>
            </a:solidFill>
            <a:prstDash val="solid"/>
          </a:ln>
        </p:spPr>
      </p:sp>
      <p:sp>
        <p:nvSpPr>
          <p:cNvPr id="14" name="flow-badge-2">
            <a:extLst xmlns:a="http://schemas.openxmlformats.org/drawingml/2006/main">
              <a:ext uri="{FF2B5EF4-FFF2-40B4-BE49-F238E27FC236}">
                <a16:creationId xmlns:a16="http://schemas.microsoft.com/office/drawing/2014/main" id="{43EECA2A-6B83-44CD-97B6-3994ED19A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0097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F5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rPr>
              <a:t>2</a:t>
            </a:r>
          </a:p>
        </p:txBody>
      </p:sp>
      <p:sp>
        <p:nvSpPr>
          <p:cNvPr id="15" name="flow-title-2">
            <a:extLst xmlns:a="http://schemas.openxmlformats.org/drawingml/2006/main">
              <a:ext uri="{FF2B5EF4-FFF2-40B4-BE49-F238E27FC236}">
                <a16:creationId xmlns:a16="http://schemas.microsoft.com/office/drawing/2014/main" id="{C42A1A31-020D-4BA9-8643-667F53687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450" y="2600325"/>
            <a:ext cx="3213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650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新版を再実行</a:t>
            </a:r>
          </a:p>
        </p:txBody>
      </p:sp>
      <p:sp>
        <p:nvSpPr>
          <p:cNvPr id="16" name="flow-body-2">
            <a:extLst xmlns:a="http://schemas.openxmlformats.org/drawingml/2006/main">
              <a:ext uri="{FF2B5EF4-FFF2-40B4-BE49-F238E27FC236}">
                <a16:creationId xmlns:a16="http://schemas.microsoft.com/office/drawing/2014/main" id="{C4E765A2-C89A-46CF-A1C0-631A6DE4D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450" y="3181350"/>
            <a:ext cx="3213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同じInput IDと範囲で</a:t>
            </a:r>
          </a:p>
          <a:p xmlns:a="http://schemas.openxmlformats.org/drawingml/2006/main">
            <a:pPr algn="ctr">
              <a:buNone/>
              <a:defRPr sz="135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変更点だけを反映</a:t>
            </a:r>
          </a:p>
        </p:txBody>
      </p:sp>
      <p:sp>
        <p:nvSpPr>
          <p:cNvPr id="17" name="flow-box-3">
            <a:extLst xmlns:a="http://schemas.openxmlformats.org/drawingml/2006/main">
              <a:ext uri="{FF2B5EF4-FFF2-40B4-BE49-F238E27FC236}">
                <a16:creationId xmlns:a16="http://schemas.microsoft.com/office/drawing/2014/main" id="{70093573-6196-4C7B-A604-38291B36D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3550" y="2333625"/>
            <a:ext cx="3479800" cy="17145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E5F2EE"/>
          </a:solidFill>
          <a:ln xmlns:a="http://schemas.openxmlformats.org/drawingml/2006/main" w="14288">
            <a:solidFill>
              <a:srgbClr val="B7C8D6"/>
            </a:solidFill>
            <a:prstDash val="solid"/>
          </a:ln>
        </p:spPr>
      </p:sp>
      <p:sp>
        <p:nvSpPr>
          <p:cNvPr id="18" name="flow-badge-3">
            <a:extLst xmlns:a="http://schemas.openxmlformats.org/drawingml/2006/main">
              <a:ext uri="{FF2B5EF4-FFF2-40B4-BE49-F238E27FC236}">
                <a16:creationId xmlns:a16="http://schemas.microsoft.com/office/drawing/2014/main" id="{BB7435CF-AFE2-4FB6-B970-3DACECEC2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4850" y="20097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D6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rPr>
              <a:t>3</a:t>
            </a:r>
          </a:p>
        </p:txBody>
      </p:sp>
      <p:sp>
        <p:nvSpPr>
          <p:cNvPr id="19" name="flow-title-3">
            <a:extLst xmlns:a="http://schemas.openxmlformats.org/drawingml/2006/main">
              <a:ext uri="{FF2B5EF4-FFF2-40B4-BE49-F238E27FC236}">
                <a16:creationId xmlns:a16="http://schemas.microsoft.com/office/drawing/2014/main" id="{30E22A2C-8AD7-44A0-BFEB-3C5FAFA61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6900" y="2600325"/>
            <a:ext cx="3213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650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差を比較</a:t>
            </a:r>
          </a:p>
        </p:txBody>
      </p:sp>
      <p:sp>
        <p:nvSpPr>
          <p:cNvPr id="20" name="flow-body-3">
            <a:extLst xmlns:a="http://schemas.openxmlformats.org/drawingml/2006/main">
              <a:ext uri="{FF2B5EF4-FFF2-40B4-BE49-F238E27FC236}">
                <a16:creationId xmlns:a16="http://schemas.microsoft.com/office/drawing/2014/main" id="{585BD930-BA69-4D49-9AA8-EF17C7713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6900" y="3181350"/>
            <a:ext cx="3213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候補・Score・Evidence・</a:t>
            </a:r>
          </a:p>
          <a:p xmlns:a="http://schemas.openxmlformats.org/drawingml/2006/main">
            <a:pPr algn="ctr">
              <a:buNone/>
              <a:defRPr sz="135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人工判断を比較</a:t>
            </a:r>
          </a:p>
        </p:txBody>
      </p:sp>
      <p:sp>
        <p:nvSpPr>
          <p:cNvPr id="21" name="flow-kicker">
            <a:extLst xmlns:a="http://schemas.openxmlformats.org/drawingml/2006/main">
              <a:ext uri="{FF2B5EF4-FFF2-40B4-BE49-F238E27FC236}">
                <a16:creationId xmlns:a16="http://schemas.microsoft.com/office/drawing/2014/main" id="{54010D7A-D943-4ED3-9788-B305C3114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1450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650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rPr>
              <a:t>Clean Replay / A-B Comparison</a:t>
            </a:r>
          </a:p>
        </p:txBody>
      </p:sp>
      <p:sp>
        <p:nvSpPr>
          <p:cNvPr id="22" name="flow-conclusion">
            <a:extLst xmlns:a="http://schemas.openxmlformats.org/drawingml/2006/main">
              <a:ext uri="{FF2B5EF4-FFF2-40B4-BE49-F238E27FC236}">
                <a16:creationId xmlns:a16="http://schemas.microsoft.com/office/drawing/2014/main" id="{36FBEF3C-20A7-4D99-97E8-8C4897937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953000"/>
            <a:ext cx="10096500" cy="7239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E7F0F6"/>
          </a:solidFill>
          <a:ln xmlns:a="http://schemas.openxmlformats.org/drawingml/2006/main" w="14288">
            <a:solidFill>
              <a:srgbClr val="173F5F"/>
            </a:solidFill>
            <a:prstDash val="solid"/>
          </a:ln>
        </p:spPr>
      </p:sp>
      <p:sp>
        <p:nvSpPr>
          <p:cNvPr id="23" name="flow-conclusion-text">
            <a:extLst xmlns:a="http://schemas.openxmlformats.org/drawingml/2006/main">
              <a:ext uri="{FF2B5EF4-FFF2-40B4-BE49-F238E27FC236}">
                <a16:creationId xmlns:a16="http://schemas.microsoft.com/office/drawing/2014/main" id="{45D54776-8780-4AA0-BFF1-5046A85FD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114925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7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改善したかどうかを、同じCaseで説明できる</a:t>
            </a:r>
          </a:p>
        </p:txBody>
      </p:sp>
    </p:spTree>
    <p:extLst>
      <p:ext uri="{BB962C8B-B14F-4D97-AF65-F5344CB8AC3E}">
        <p14:creationId xmlns:p14="http://schemas.microsoft.com/office/powerpoint/2010/main" val="39231311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top-accent">
            <a:extLst xmlns:a="http://schemas.openxmlformats.org/drawingml/2006/main">
              <a:ext uri="{FF2B5EF4-FFF2-40B4-BE49-F238E27FC236}">
                <a16:creationId xmlns:a16="http://schemas.microsoft.com/office/drawing/2014/main" id="{6209E79B-4422-45DE-8BB5-CC29FAC5E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F5F"/>
          </a:solidFill>
          <a:ln xmlns:a="http://schemas.openxmlformats.org/drawingml/2006/main" w="0">
            <a:solidFill>
              <a:srgbClr val="173F5F"/>
            </a:solidFill>
            <a:prstDash val="solid"/>
          </a:ln>
        </p:spPr>
      </p:sp>
      <p:sp>
        <p:nvSpPr>
          <p:cNvPr id="2" name="deck-name">
            <a:extLst xmlns:a="http://schemas.openxmlformats.org/drawingml/2006/main">
              <a:ext uri="{FF2B5EF4-FFF2-40B4-BE49-F238E27FC236}">
                <a16:creationId xmlns:a16="http://schemas.microsoft.com/office/drawing/2014/main" id="{1721907B-1DF8-4F2D-BDBB-DAB06DADC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670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U001–U003 詳細説明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CE7C8DA-7DD1-419C-A3AE-99CE4E575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"/>
            <a:ext cx="11010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17324D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850" b="1">
                <a:solidFill>
                  <a:srgbClr val="17324D"/>
                </a:solidFill>
                <a:latin typeface="Hiragino Kaku Gothic ProN"/>
                <a:ea typeface="Hiragino Kaku Gothic ProN"/>
                <a:cs typeface="Hiragino Kaku Gothic ProN"/>
              </a:rPr>
              <a:t>U002の中では、S0–S7が分析の順序を固定する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BEFA1F30-76A2-47F0-8A13-0CBBD6211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90550" y="1381125"/>
            <a:ext cx="110109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7C8D6"/>
            </a:solidFill>
            <a:prstDash val="solid"/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75728F57-D5B9-45C1-9455-3040FBAFE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34150"/>
            <a:ext cx="781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97222"/>
          </a:bodyPr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900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rPr>
              <a:t>ZHAO ZHILI  |  U-Series Detailed Review  |  2026-09-01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5D5359C7-3D18-486D-B7D3-8B78B12D1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524625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97222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900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rPr>
              <a:t>19</a:t>
            </a:r>
          </a:p>
        </p:txBody>
      </p:sp>
      <p:sp>
        <p:nvSpPr>
          <p:cNvPr id="7" name="flow-arrow-1">
            <a:extLst xmlns:a="http://schemas.openxmlformats.org/drawingml/2006/main">
              <a:ext uri="{FF2B5EF4-FFF2-40B4-BE49-F238E27FC236}">
                <a16:creationId xmlns:a16="http://schemas.microsoft.com/office/drawing/2014/main" id="{3862D7B0-2861-4E20-9D97-DDBAEBC06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2286000" y="3190875"/>
            <a:ext cx="228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B7C8D6"/>
            </a:solidFill>
            <a:prstDash val="solid"/>
          </a:ln>
        </p:spPr>
      </p:sp>
      <p:sp>
        <p:nvSpPr>
          <p:cNvPr id="8" name="flow-arrow-2">
            <a:extLst xmlns:a="http://schemas.openxmlformats.org/drawingml/2006/main">
              <a:ext uri="{FF2B5EF4-FFF2-40B4-BE49-F238E27FC236}">
                <a16:creationId xmlns:a16="http://schemas.microsoft.com/office/drawing/2014/main" id="{1F901E21-8F61-4ED9-B4B2-6BA70A05E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4133850" y="3190875"/>
            <a:ext cx="228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B7C8D6"/>
            </a:solidFill>
            <a:prstDash val="solid"/>
          </a:ln>
        </p:spPr>
      </p:sp>
      <p:sp>
        <p:nvSpPr>
          <p:cNvPr id="9" name="flow-arrow-3">
            <a:extLst xmlns:a="http://schemas.openxmlformats.org/drawingml/2006/main">
              <a:ext uri="{FF2B5EF4-FFF2-40B4-BE49-F238E27FC236}">
                <a16:creationId xmlns:a16="http://schemas.microsoft.com/office/drawing/2014/main" id="{D6810145-9195-4D09-B390-BB5D34B39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981700" y="3190875"/>
            <a:ext cx="228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B7C8D6"/>
            </a:solidFill>
            <a:prstDash val="solid"/>
          </a:ln>
        </p:spPr>
      </p:sp>
      <p:sp>
        <p:nvSpPr>
          <p:cNvPr id="10" name="flow-arrow-4">
            <a:extLst xmlns:a="http://schemas.openxmlformats.org/drawingml/2006/main">
              <a:ext uri="{FF2B5EF4-FFF2-40B4-BE49-F238E27FC236}">
                <a16:creationId xmlns:a16="http://schemas.microsoft.com/office/drawing/2014/main" id="{270CEFFB-F459-40AB-8F54-A23993E3C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7829550" y="3190875"/>
            <a:ext cx="228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B7C8D6"/>
            </a:solidFill>
            <a:prstDash val="solid"/>
          </a:ln>
        </p:spPr>
      </p:sp>
      <p:sp>
        <p:nvSpPr>
          <p:cNvPr id="11" name="flow-arrow-5">
            <a:extLst xmlns:a="http://schemas.openxmlformats.org/drawingml/2006/main">
              <a:ext uri="{FF2B5EF4-FFF2-40B4-BE49-F238E27FC236}">
                <a16:creationId xmlns:a16="http://schemas.microsoft.com/office/drawing/2014/main" id="{E7F6AEBF-1B67-4184-B216-7A65972AF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9677400" y="3190875"/>
            <a:ext cx="228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B7C8D6"/>
            </a:solidFill>
            <a:prstDash val="solid"/>
          </a:ln>
        </p:spPr>
      </p:sp>
      <p:sp>
        <p:nvSpPr>
          <p:cNvPr id="12" name="flow-box-1">
            <a:extLst xmlns:a="http://schemas.openxmlformats.org/drawingml/2006/main">
              <a:ext uri="{FF2B5EF4-FFF2-40B4-BE49-F238E27FC236}">
                <a16:creationId xmlns:a16="http://schemas.microsoft.com/office/drawing/2014/main" id="{FC60123A-00CE-4E12-B489-6861E9C0A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33625"/>
            <a:ext cx="1695450" cy="1714500"/>
          </a:xfrm>
          <a:prstGeom xmlns:a="http://schemas.openxmlformats.org/drawingml/2006/main" prst="roundRect">
            <a:avLst>
              <a:gd name="adj" fmla="val 22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7C8D6"/>
            </a:solidFill>
            <a:prstDash val="solid"/>
          </a:ln>
        </p:spPr>
      </p:sp>
      <p:sp>
        <p:nvSpPr>
          <p:cNvPr id="13" name="flow-title-1">
            <a:extLst xmlns:a="http://schemas.openxmlformats.org/drawingml/2006/main">
              <a:ext uri="{FF2B5EF4-FFF2-40B4-BE49-F238E27FC236}">
                <a16:creationId xmlns:a16="http://schemas.microsoft.com/office/drawing/2014/main" id="{8EE7FC25-7FFE-4D70-93AE-1B6D5C1A5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0325"/>
            <a:ext cx="142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4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S0</a:t>
            </a:r>
          </a:p>
        </p:txBody>
      </p:sp>
      <p:sp>
        <p:nvSpPr>
          <p:cNvPr id="14" name="flow-body-1">
            <a:extLst xmlns:a="http://schemas.openxmlformats.org/drawingml/2006/main">
              <a:ext uri="{FF2B5EF4-FFF2-40B4-BE49-F238E27FC236}">
                <a16:creationId xmlns:a16="http://schemas.microsoft.com/office/drawing/2014/main" id="{8AA49447-9CB0-4B5D-9DEE-357F4D1BB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81350"/>
            <a:ext cx="142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入力・範囲を
確認</a:t>
            </a:r>
          </a:p>
        </p:txBody>
      </p:sp>
      <p:sp>
        <p:nvSpPr>
          <p:cNvPr id="15" name="flow-box-2">
            <a:extLst xmlns:a="http://schemas.openxmlformats.org/drawingml/2006/main">
              <a:ext uri="{FF2B5EF4-FFF2-40B4-BE49-F238E27FC236}">
                <a16:creationId xmlns:a16="http://schemas.microsoft.com/office/drawing/2014/main" id="{DECDDACA-EAE8-4472-A0C2-6138131E1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333625"/>
            <a:ext cx="1695450" cy="1714500"/>
          </a:xfrm>
          <a:prstGeom xmlns:a="http://schemas.openxmlformats.org/drawingml/2006/main" prst="roundRect">
            <a:avLst>
              <a:gd name="adj" fmla="val 22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7C8D6"/>
            </a:solidFill>
            <a:prstDash val="solid"/>
          </a:ln>
        </p:spPr>
      </p:sp>
      <p:sp>
        <p:nvSpPr>
          <p:cNvPr id="16" name="flow-title-2">
            <a:extLst xmlns:a="http://schemas.openxmlformats.org/drawingml/2006/main">
              <a:ext uri="{FF2B5EF4-FFF2-40B4-BE49-F238E27FC236}">
                <a16:creationId xmlns:a16="http://schemas.microsoft.com/office/drawing/2014/main" id="{2AD66484-68DE-4C47-858E-E8F1578B4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600325"/>
            <a:ext cx="142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4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S1</a:t>
            </a:r>
          </a:p>
        </p:txBody>
      </p:sp>
      <p:sp>
        <p:nvSpPr>
          <p:cNvPr id="17" name="flow-body-2">
            <a:extLst xmlns:a="http://schemas.openxmlformats.org/drawingml/2006/main">
              <a:ext uri="{FF2B5EF4-FFF2-40B4-BE49-F238E27FC236}">
                <a16:creationId xmlns:a16="http://schemas.microsoft.com/office/drawing/2014/main" id="{3E51EAA8-6C6F-495D-A2A6-1FCFEEFB7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181350"/>
            <a:ext cx="142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対象・有効性を
再構成</a:t>
            </a:r>
          </a:p>
        </p:txBody>
      </p:sp>
      <p:sp>
        <p:nvSpPr>
          <p:cNvPr id="18" name="flow-box-3">
            <a:extLst xmlns:a="http://schemas.openxmlformats.org/drawingml/2006/main">
              <a:ext uri="{FF2B5EF4-FFF2-40B4-BE49-F238E27FC236}">
                <a16:creationId xmlns:a16="http://schemas.microsoft.com/office/drawing/2014/main" id="{EB27E90C-C6FA-4AE5-B9FE-E71CD8D29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333625"/>
            <a:ext cx="1695450" cy="1714500"/>
          </a:xfrm>
          <a:prstGeom xmlns:a="http://schemas.openxmlformats.org/drawingml/2006/main" prst="roundRect">
            <a:avLst>
              <a:gd name="adj" fmla="val 22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7C8D6"/>
            </a:solidFill>
            <a:prstDash val="solid"/>
          </a:ln>
        </p:spPr>
      </p:sp>
      <p:sp>
        <p:nvSpPr>
          <p:cNvPr id="19" name="flow-title-3">
            <a:extLst xmlns:a="http://schemas.openxmlformats.org/drawingml/2006/main">
              <a:ext uri="{FF2B5EF4-FFF2-40B4-BE49-F238E27FC236}">
                <a16:creationId xmlns:a16="http://schemas.microsoft.com/office/drawing/2014/main" id="{3D58DB3E-444E-4715-B5DF-BEF6423A4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600325"/>
            <a:ext cx="142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4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S2–S4</a:t>
            </a:r>
          </a:p>
        </p:txBody>
      </p:sp>
      <p:sp>
        <p:nvSpPr>
          <p:cNvPr id="20" name="flow-body-3">
            <a:extLst xmlns:a="http://schemas.openxmlformats.org/drawingml/2006/main">
              <a:ext uri="{FF2B5EF4-FFF2-40B4-BE49-F238E27FC236}">
                <a16:creationId xmlns:a16="http://schemas.microsoft.com/office/drawing/2014/main" id="{7272BC13-54AD-4973-8A0E-A40678E94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181350"/>
            <a:ext cx="142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分析用の表・基準・
差を作る</a:t>
            </a:r>
          </a:p>
        </p:txBody>
      </p:sp>
      <p:sp>
        <p:nvSpPr>
          <p:cNvPr id="21" name="flow-box-4">
            <a:extLst xmlns:a="http://schemas.openxmlformats.org/drawingml/2006/main">
              <a:ext uri="{FF2B5EF4-FFF2-40B4-BE49-F238E27FC236}">
                <a16:creationId xmlns:a16="http://schemas.microsoft.com/office/drawing/2014/main" id="{147506D8-3B0B-4FE0-83E9-AA1D9A717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333625"/>
            <a:ext cx="1695450" cy="1714500"/>
          </a:xfrm>
          <a:prstGeom xmlns:a="http://schemas.openxmlformats.org/drawingml/2006/main" prst="roundRect">
            <a:avLst>
              <a:gd name="adj" fmla="val 22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7C8D6"/>
            </a:solidFill>
            <a:prstDash val="solid"/>
          </a:ln>
        </p:spPr>
      </p:sp>
      <p:sp>
        <p:nvSpPr>
          <p:cNvPr id="22" name="flow-title-4">
            <a:extLst xmlns:a="http://schemas.openxmlformats.org/drawingml/2006/main">
              <a:ext uri="{FF2B5EF4-FFF2-40B4-BE49-F238E27FC236}">
                <a16:creationId xmlns:a16="http://schemas.microsoft.com/office/drawing/2014/main" id="{D2F25FDA-CDC4-4A90-AABF-84F3106E8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600325"/>
            <a:ext cx="142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4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S5</a:t>
            </a:r>
          </a:p>
        </p:txBody>
      </p:sp>
      <p:sp>
        <p:nvSpPr>
          <p:cNvPr id="23" name="flow-body-4">
            <a:extLst xmlns:a="http://schemas.openxmlformats.org/drawingml/2006/main">
              <a:ext uri="{FF2B5EF4-FFF2-40B4-BE49-F238E27FC236}">
                <a16:creationId xmlns:a16="http://schemas.microsoft.com/office/drawing/2014/main" id="{A1D64EF8-C131-4CA0-A0BC-95C070F0A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181350"/>
            <a:ext cx="142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Scoreと根拠を
計算</a:t>
            </a:r>
          </a:p>
        </p:txBody>
      </p:sp>
      <p:sp>
        <p:nvSpPr>
          <p:cNvPr id="24" name="flow-box-5">
            <a:extLst xmlns:a="http://schemas.openxmlformats.org/drawingml/2006/main">
              <a:ext uri="{FF2B5EF4-FFF2-40B4-BE49-F238E27FC236}">
                <a16:creationId xmlns:a16="http://schemas.microsoft.com/office/drawing/2014/main" id="{10A7A31A-DB7F-4239-8CEC-5A14FFDC2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33625"/>
            <a:ext cx="1695450" cy="1714500"/>
          </a:xfrm>
          <a:prstGeom xmlns:a="http://schemas.openxmlformats.org/drawingml/2006/main" prst="roundRect">
            <a:avLst>
              <a:gd name="adj" fmla="val 22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7C8D6"/>
            </a:solidFill>
            <a:prstDash val="solid"/>
          </a:ln>
        </p:spPr>
      </p:sp>
      <p:sp>
        <p:nvSpPr>
          <p:cNvPr id="25" name="flow-title-5">
            <a:extLst xmlns:a="http://schemas.openxmlformats.org/drawingml/2006/main">
              <a:ext uri="{FF2B5EF4-FFF2-40B4-BE49-F238E27FC236}">
                <a16:creationId xmlns:a16="http://schemas.microsoft.com/office/drawing/2014/main" id="{B27E271A-2807-43EE-8A4A-AD0C08A62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600325"/>
            <a:ext cx="142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4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S6</a:t>
            </a:r>
          </a:p>
        </p:txBody>
      </p:sp>
      <p:sp>
        <p:nvSpPr>
          <p:cNvPr id="26" name="flow-body-5">
            <a:extLst xmlns:a="http://schemas.openxmlformats.org/drawingml/2006/main">
              <a:ext uri="{FF2B5EF4-FFF2-40B4-BE49-F238E27FC236}">
                <a16:creationId xmlns:a16="http://schemas.microsoft.com/office/drawing/2014/main" id="{56661279-26D5-4DE0-89AC-565BC7D7D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181350"/>
            <a:ext cx="142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連続区間をまとめ
候補化</a:t>
            </a:r>
          </a:p>
        </p:txBody>
      </p:sp>
      <p:sp>
        <p:nvSpPr>
          <p:cNvPr id="27" name="flow-box-6">
            <a:extLst xmlns:a="http://schemas.openxmlformats.org/drawingml/2006/main">
              <a:ext uri="{FF2B5EF4-FFF2-40B4-BE49-F238E27FC236}">
                <a16:creationId xmlns:a16="http://schemas.microsoft.com/office/drawing/2014/main" id="{9DCC640B-9B50-49EA-97FF-A72D70D03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333625"/>
            <a:ext cx="1695450" cy="1714500"/>
          </a:xfrm>
          <a:prstGeom xmlns:a="http://schemas.openxmlformats.org/drawingml/2006/main" prst="roundRect">
            <a:avLst>
              <a:gd name="adj" fmla="val 2247"/>
            </a:avLst>
          </a:prstGeom>
          <a:solidFill xmlns:a="http://schemas.openxmlformats.org/drawingml/2006/main">
            <a:srgbClr val="E5F2EE"/>
          </a:solidFill>
          <a:ln xmlns:a="http://schemas.openxmlformats.org/drawingml/2006/main" w="14288">
            <a:solidFill>
              <a:srgbClr val="2F7D68"/>
            </a:solidFill>
            <a:prstDash val="solid"/>
          </a:ln>
        </p:spPr>
      </p:sp>
      <p:sp>
        <p:nvSpPr>
          <p:cNvPr id="28" name="flow-title-6">
            <a:extLst xmlns:a="http://schemas.openxmlformats.org/drawingml/2006/main">
              <a:ext uri="{FF2B5EF4-FFF2-40B4-BE49-F238E27FC236}">
                <a16:creationId xmlns:a16="http://schemas.microsoft.com/office/drawing/2014/main" id="{7CAC8D28-CC0C-40DA-B770-A6E3FCA72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600325"/>
            <a:ext cx="142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4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S7</a:t>
            </a:r>
          </a:p>
        </p:txBody>
      </p:sp>
      <p:sp>
        <p:nvSpPr>
          <p:cNvPr id="29" name="flow-body-6">
            <a:extLst xmlns:a="http://schemas.openxmlformats.org/drawingml/2006/main">
              <a:ext uri="{FF2B5EF4-FFF2-40B4-BE49-F238E27FC236}">
                <a16:creationId xmlns:a16="http://schemas.microsoft.com/office/drawing/2014/main" id="{C44E7A93-251D-49F9-A085-B3F32950C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181350"/>
            <a:ext cx="142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U003用Packageを</a:t>
            </a:r>
          </a:p>
          <a:p xmlns:a="http://schemas.openxmlformats.org/drawingml/2006/main">
            <a:pPr algn="ctr">
              <a:buNone/>
              <a:defRPr sz="120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出力</a:t>
            </a:r>
          </a:p>
        </p:txBody>
      </p:sp>
      <p:sp>
        <p:nvSpPr>
          <p:cNvPr id="30" name="flow-conclusion">
            <a:extLst xmlns:a="http://schemas.openxmlformats.org/drawingml/2006/main">
              <a:ext uri="{FF2B5EF4-FFF2-40B4-BE49-F238E27FC236}">
                <a16:creationId xmlns:a16="http://schemas.microsoft.com/office/drawing/2014/main" id="{E2BAB2AF-9512-4A51-8A8A-E333685DC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953000"/>
            <a:ext cx="10096500" cy="7239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E7F0F6"/>
          </a:solidFill>
          <a:ln xmlns:a="http://schemas.openxmlformats.org/drawingml/2006/main" w="14288">
            <a:solidFill>
              <a:srgbClr val="173F5F"/>
            </a:solidFill>
            <a:prstDash val="solid"/>
          </a:ln>
        </p:spPr>
      </p:sp>
      <p:sp>
        <p:nvSpPr>
          <p:cNvPr id="31" name="flow-conclusion-text">
            <a:extLst xmlns:a="http://schemas.openxmlformats.org/drawingml/2006/main">
              <a:ext uri="{FF2B5EF4-FFF2-40B4-BE49-F238E27FC236}">
                <a16:creationId xmlns:a16="http://schemas.microsoft.com/office/drawing/2014/main" id="{AEC4F46B-95DC-4797-A40A-B187925FD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114925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7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順序は固定、各StageのModuleは課題に合わせて交換できる</a:t>
            </a:r>
          </a:p>
        </p:txBody>
      </p:sp>
    </p:spTree>
    <p:extLst>
      <p:ext uri="{BB962C8B-B14F-4D97-AF65-F5344CB8AC3E}">
        <p14:creationId xmlns:p14="http://schemas.microsoft.com/office/powerpoint/2010/main" val="808868782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op-accent">
            <a:extLst xmlns:a="http://schemas.openxmlformats.org/drawingml/2006/main">
              <a:ext uri="{FF2B5EF4-FFF2-40B4-BE49-F238E27FC236}">
                <a16:creationId xmlns:a16="http://schemas.microsoft.com/office/drawing/2014/main" id="{89B1BDF6-03BC-4C3F-9677-0A27F32DE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F5F"/>
          </a:solidFill>
          <a:ln xmlns:a="http://schemas.openxmlformats.org/drawingml/2006/main" w="0">
            <a:solidFill>
              <a:srgbClr val="173F5F"/>
            </a:solidFill>
            <a:prstDash val="solid"/>
          </a:ln>
        </p:spPr>
      </p:sp>
      <p:sp>
        <p:nvSpPr>
          <p:cNvPr id="2" name="deck-name">
            <a:extLst xmlns:a="http://schemas.openxmlformats.org/drawingml/2006/main">
              <a:ext uri="{FF2B5EF4-FFF2-40B4-BE49-F238E27FC236}">
                <a16:creationId xmlns:a16="http://schemas.microsoft.com/office/drawing/2014/main" id="{3861B3C5-9405-413A-8204-B05C31B1E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670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U001–U003 詳細説明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69A2D4E-FE20-4EF8-BC6D-8E9F1F92A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"/>
            <a:ext cx="11010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17324D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850" b="1">
                <a:solidFill>
                  <a:srgbClr val="17324D"/>
                </a:solidFill>
                <a:latin typeface="Hiragino Kaku Gothic ProN"/>
                <a:ea typeface="Hiragino Kaku Gothic ProN"/>
                <a:cs typeface="Hiragino Kaku Gothic ProN"/>
              </a:rPr>
              <a:t>次の主線：Camera工程課題でModuleとProfileを育てる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4C9F4BF3-9F8E-48F4-8C57-3E3E80C2C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90550" y="1381125"/>
            <a:ext cx="110109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7C8D6"/>
            </a:solidFill>
            <a:prstDash val="solid"/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91D92D56-D695-4835-80AF-3F1133676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34150"/>
            <a:ext cx="781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97222"/>
          </a:bodyPr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900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rPr>
              <a:t>ZHAO ZHILI  |  U-Series Detailed Review  |  2026-09-01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DA4DD73-79DC-45F4-A1D0-49D5133A3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524625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97222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900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rPr>
              <a:t>20</a:t>
            </a:r>
          </a:p>
        </p:txBody>
      </p:sp>
      <p:sp>
        <p:nvSpPr>
          <p:cNvPr id="7" name="col-title-0">
            <a:extLst xmlns:a="http://schemas.openxmlformats.org/drawingml/2006/main">
              <a:ext uri="{FF2B5EF4-FFF2-40B4-BE49-F238E27FC236}">
                <a16:creationId xmlns:a16="http://schemas.microsoft.com/office/drawing/2014/main" id="{C7297E31-7236-495A-91DF-798596334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100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次の工程成果</a:t>
            </a:r>
          </a:p>
        </p:txBody>
      </p:sp>
      <p:sp>
        <p:nvSpPr>
          <p:cNvPr id="8" name="col-rule-0">
            <a:extLst xmlns:a="http://schemas.openxmlformats.org/drawingml/2006/main">
              <a:ext uri="{FF2B5EF4-FFF2-40B4-BE49-F238E27FC236}">
                <a16:creationId xmlns:a16="http://schemas.microsoft.com/office/drawing/2014/main" id="{B4BA3290-BDA0-48F5-B80F-8FE83B487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952500" y="2209800"/>
            <a:ext cx="4191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73F5F"/>
            </a:solidFill>
            <a:prstDash val="solid"/>
          </a:ln>
        </p:spPr>
      </p:sp>
      <p:sp>
        <p:nvSpPr>
          <p:cNvPr id="9" name="col-box-0">
            <a:extLst xmlns:a="http://schemas.openxmlformats.org/drawingml/2006/main">
              <a:ext uri="{FF2B5EF4-FFF2-40B4-BE49-F238E27FC236}">
                <a16:creationId xmlns:a16="http://schemas.microsoft.com/office/drawing/2014/main" id="{184224BD-89D4-4F16-A58F-429BFC723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4762500" cy="3143250"/>
          </a:xfrm>
          <a:prstGeom xmlns:a="http://schemas.openxmlformats.org/drawingml/2006/main" prst="roundRect">
            <a:avLst>
              <a:gd name="adj" fmla="val 12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7C8D6"/>
            </a:solidFill>
            <a:prstDash val="solid"/>
          </a:ln>
        </p:spPr>
      </p:sp>
      <p:sp>
        <p:nvSpPr>
          <p:cNvPr id="10" name="col-body-0">
            <a:extLst xmlns:a="http://schemas.openxmlformats.org/drawingml/2006/main">
              <a:ext uri="{FF2B5EF4-FFF2-40B4-BE49-F238E27FC236}">
                <a16:creationId xmlns:a16="http://schemas.microsoft.com/office/drawing/2014/main" id="{62BC1BB1-E2D3-4EF5-AD7A-521080877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28900"/>
            <a:ext cx="41148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marL="20" indent="-10">
              <a:spcAft>
                <a:spcPts val="7"/>
              </a:spcAft>
              <a:buChar char="•"/>
              <a:defRPr sz="135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Camera性能低下の条件</a:t>
            </a:r>
          </a:p>
          <a:p xmlns:a="http://schemas.openxmlformats.org/drawingml/2006/main">
            <a:pPr marL="20" indent="-10">
              <a:spcAft>
                <a:spcPts val="7"/>
              </a:spcAft>
              <a:buChar char="•"/>
              <a:defRPr sz="135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追跡切替・復帰の評価</a:t>
            </a:r>
          </a:p>
          <a:p xmlns:a="http://schemas.openxmlformats.org/drawingml/2006/main">
            <a:pPr marL="20" indent="-10">
              <a:spcAft>
                <a:spcPts val="7"/>
              </a:spcAft>
              <a:buChar char="•"/>
              <a:defRPr sz="135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旋回・速度・対象位置との関係</a:t>
            </a:r>
          </a:p>
          <a:p xmlns:a="http://schemas.openxmlformats.org/drawingml/2006/main">
            <a:pPr marL="20" indent="-10">
              <a:spcAft>
                <a:spcPts val="7"/>
              </a:spcAft>
              <a:buChar char="•"/>
              <a:defRPr sz="135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全量候補と映像確認</a:t>
            </a:r>
          </a:p>
          <a:p xmlns:a="http://schemas.openxmlformats.org/drawingml/2006/main">
            <a:pPr marL="20" indent="-10">
              <a:spcAft>
                <a:spcPts val="7"/>
              </a:spcAft>
              <a:buChar char="•"/>
              <a:defRPr sz="135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確認済みProfileの蓄積</a:t>
            </a:r>
          </a:p>
        </p:txBody>
      </p:sp>
      <p:sp>
        <p:nvSpPr>
          <p:cNvPr id="11" name="col-title-1">
            <a:extLst xmlns:a="http://schemas.openxmlformats.org/drawingml/2006/main">
              <a:ext uri="{FF2B5EF4-FFF2-40B4-BE49-F238E27FC236}">
                <a16:creationId xmlns:a16="http://schemas.microsoft.com/office/drawing/2014/main" id="{E3EFE1CE-03DC-4B8B-BBC1-F6B1ECDC4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5735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100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研修員として伸ばす能力</a:t>
            </a:r>
          </a:p>
        </p:txBody>
      </p:sp>
      <p:sp>
        <p:nvSpPr>
          <p:cNvPr id="12" name="col-rule-1">
            <a:extLst xmlns:a="http://schemas.openxmlformats.org/drawingml/2006/main">
              <a:ext uri="{FF2B5EF4-FFF2-40B4-BE49-F238E27FC236}">
                <a16:creationId xmlns:a16="http://schemas.microsoft.com/office/drawing/2014/main" id="{7FBA8354-BC2F-48AE-BE75-990903335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6477000" y="2209800"/>
            <a:ext cx="4191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73F5F"/>
            </a:solidFill>
            <a:prstDash val="solid"/>
          </a:ln>
        </p:spPr>
      </p:sp>
      <p:sp>
        <p:nvSpPr>
          <p:cNvPr id="13" name="col-box-1">
            <a:extLst xmlns:a="http://schemas.openxmlformats.org/drawingml/2006/main">
              <a:ext uri="{FF2B5EF4-FFF2-40B4-BE49-F238E27FC236}">
                <a16:creationId xmlns:a16="http://schemas.microsoft.com/office/drawing/2014/main" id="{8CFD4C8D-1B84-43C6-96C7-081D51A42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81250"/>
            <a:ext cx="4762500" cy="3143250"/>
          </a:xfrm>
          <a:prstGeom xmlns:a="http://schemas.openxmlformats.org/drawingml/2006/main" prst="roundRect">
            <a:avLst>
              <a:gd name="adj" fmla="val 12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7C8D6"/>
            </a:solidFill>
            <a:prstDash val="solid"/>
          </a:ln>
        </p:spPr>
      </p:sp>
      <p:sp>
        <p:nvSpPr>
          <p:cNvPr id="14" name="col-body-1">
            <a:extLst xmlns:a="http://schemas.openxmlformats.org/drawingml/2006/main">
              <a:ext uri="{FF2B5EF4-FFF2-40B4-BE49-F238E27FC236}">
                <a16:creationId xmlns:a16="http://schemas.microsoft.com/office/drawing/2014/main" id="{9A970003-CC05-42C2-B419-53E33487F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628900"/>
            <a:ext cx="41148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marL="20" indent="-10">
              <a:spcAft>
                <a:spcPts val="7"/>
              </a:spcAft>
              <a:buChar char="•"/>
              <a:defRPr sz="135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車両工学・Sensor知識</a:t>
            </a:r>
          </a:p>
          <a:p xmlns:a="http://schemas.openxmlformats.org/drawingml/2006/main">
            <a:pPr marL="20" indent="-10">
              <a:spcAft>
                <a:spcPts val="7"/>
              </a:spcAft>
              <a:buChar char="•"/>
              <a:defRPr sz="135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統計・SysID・制御</a:t>
            </a:r>
          </a:p>
          <a:p xmlns:a="http://schemas.openxmlformats.org/drawingml/2006/main">
            <a:pPr marL="20" indent="-10">
              <a:spcAft>
                <a:spcPts val="7"/>
              </a:spcAft>
              <a:buChar char="•"/>
              <a:defRPr sz="135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分析Module設計</a:t>
            </a:r>
          </a:p>
          <a:p xmlns:a="http://schemas.openxmlformats.org/drawingml/2006/main">
            <a:pPr marL="20" indent="-10">
              <a:spcAft>
                <a:spcPts val="7"/>
              </a:spcAft>
              <a:buChar char="•"/>
              <a:defRPr sz="135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実車での仮説検証</a:t>
            </a:r>
          </a:p>
          <a:p xmlns:a="http://schemas.openxmlformats.org/drawingml/2006/main">
            <a:pPr marL="20" indent="-10">
              <a:spcAft>
                <a:spcPts val="7"/>
              </a:spcAft>
              <a:buChar char="•"/>
              <a:defRPr sz="135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日本語での工程説明</a:t>
            </a:r>
          </a:p>
        </p:txBody>
      </p:sp>
      <p:sp>
        <p:nvSpPr>
          <p:cNvPr id="15" name="two-col-conclusion">
            <a:extLst xmlns:a="http://schemas.openxmlformats.org/drawingml/2006/main">
              <a:ext uri="{FF2B5EF4-FFF2-40B4-BE49-F238E27FC236}">
                <a16:creationId xmlns:a16="http://schemas.microsoft.com/office/drawing/2014/main" id="{DA6BFA64-F67F-4A79-8E4B-B80C28D41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810250"/>
            <a:ext cx="8953500" cy="4762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7F0F6"/>
          </a:solidFill>
          <a:ln xmlns:a="http://schemas.openxmlformats.org/drawingml/2006/main" w="14288">
            <a:solidFill>
              <a:srgbClr val="173F5F"/>
            </a:solidFill>
            <a:prstDash val="solid"/>
          </a:ln>
        </p:spPr>
      </p:sp>
      <p:sp>
        <p:nvSpPr>
          <p:cNvPr id="16" name="two-col-conclusion-text">
            <a:extLst xmlns:a="http://schemas.openxmlformats.org/drawingml/2006/main">
              <a:ext uri="{FF2B5EF4-FFF2-40B4-BE49-F238E27FC236}">
                <a16:creationId xmlns:a16="http://schemas.microsoft.com/office/drawing/2014/main" id="{1434F208-0620-482A-9807-7DDB7629B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5867400"/>
            <a:ext cx="847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57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基盤を目的にせず、Camera分析と人材成長を同じ実車課題へ接続する</a:t>
            </a:r>
          </a:p>
        </p:txBody>
      </p:sp>
    </p:spTree>
    <p:extLst>
      <p:ext uri="{BB962C8B-B14F-4D97-AF65-F5344CB8AC3E}">
        <p14:creationId xmlns:p14="http://schemas.microsoft.com/office/powerpoint/2010/main" val="1521358047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top-accent">
            <a:extLst xmlns:a="http://schemas.openxmlformats.org/drawingml/2006/main">
              <a:ext uri="{FF2B5EF4-FFF2-40B4-BE49-F238E27FC236}">
                <a16:creationId xmlns:a16="http://schemas.microsoft.com/office/drawing/2014/main" id="{6209E79B-4422-45DE-8BB5-CC29FAC5E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F5F"/>
          </a:solidFill>
          <a:ln xmlns:a="http://schemas.openxmlformats.org/drawingml/2006/main" w="0">
            <a:solidFill>
              <a:srgbClr val="173F5F"/>
            </a:solidFill>
            <a:prstDash val="solid"/>
          </a:ln>
        </p:spPr>
      </p:sp>
      <p:sp>
        <p:nvSpPr>
          <p:cNvPr id="2" name="deck-name">
            <a:extLst xmlns:a="http://schemas.openxmlformats.org/drawingml/2006/main">
              <a:ext uri="{FF2B5EF4-FFF2-40B4-BE49-F238E27FC236}">
                <a16:creationId xmlns:a16="http://schemas.microsoft.com/office/drawing/2014/main" id="{1721907B-1DF8-4F2D-BDBB-DAB06DADC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670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U001–U003 詳細説明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CE7C8DA-7DD1-419C-A3AE-99CE4E575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"/>
            <a:ext cx="11010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17324D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850" b="1">
                <a:solidFill>
                  <a:srgbClr val="17324D"/>
                </a:solidFill>
                <a:latin typeface="Hiragino Kaku Gothic ProN"/>
                <a:ea typeface="Hiragino Kaku Gothic ProN"/>
                <a:cs typeface="Hiragino Kaku Gothic ProN"/>
              </a:rPr>
              <a:t>U001は、新しい入力Sourceも共通形式へ変換できる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BEFA1F30-76A2-47F0-8A13-0CBBD6211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90550" y="1381125"/>
            <a:ext cx="110109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7C8D6"/>
            </a:solidFill>
            <a:prstDash val="solid"/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75728F57-D5B9-45C1-9455-3040FBAFE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34150"/>
            <a:ext cx="781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97222"/>
          </a:bodyPr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900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rPr>
              <a:t>ZHAO ZHILI  |  U-Series Detailed Review  |  2026-09-01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5D5359C7-3D18-486D-B7D3-8B78B12D1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524625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97222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900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rPr>
              <a:t>21</a:t>
            </a:r>
          </a:p>
        </p:txBody>
      </p:sp>
      <p:sp>
        <p:nvSpPr>
          <p:cNvPr id="7" name="flow-arrow-1">
            <a:extLst xmlns:a="http://schemas.openxmlformats.org/drawingml/2006/main">
              <a:ext uri="{FF2B5EF4-FFF2-40B4-BE49-F238E27FC236}">
                <a16:creationId xmlns:a16="http://schemas.microsoft.com/office/drawing/2014/main" id="{3862D7B0-2861-4E20-9D97-DDBAEBC06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2286000" y="3190875"/>
            <a:ext cx="228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B7C8D6"/>
            </a:solidFill>
            <a:prstDash val="solid"/>
          </a:ln>
        </p:spPr>
      </p:sp>
      <p:sp>
        <p:nvSpPr>
          <p:cNvPr id="8" name="flow-arrow-2">
            <a:extLst xmlns:a="http://schemas.openxmlformats.org/drawingml/2006/main">
              <a:ext uri="{FF2B5EF4-FFF2-40B4-BE49-F238E27FC236}">
                <a16:creationId xmlns:a16="http://schemas.microsoft.com/office/drawing/2014/main" id="{1F901E21-8F61-4ED9-B4B2-6BA70A05E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4133850" y="3190875"/>
            <a:ext cx="228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B7C8D6"/>
            </a:solidFill>
            <a:prstDash val="solid"/>
          </a:ln>
        </p:spPr>
      </p:sp>
      <p:sp>
        <p:nvSpPr>
          <p:cNvPr id="9" name="flow-arrow-3">
            <a:extLst xmlns:a="http://schemas.openxmlformats.org/drawingml/2006/main">
              <a:ext uri="{FF2B5EF4-FFF2-40B4-BE49-F238E27FC236}">
                <a16:creationId xmlns:a16="http://schemas.microsoft.com/office/drawing/2014/main" id="{D6810145-9195-4D09-B390-BB5D34B39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981700" y="3190875"/>
            <a:ext cx="228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B7C8D6"/>
            </a:solidFill>
            <a:prstDash val="solid"/>
          </a:ln>
        </p:spPr>
      </p:sp>
      <p:sp>
        <p:nvSpPr>
          <p:cNvPr id="10" name="flow-arrow-4">
            <a:extLst xmlns:a="http://schemas.openxmlformats.org/drawingml/2006/main">
              <a:ext uri="{FF2B5EF4-FFF2-40B4-BE49-F238E27FC236}">
                <a16:creationId xmlns:a16="http://schemas.microsoft.com/office/drawing/2014/main" id="{270CEFFB-F459-40AB-8F54-A23993E3C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7829550" y="3190875"/>
            <a:ext cx="228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B7C8D6"/>
            </a:solidFill>
            <a:prstDash val="solid"/>
          </a:ln>
        </p:spPr>
      </p:sp>
      <p:sp>
        <p:nvSpPr>
          <p:cNvPr id="11" name="flow-arrow-5">
            <a:extLst xmlns:a="http://schemas.openxmlformats.org/drawingml/2006/main">
              <a:ext uri="{FF2B5EF4-FFF2-40B4-BE49-F238E27FC236}">
                <a16:creationId xmlns:a16="http://schemas.microsoft.com/office/drawing/2014/main" id="{E7F6AEBF-1B67-4184-B216-7A65972AF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9677400" y="3190875"/>
            <a:ext cx="228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B7C8D6"/>
            </a:solidFill>
            <a:prstDash val="solid"/>
          </a:ln>
        </p:spPr>
      </p:sp>
      <p:sp>
        <p:nvSpPr>
          <p:cNvPr id="12" name="flow-box-1">
            <a:extLst xmlns:a="http://schemas.openxmlformats.org/drawingml/2006/main">
              <a:ext uri="{FF2B5EF4-FFF2-40B4-BE49-F238E27FC236}">
                <a16:creationId xmlns:a16="http://schemas.microsoft.com/office/drawing/2014/main" id="{FC60123A-00CE-4E12-B489-6861E9C0A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33625"/>
            <a:ext cx="1695450" cy="1714500"/>
          </a:xfrm>
          <a:prstGeom xmlns:a="http://schemas.openxmlformats.org/drawingml/2006/main" prst="roundRect">
            <a:avLst>
              <a:gd name="adj" fmla="val 22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7C8D6"/>
            </a:solidFill>
            <a:prstDash val="solid"/>
          </a:ln>
        </p:spPr>
      </p:sp>
      <p:sp>
        <p:nvSpPr>
          <p:cNvPr id="13" name="flow-title-1">
            <a:extLst xmlns:a="http://schemas.openxmlformats.org/drawingml/2006/main">
              <a:ext uri="{FF2B5EF4-FFF2-40B4-BE49-F238E27FC236}">
                <a16:creationId xmlns:a16="http://schemas.microsoft.com/office/drawing/2014/main" id="{8EE7FC25-7FFE-4D70-93AE-1B6D5C1A5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0325"/>
            <a:ext cx="142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4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Source</a:t>
            </a:r>
          </a:p>
        </p:txBody>
      </p:sp>
      <p:sp>
        <p:nvSpPr>
          <p:cNvPr id="14" name="flow-body-1">
            <a:extLst xmlns:a="http://schemas.openxmlformats.org/drawingml/2006/main">
              <a:ext uri="{FF2B5EF4-FFF2-40B4-BE49-F238E27FC236}">
                <a16:creationId xmlns:a16="http://schemas.microsoft.com/office/drawing/2014/main" id="{8AA49447-9CB0-4B5D-9DEE-357F4D1BB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81350"/>
            <a:ext cx="142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CAN・将来GNSS
LiDAR</a:t>
            </a:r>
          </a:p>
        </p:txBody>
      </p:sp>
      <p:sp>
        <p:nvSpPr>
          <p:cNvPr id="15" name="flow-box-2">
            <a:extLst xmlns:a="http://schemas.openxmlformats.org/drawingml/2006/main">
              <a:ext uri="{FF2B5EF4-FFF2-40B4-BE49-F238E27FC236}">
                <a16:creationId xmlns:a16="http://schemas.microsoft.com/office/drawing/2014/main" id="{DECDDACA-EAE8-4472-A0C2-6138131E1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333625"/>
            <a:ext cx="1695450" cy="1714500"/>
          </a:xfrm>
          <a:prstGeom xmlns:a="http://schemas.openxmlformats.org/drawingml/2006/main" prst="roundRect">
            <a:avLst>
              <a:gd name="adj" fmla="val 22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7C8D6"/>
            </a:solidFill>
            <a:prstDash val="solid"/>
          </a:ln>
        </p:spPr>
      </p:sp>
      <p:sp>
        <p:nvSpPr>
          <p:cNvPr id="16" name="flow-title-2">
            <a:extLst xmlns:a="http://schemas.openxmlformats.org/drawingml/2006/main">
              <a:ext uri="{FF2B5EF4-FFF2-40B4-BE49-F238E27FC236}">
                <a16:creationId xmlns:a16="http://schemas.microsoft.com/office/drawing/2014/main" id="{2AD66484-68DE-4C47-858E-E8F1578B4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600325"/>
            <a:ext cx="142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4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Driver</a:t>
            </a:r>
          </a:p>
        </p:txBody>
      </p:sp>
      <p:sp>
        <p:nvSpPr>
          <p:cNvPr id="17" name="flow-body-2">
            <a:extLst xmlns:a="http://schemas.openxmlformats.org/drawingml/2006/main">
              <a:ext uri="{FF2B5EF4-FFF2-40B4-BE49-F238E27FC236}">
                <a16:creationId xmlns:a16="http://schemas.microsoft.com/office/drawing/2014/main" id="{3E51EAA8-6C6F-495D-A2A6-1FCFEEFB7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181350"/>
            <a:ext cx="142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固有Fileを読む</a:t>
            </a:r>
          </a:p>
        </p:txBody>
      </p:sp>
      <p:sp>
        <p:nvSpPr>
          <p:cNvPr id="18" name="flow-box-3">
            <a:extLst xmlns:a="http://schemas.openxmlformats.org/drawingml/2006/main">
              <a:ext uri="{FF2B5EF4-FFF2-40B4-BE49-F238E27FC236}">
                <a16:creationId xmlns:a16="http://schemas.microsoft.com/office/drawing/2014/main" id="{EB27E90C-C6FA-4AE5-B9FE-E71CD8D29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333625"/>
            <a:ext cx="1695450" cy="1714500"/>
          </a:xfrm>
          <a:prstGeom xmlns:a="http://schemas.openxmlformats.org/drawingml/2006/main" prst="roundRect">
            <a:avLst>
              <a:gd name="adj" fmla="val 22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7C8D6"/>
            </a:solidFill>
            <a:prstDash val="solid"/>
          </a:ln>
        </p:spPr>
      </p:sp>
      <p:sp>
        <p:nvSpPr>
          <p:cNvPr id="19" name="flow-title-3">
            <a:extLst xmlns:a="http://schemas.openxmlformats.org/drawingml/2006/main">
              <a:ext uri="{FF2B5EF4-FFF2-40B4-BE49-F238E27FC236}">
                <a16:creationId xmlns:a16="http://schemas.microsoft.com/office/drawing/2014/main" id="{3D58DB3E-444E-4715-B5DF-BEF6423A4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600325"/>
            <a:ext cx="142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4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Adapter</a:t>
            </a:r>
          </a:p>
        </p:txBody>
      </p:sp>
      <p:sp>
        <p:nvSpPr>
          <p:cNvPr id="20" name="flow-body-3">
            <a:extLst xmlns:a="http://schemas.openxmlformats.org/drawingml/2006/main">
              <a:ext uri="{FF2B5EF4-FFF2-40B4-BE49-F238E27FC236}">
                <a16:creationId xmlns:a16="http://schemas.microsoft.com/office/drawing/2014/main" id="{7272BC13-54AD-4973-8A0E-A40678E94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181350"/>
            <a:ext cx="142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単位・時刻・
有効性を変換</a:t>
            </a:r>
          </a:p>
        </p:txBody>
      </p:sp>
      <p:sp>
        <p:nvSpPr>
          <p:cNvPr id="21" name="flow-box-4">
            <a:extLst xmlns:a="http://schemas.openxmlformats.org/drawingml/2006/main">
              <a:ext uri="{FF2B5EF4-FFF2-40B4-BE49-F238E27FC236}">
                <a16:creationId xmlns:a16="http://schemas.microsoft.com/office/drawing/2014/main" id="{147506D8-3B0B-4FE0-83E9-AA1D9A717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333625"/>
            <a:ext cx="1695450" cy="1714500"/>
          </a:xfrm>
          <a:prstGeom xmlns:a="http://schemas.openxmlformats.org/drawingml/2006/main" prst="roundRect">
            <a:avLst>
              <a:gd name="adj" fmla="val 22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7C8D6"/>
            </a:solidFill>
            <a:prstDash val="solid"/>
          </a:ln>
        </p:spPr>
      </p:sp>
      <p:sp>
        <p:nvSpPr>
          <p:cNvPr id="22" name="flow-title-4">
            <a:extLst xmlns:a="http://schemas.openxmlformats.org/drawingml/2006/main">
              <a:ext uri="{FF2B5EF4-FFF2-40B4-BE49-F238E27FC236}">
                <a16:creationId xmlns:a16="http://schemas.microsoft.com/office/drawing/2014/main" id="{D2F25FDA-CDC4-4A90-AABF-84F3106E8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600325"/>
            <a:ext cx="142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4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Catalog</a:t>
            </a:r>
          </a:p>
        </p:txBody>
      </p:sp>
      <p:sp>
        <p:nvSpPr>
          <p:cNvPr id="23" name="flow-body-4">
            <a:extLst xmlns:a="http://schemas.openxmlformats.org/drawingml/2006/main">
              <a:ext uri="{FF2B5EF4-FFF2-40B4-BE49-F238E27FC236}">
                <a16:creationId xmlns:a16="http://schemas.microsoft.com/office/drawing/2014/main" id="{A1D64EF8-C131-4CA0-A0BC-95C070F0A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181350"/>
            <a:ext cx="142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利用可能Signalを
一覧化</a:t>
            </a:r>
          </a:p>
        </p:txBody>
      </p:sp>
      <p:sp>
        <p:nvSpPr>
          <p:cNvPr id="24" name="flow-box-5">
            <a:extLst xmlns:a="http://schemas.openxmlformats.org/drawingml/2006/main">
              <a:ext uri="{FF2B5EF4-FFF2-40B4-BE49-F238E27FC236}">
                <a16:creationId xmlns:a16="http://schemas.microsoft.com/office/drawing/2014/main" id="{10A7A31A-DB7F-4239-8CEC-5A14FFDC2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33625"/>
            <a:ext cx="1695450" cy="1714500"/>
          </a:xfrm>
          <a:prstGeom xmlns:a="http://schemas.openxmlformats.org/drawingml/2006/main" prst="roundRect">
            <a:avLst>
              <a:gd name="adj" fmla="val 22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7C8D6"/>
            </a:solidFill>
            <a:prstDash val="solid"/>
          </a:ln>
        </p:spPr>
      </p:sp>
      <p:sp>
        <p:nvSpPr>
          <p:cNvPr id="25" name="flow-title-5">
            <a:extLst xmlns:a="http://schemas.openxmlformats.org/drawingml/2006/main">
              <a:ext uri="{FF2B5EF4-FFF2-40B4-BE49-F238E27FC236}">
                <a16:creationId xmlns:a16="http://schemas.microsoft.com/office/drawing/2014/main" id="{B27E271A-2807-43EE-8A4A-AD0C08A62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600325"/>
            <a:ext cx="142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4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Mapping</a:t>
            </a:r>
          </a:p>
        </p:txBody>
      </p:sp>
      <p:sp>
        <p:nvSpPr>
          <p:cNvPr id="26" name="flow-body-5">
            <a:extLst xmlns:a="http://schemas.openxmlformats.org/drawingml/2006/main">
              <a:ext uri="{FF2B5EF4-FFF2-40B4-BE49-F238E27FC236}">
                <a16:creationId xmlns:a16="http://schemas.microsoft.com/office/drawing/2014/main" id="{56661279-26D5-4DE0-89AC-565BC7D7D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181350"/>
            <a:ext cx="142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必要Signalだけ
選択</a:t>
            </a:r>
          </a:p>
        </p:txBody>
      </p:sp>
      <p:sp>
        <p:nvSpPr>
          <p:cNvPr id="27" name="flow-box-6">
            <a:extLst xmlns:a="http://schemas.openxmlformats.org/drawingml/2006/main">
              <a:ext uri="{FF2B5EF4-FFF2-40B4-BE49-F238E27FC236}">
                <a16:creationId xmlns:a16="http://schemas.microsoft.com/office/drawing/2014/main" id="{9DCC640B-9B50-49EA-97FF-A72D70D03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333625"/>
            <a:ext cx="1695450" cy="1714500"/>
          </a:xfrm>
          <a:prstGeom xmlns:a="http://schemas.openxmlformats.org/drawingml/2006/main" prst="roundRect">
            <a:avLst>
              <a:gd name="adj" fmla="val 2247"/>
            </a:avLst>
          </a:prstGeom>
          <a:solidFill xmlns:a="http://schemas.openxmlformats.org/drawingml/2006/main">
            <a:srgbClr val="E5F2EE"/>
          </a:solidFill>
          <a:ln xmlns:a="http://schemas.openxmlformats.org/drawingml/2006/main" w="14288">
            <a:solidFill>
              <a:srgbClr val="2F7D68"/>
            </a:solidFill>
            <a:prstDash val="solid"/>
          </a:ln>
        </p:spPr>
      </p:sp>
      <p:sp>
        <p:nvSpPr>
          <p:cNvPr id="28" name="flow-title-6">
            <a:extLst xmlns:a="http://schemas.openxmlformats.org/drawingml/2006/main">
              <a:ext uri="{FF2B5EF4-FFF2-40B4-BE49-F238E27FC236}">
                <a16:creationId xmlns:a16="http://schemas.microsoft.com/office/drawing/2014/main" id="{7CAC8D28-CC0C-40DA-B770-A6E3FCA72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600325"/>
            <a:ext cx="142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4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Package</a:t>
            </a:r>
          </a:p>
        </p:txBody>
      </p:sp>
      <p:sp>
        <p:nvSpPr>
          <p:cNvPr id="29" name="flow-body-6">
            <a:extLst xmlns:a="http://schemas.openxmlformats.org/drawingml/2006/main">
              <a:ext uri="{FF2B5EF4-FFF2-40B4-BE49-F238E27FC236}">
                <a16:creationId xmlns:a16="http://schemas.microsoft.com/office/drawing/2014/main" id="{C44E7A93-251D-49F9-A085-B3F32950C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181350"/>
            <a:ext cx="142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U002が読める</a:t>
            </a:r>
          </a:p>
          <a:p xmlns:a="http://schemas.openxmlformats.org/drawingml/2006/main">
            <a:pPr algn="ctr">
              <a:buNone/>
              <a:defRPr sz="120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共通表</a:t>
            </a:r>
          </a:p>
        </p:txBody>
      </p:sp>
      <p:sp>
        <p:nvSpPr>
          <p:cNvPr id="30" name="flow-conclusion">
            <a:extLst xmlns:a="http://schemas.openxmlformats.org/drawingml/2006/main">
              <a:ext uri="{FF2B5EF4-FFF2-40B4-BE49-F238E27FC236}">
                <a16:creationId xmlns:a16="http://schemas.microsoft.com/office/drawing/2014/main" id="{E2BAB2AF-9512-4A51-8A8A-E333685DC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953000"/>
            <a:ext cx="10096500" cy="7239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E7F0F6"/>
          </a:solidFill>
          <a:ln xmlns:a="http://schemas.openxmlformats.org/drawingml/2006/main" w="14288">
            <a:solidFill>
              <a:srgbClr val="173F5F"/>
            </a:solidFill>
            <a:prstDash val="solid"/>
          </a:ln>
        </p:spPr>
      </p:sp>
      <p:sp>
        <p:nvSpPr>
          <p:cNvPr id="31" name="flow-conclusion-text">
            <a:extLst xmlns:a="http://schemas.openxmlformats.org/drawingml/2006/main">
              <a:ext uri="{FF2B5EF4-FFF2-40B4-BE49-F238E27FC236}">
                <a16:creationId xmlns:a16="http://schemas.microsoft.com/office/drawing/2014/main" id="{AEC4F46B-95DC-4797-A40A-B187925FD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114925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7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新SourceはDriver / Adapterを追加し、後段の分析を再利用する</a:t>
            </a:r>
          </a:p>
        </p:txBody>
      </p:sp>
    </p:spTree>
    <p:extLst>
      <p:ext uri="{BB962C8B-B14F-4D97-AF65-F5344CB8AC3E}">
        <p14:creationId xmlns:p14="http://schemas.microsoft.com/office/powerpoint/2010/main" val="808868782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op-accent">
            <a:extLst xmlns:a="http://schemas.openxmlformats.org/drawingml/2006/main">
              <a:ext uri="{FF2B5EF4-FFF2-40B4-BE49-F238E27FC236}">
                <a16:creationId xmlns:a16="http://schemas.microsoft.com/office/drawing/2014/main" id="{00D29C0E-8851-475B-B0F5-B2175515A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F5F"/>
          </a:solidFill>
          <a:ln xmlns:a="http://schemas.openxmlformats.org/drawingml/2006/main" w="0">
            <a:solidFill>
              <a:srgbClr val="173F5F"/>
            </a:solidFill>
            <a:prstDash val="solid"/>
          </a:ln>
        </p:spPr>
      </p:sp>
      <p:sp>
        <p:nvSpPr>
          <p:cNvPr id="2" name="deck-name">
            <a:extLst xmlns:a="http://schemas.openxmlformats.org/drawingml/2006/main">
              <a:ext uri="{FF2B5EF4-FFF2-40B4-BE49-F238E27FC236}">
                <a16:creationId xmlns:a16="http://schemas.microsoft.com/office/drawing/2014/main" id="{BB3C47BB-F314-452D-8A17-3E4FBF6A2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670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U001–U003 詳細説明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F2A0E13-A5D8-4B5C-9CFE-B471BA024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"/>
            <a:ext cx="11010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17324D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850" b="1">
                <a:solidFill>
                  <a:srgbClr val="17324D"/>
                </a:solidFill>
                <a:latin typeface="Hiragino Kaku Gothic ProN"/>
                <a:ea typeface="Hiragino Kaku Gothic ProN"/>
                <a:cs typeface="Hiragino Kaku Gothic ProN"/>
              </a:rPr>
              <a:t>新Sourceは、六つの条件を確認してから使用する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F60DE6A1-4B81-4C8F-BD34-94378F3B2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90550" y="1381125"/>
            <a:ext cx="110109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7C8D6"/>
            </a:solidFill>
            <a:prstDash val="solid"/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0BD3A1F6-159A-4154-BB7E-1A04F553C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34150"/>
            <a:ext cx="781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97222"/>
          </a:bodyPr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900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rPr>
              <a:t>ZHAO ZHILI  |  U-Series Detailed Review  |  2026-09-01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883A81D-07D9-4398-84AC-8B66169F2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524625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97222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900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rPr>
              <a:t>22</a:t>
            </a:r>
          </a:p>
        </p:txBody>
      </p:sp>
      <p:sp>
        <p:nvSpPr>
          <p:cNvPr id="9" name="conclusion-band">
            <a:extLst xmlns:a="http://schemas.openxmlformats.org/drawingml/2006/main">
              <a:ext uri="{FF2B5EF4-FFF2-40B4-BE49-F238E27FC236}">
                <a16:creationId xmlns:a16="http://schemas.microsoft.com/office/drawing/2014/main" id="{AABD679A-60F1-4ACE-9C18-79315CCE6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57850"/>
            <a:ext cx="10477500" cy="59055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E7F0F6"/>
          </a:solidFill>
          <a:ln xmlns:a="http://schemas.openxmlformats.org/drawingml/2006/main" w="14288">
            <a:solidFill>
              <a:srgbClr val="173F5F"/>
            </a:solidFill>
            <a:prstDash val="solid"/>
          </a:ln>
        </p:spPr>
      </p:sp>
      <p:sp>
        <p:nvSpPr>
          <p:cNvPr id="10" name="conclusion">
            <a:extLst xmlns:a="http://schemas.openxmlformats.org/drawingml/2006/main">
              <a:ext uri="{FF2B5EF4-FFF2-40B4-BE49-F238E27FC236}">
                <a16:creationId xmlns:a16="http://schemas.microsoft.com/office/drawing/2014/main" id="{BDED84F5-1A2A-45FD-9FDD-0C94473AD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772150"/>
            <a:ext cx="9982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650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読み取り成功だけでは正式使用せず、確認済みAdapterとして登録する</a:t>
            </a:r>
          </a:p>
        </p:txBody>
      </p:sp>
      <p:sp>
        <p:nvSpPr>
          <p:cNvPr id="12" name="source-check-1-card">
            <a:extLst xmlns:a="http://schemas.openxmlformats.org/drawingml/2006/main">
              <a:ext uri="{FF2B5EF4-FFF2-40B4-BE49-F238E27FC236}">
                <a16:creationId xmlns:a16="http://schemas.microsoft.com/office/drawing/2014/main" id="{DF323869-C5DF-461F-BD8F-37B869BD5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90700"/>
            <a:ext cx="3333750" cy="13716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4F8FB"/>
          </a:solidFill>
          <a:ln xmlns:a="http://schemas.openxmlformats.org/drawingml/2006/main" w="14288">
            <a:solidFill>
              <a:srgbClr val="9FC4DE"/>
            </a:solidFill>
            <a:prstDash val="solid"/>
          </a:ln>
        </p:spPr>
      </p:sp>
      <p:sp>
        <p:nvSpPr>
          <p:cNvPr id="13" name="source-check-1-title">
            <a:extLst xmlns:a="http://schemas.openxmlformats.org/drawingml/2006/main">
              <a:ext uri="{FF2B5EF4-FFF2-40B4-BE49-F238E27FC236}">
                <a16:creationId xmlns:a16="http://schemas.microsoft.com/office/drawing/2014/main" id="{4896E38B-CD9A-4F44-83BF-217A9CF10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05000"/>
            <a:ext cx="2990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650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1　時間</a:t>
            </a:r>
          </a:p>
        </p:txBody>
      </p:sp>
      <p:sp>
        <p:nvSpPr>
          <p:cNvPr id="14" name="source-check-1-body">
            <a:extLst xmlns:a="http://schemas.openxmlformats.org/drawingml/2006/main">
              <a:ext uri="{FF2B5EF4-FFF2-40B4-BE49-F238E27FC236}">
                <a16:creationId xmlns:a16="http://schemas.microsoft.com/office/drawing/2014/main" id="{22D799D2-A7CD-4CF4-9D97-1E28743C4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66950"/>
            <a:ext cx="29908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526579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200">
                <a:solidFill>
                  <a:srgbClr val="526579"/>
                </a:solidFill>
                <a:latin typeface="Hiragino Kaku Gothic ProN"/>
                <a:ea typeface="Hiragino Kaku Gothic ProN"/>
                <a:cs typeface="Hiragino Kaku Gothic ProN"/>
              </a:rPr>
              <a:t>ClockとFrameの対応</a:t>
            </a:r>
          </a:p>
          <a:p xmlns:a="http://schemas.openxmlformats.org/drawingml/2006/main">
            <a:pPr algn="ctr">
              <a:defRPr sz="1200">
                <a:solidFill>
                  <a:srgbClr val="526579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200">
                <a:solidFill>
                  <a:srgbClr val="526579"/>
                </a:solidFill>
                <a:latin typeface="Hiragino Kaku Gothic ProN"/>
                <a:ea typeface="Hiragino Kaku Gothic ProN"/>
                <a:cs typeface="Hiragino Kaku Gothic ProN"/>
              </a:rPr>
              <a:t>開始点・周期・ずれ</a:t>
            </a:r>
          </a:p>
        </p:txBody>
      </p:sp>
      <p:sp>
        <p:nvSpPr>
          <p:cNvPr id="15" name="source-check-2-card">
            <a:extLst xmlns:a="http://schemas.openxmlformats.org/drawingml/2006/main">
              <a:ext uri="{FF2B5EF4-FFF2-40B4-BE49-F238E27FC236}">
                <a16:creationId xmlns:a16="http://schemas.microsoft.com/office/drawing/2014/main" id="{8AE624D1-0278-44C5-B5F3-3149A32C3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790700"/>
            <a:ext cx="3333750" cy="13716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4F8FB"/>
          </a:solidFill>
          <a:ln xmlns:a="http://schemas.openxmlformats.org/drawingml/2006/main" w="14288">
            <a:solidFill>
              <a:srgbClr val="9FC4DE"/>
            </a:solidFill>
            <a:prstDash val="solid"/>
          </a:ln>
        </p:spPr>
      </p:sp>
      <p:sp>
        <p:nvSpPr>
          <p:cNvPr id="16" name="source-check-2-title">
            <a:extLst xmlns:a="http://schemas.openxmlformats.org/drawingml/2006/main">
              <a:ext uri="{FF2B5EF4-FFF2-40B4-BE49-F238E27FC236}">
                <a16:creationId xmlns:a16="http://schemas.microsoft.com/office/drawing/2014/main" id="{2582B12C-B25A-4031-B2DC-13CB36F51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905000"/>
            <a:ext cx="2990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650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2　Signalの意味</a:t>
            </a:r>
          </a:p>
        </p:txBody>
      </p:sp>
      <p:sp>
        <p:nvSpPr>
          <p:cNvPr id="17" name="source-check-2-body">
            <a:extLst xmlns:a="http://schemas.openxmlformats.org/drawingml/2006/main">
              <a:ext uri="{FF2B5EF4-FFF2-40B4-BE49-F238E27FC236}">
                <a16:creationId xmlns:a16="http://schemas.microsoft.com/office/drawing/2014/main" id="{626652C2-04BE-4460-B254-BF238E8A7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266950"/>
            <a:ext cx="29908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526579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200">
                <a:solidFill>
                  <a:srgbClr val="526579"/>
                </a:solidFill>
                <a:latin typeface="Hiragino Kaku Gothic ProN"/>
                <a:ea typeface="Hiragino Kaku Gothic ProN"/>
                <a:cs typeface="Hiragino Kaku Gothic ProN"/>
              </a:rPr>
              <a:t>名称・単位・Value kind</a:t>
            </a:r>
          </a:p>
          <a:p xmlns:a="http://schemas.openxmlformats.org/drawingml/2006/main">
            <a:pPr algn="ctr">
              <a:defRPr sz="1200">
                <a:solidFill>
                  <a:srgbClr val="526579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200">
                <a:solidFill>
                  <a:srgbClr val="526579"/>
                </a:solidFill>
                <a:latin typeface="Hiragino Kaku Gothic ProN"/>
                <a:ea typeface="Hiragino Kaku Gothic ProN"/>
                <a:cs typeface="Hiragino Kaku Gothic ProN"/>
              </a:rPr>
              <a:t>物理量の定義</a:t>
            </a:r>
          </a:p>
        </p:txBody>
      </p:sp>
      <p:sp>
        <p:nvSpPr>
          <p:cNvPr id="18" name="source-check-3-card">
            <a:extLst xmlns:a="http://schemas.openxmlformats.org/drawingml/2006/main">
              <a:ext uri="{FF2B5EF4-FFF2-40B4-BE49-F238E27FC236}">
                <a16:creationId xmlns:a16="http://schemas.microsoft.com/office/drawing/2014/main" id="{B63E2B5C-3F5D-4B71-B9B1-963C47F2E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1790700"/>
            <a:ext cx="3333750" cy="13716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4F8FB"/>
          </a:solidFill>
          <a:ln xmlns:a="http://schemas.openxmlformats.org/drawingml/2006/main" w="14288">
            <a:solidFill>
              <a:srgbClr val="9FC4DE"/>
            </a:solidFill>
            <a:prstDash val="solid"/>
          </a:ln>
        </p:spPr>
      </p:sp>
      <p:sp>
        <p:nvSpPr>
          <p:cNvPr id="19" name="source-check-3-title">
            <a:extLst xmlns:a="http://schemas.openxmlformats.org/drawingml/2006/main">
              <a:ext uri="{FF2B5EF4-FFF2-40B4-BE49-F238E27FC236}">
                <a16:creationId xmlns:a16="http://schemas.microsoft.com/office/drawing/2014/main" id="{C7B1B40D-A3A3-4660-986E-92F8A3E52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905000"/>
            <a:ext cx="2990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650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3　座標</a:t>
            </a:r>
          </a:p>
        </p:txBody>
      </p:sp>
      <p:sp>
        <p:nvSpPr>
          <p:cNvPr id="20" name="source-check-3-body">
            <a:extLst xmlns:a="http://schemas.openxmlformats.org/drawingml/2006/main">
              <a:ext uri="{FF2B5EF4-FFF2-40B4-BE49-F238E27FC236}">
                <a16:creationId xmlns:a16="http://schemas.microsoft.com/office/drawing/2014/main" id="{EA9189E1-C338-49C9-A6DF-C6E234FB3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266950"/>
            <a:ext cx="29908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526579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200">
                <a:solidFill>
                  <a:srgbClr val="526579"/>
                </a:solidFill>
                <a:latin typeface="Hiragino Kaku Gothic ProN"/>
                <a:ea typeface="Hiragino Kaku Gothic ProN"/>
                <a:cs typeface="Hiragino Kaku Gothic ProN"/>
              </a:rPr>
              <a:t>座標系・正負方向</a:t>
            </a:r>
          </a:p>
          <a:p xmlns:a="http://schemas.openxmlformats.org/drawingml/2006/main">
            <a:pPr algn="ctr">
              <a:defRPr sz="1200">
                <a:solidFill>
                  <a:srgbClr val="526579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200">
                <a:solidFill>
                  <a:srgbClr val="526579"/>
                </a:solidFill>
                <a:latin typeface="Hiragino Kaku Gothic ProN"/>
                <a:ea typeface="Hiragino Kaku Gothic ProN"/>
                <a:cs typeface="Hiragino Kaku Gothic ProN"/>
              </a:rPr>
              <a:t>取付位置</a:t>
            </a:r>
          </a:p>
        </p:txBody>
      </p:sp>
      <p:sp>
        <p:nvSpPr>
          <p:cNvPr id="21" name="source-check-4-card">
            <a:extLst xmlns:a="http://schemas.openxmlformats.org/drawingml/2006/main">
              <a:ext uri="{FF2B5EF4-FFF2-40B4-BE49-F238E27FC236}">
                <a16:creationId xmlns:a16="http://schemas.microsoft.com/office/drawing/2014/main" id="{8F6D12A9-DEF7-4AA0-90CF-2ED75D845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71850"/>
            <a:ext cx="3333750" cy="13716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4F8FB"/>
          </a:solidFill>
          <a:ln xmlns:a="http://schemas.openxmlformats.org/drawingml/2006/main" w="14288">
            <a:solidFill>
              <a:srgbClr val="9FC4DE"/>
            </a:solidFill>
            <a:prstDash val="solid"/>
          </a:ln>
        </p:spPr>
      </p:sp>
      <p:sp>
        <p:nvSpPr>
          <p:cNvPr id="22" name="source-check-4-title">
            <a:extLst xmlns:a="http://schemas.openxmlformats.org/drawingml/2006/main">
              <a:ext uri="{FF2B5EF4-FFF2-40B4-BE49-F238E27FC236}">
                <a16:creationId xmlns:a16="http://schemas.microsoft.com/office/drawing/2014/main" id="{9F85597E-AD1B-4197-AE7C-F9CEE5924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86150"/>
            <a:ext cx="2990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650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4　無効値</a:t>
            </a:r>
          </a:p>
        </p:txBody>
      </p:sp>
      <p:sp>
        <p:nvSpPr>
          <p:cNvPr id="23" name="source-check-4-body">
            <a:extLst xmlns:a="http://schemas.openxmlformats.org/drawingml/2006/main">
              <a:ext uri="{FF2B5EF4-FFF2-40B4-BE49-F238E27FC236}">
                <a16:creationId xmlns:a16="http://schemas.microsoft.com/office/drawing/2014/main" id="{4D26EFCC-6AE8-41BF-8200-C590D3EAC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48100"/>
            <a:ext cx="29908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526579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200">
                <a:solidFill>
                  <a:srgbClr val="526579"/>
                </a:solidFill>
                <a:latin typeface="Hiragino Kaku Gothic ProN"/>
                <a:ea typeface="Hiragino Kaku Gothic ProN"/>
                <a:cs typeface="Hiragino Kaku Gothic ProN"/>
              </a:rPr>
              <a:t>欠落・未検出・既定値を</a:t>
            </a:r>
          </a:p>
          <a:p xmlns:a="http://schemas.openxmlformats.org/drawingml/2006/main">
            <a:pPr algn="ctr">
              <a:defRPr sz="1200">
                <a:solidFill>
                  <a:srgbClr val="526579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200">
                <a:solidFill>
                  <a:srgbClr val="526579"/>
                </a:solidFill>
                <a:latin typeface="Hiragino Kaku Gothic ProN"/>
                <a:ea typeface="Hiragino Kaku Gothic ProN"/>
                <a:cs typeface="Hiragino Kaku Gothic ProN"/>
              </a:rPr>
              <a:t>区別する</a:t>
            </a:r>
          </a:p>
        </p:txBody>
      </p:sp>
      <p:sp>
        <p:nvSpPr>
          <p:cNvPr id="24" name="source-check-5-card">
            <a:extLst xmlns:a="http://schemas.openxmlformats.org/drawingml/2006/main">
              <a:ext uri="{FF2B5EF4-FFF2-40B4-BE49-F238E27FC236}">
                <a16:creationId xmlns:a16="http://schemas.microsoft.com/office/drawing/2014/main" id="{73C75592-DDF6-4B0A-838C-02C289296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371850"/>
            <a:ext cx="3333750" cy="13716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4F8FB"/>
          </a:solidFill>
          <a:ln xmlns:a="http://schemas.openxmlformats.org/drawingml/2006/main" w="14288">
            <a:solidFill>
              <a:srgbClr val="9FC4DE"/>
            </a:solidFill>
            <a:prstDash val="solid"/>
          </a:ln>
        </p:spPr>
      </p:sp>
      <p:sp>
        <p:nvSpPr>
          <p:cNvPr id="25" name="source-check-5-title">
            <a:extLst xmlns:a="http://schemas.openxmlformats.org/drawingml/2006/main">
              <a:ext uri="{FF2B5EF4-FFF2-40B4-BE49-F238E27FC236}">
                <a16:creationId xmlns:a16="http://schemas.microsoft.com/office/drawing/2014/main" id="{1E298DA8-61D5-4CD8-9386-62C55F87A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486150"/>
            <a:ext cx="2990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650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5　更新</a:t>
            </a:r>
          </a:p>
        </p:txBody>
      </p:sp>
      <p:sp>
        <p:nvSpPr>
          <p:cNvPr id="26" name="source-check-5-body">
            <a:extLst xmlns:a="http://schemas.openxmlformats.org/drawingml/2006/main">
              <a:ext uri="{FF2B5EF4-FFF2-40B4-BE49-F238E27FC236}">
                <a16:creationId xmlns:a16="http://schemas.microsoft.com/office/drawing/2014/main" id="{2FEFA12C-2BA4-40D4-B7FD-D127D0A93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848100"/>
            <a:ext cx="29908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526579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200">
                <a:solidFill>
                  <a:srgbClr val="526579"/>
                </a:solidFill>
                <a:latin typeface="Hiragino Kaku Gothic ProN"/>
                <a:ea typeface="Hiragino Kaku Gothic ProN"/>
                <a:cs typeface="Hiragino Kaku Gothic ProN"/>
              </a:rPr>
              <a:t>更新周期・保持方法</a:t>
            </a:r>
          </a:p>
          <a:p xmlns:a="http://schemas.openxmlformats.org/drawingml/2006/main">
            <a:pPr algn="ctr">
              <a:defRPr sz="1200">
                <a:solidFill>
                  <a:srgbClr val="526579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200">
                <a:solidFill>
                  <a:srgbClr val="526579"/>
                </a:solidFill>
                <a:latin typeface="Hiragino Kaku Gothic ProN"/>
                <a:ea typeface="Hiragino Kaku Gothic ProN"/>
                <a:cs typeface="Hiragino Kaku Gothic ProN"/>
              </a:rPr>
              <a:t>Ageの上限</a:t>
            </a:r>
          </a:p>
        </p:txBody>
      </p:sp>
      <p:sp>
        <p:nvSpPr>
          <p:cNvPr id="27" name="source-check-6-card">
            <a:extLst xmlns:a="http://schemas.openxmlformats.org/drawingml/2006/main">
              <a:ext uri="{FF2B5EF4-FFF2-40B4-BE49-F238E27FC236}">
                <a16:creationId xmlns:a16="http://schemas.microsoft.com/office/drawing/2014/main" id="{1D602DB3-8D55-46A2-8A7B-7DA9B36EA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371850"/>
            <a:ext cx="3333750" cy="13716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9F5F1"/>
          </a:solidFill>
          <a:ln xmlns:a="http://schemas.openxmlformats.org/drawingml/2006/main" w="14288">
            <a:solidFill>
              <a:srgbClr val="2F826B"/>
            </a:solidFill>
            <a:prstDash val="solid"/>
          </a:ln>
        </p:spPr>
      </p:sp>
      <p:sp>
        <p:nvSpPr>
          <p:cNvPr id="28" name="source-check-6-title">
            <a:extLst xmlns:a="http://schemas.openxmlformats.org/drawingml/2006/main">
              <a:ext uri="{FF2B5EF4-FFF2-40B4-BE49-F238E27FC236}">
                <a16:creationId xmlns:a16="http://schemas.microsoft.com/office/drawing/2014/main" id="{4F5B1EC5-5BC0-4961-ACCA-C894FC37C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486150"/>
            <a:ext cx="2990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F826B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650" b="1">
                <a:solidFill>
                  <a:srgbClr val="2F826B"/>
                </a:solidFill>
                <a:latin typeface="Hiragino Kaku Gothic ProN"/>
                <a:ea typeface="Hiragino Kaku Gothic ProN"/>
                <a:cs typeface="Hiragino Kaku Gothic ProN"/>
              </a:rPr>
              <a:t>6　再確認</a:t>
            </a:r>
          </a:p>
        </p:txBody>
      </p:sp>
      <p:sp>
        <p:nvSpPr>
          <p:cNvPr id="29" name="source-check-6-body">
            <a:extLst xmlns:a="http://schemas.openxmlformats.org/drawingml/2006/main">
              <a:ext uri="{FF2B5EF4-FFF2-40B4-BE49-F238E27FC236}">
                <a16:creationId xmlns:a16="http://schemas.microsoft.com/office/drawing/2014/main" id="{2A51774A-D725-40D8-AEAF-0424A77D0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29908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526579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200">
                <a:solidFill>
                  <a:srgbClr val="526579"/>
                </a:solidFill>
                <a:latin typeface="Hiragino Kaku Gothic ProN"/>
                <a:ea typeface="Hiragino Kaku Gothic ProN"/>
                <a:cs typeface="Hiragino Kaku Gothic ProN"/>
              </a:rPr>
              <a:t>Sampleで動作確認</a:t>
            </a:r>
          </a:p>
          <a:p xmlns:a="http://schemas.openxmlformats.org/drawingml/2006/main">
            <a:pPr algn="ctr">
              <a:defRPr sz="1200">
                <a:solidFill>
                  <a:srgbClr val="526579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200">
                <a:solidFill>
                  <a:srgbClr val="526579"/>
                </a:solidFill>
                <a:latin typeface="Hiragino Kaku Gothic ProN"/>
                <a:ea typeface="Hiragino Kaku Gothic ProN"/>
                <a:cs typeface="Hiragino Kaku Gothic ProN"/>
              </a:rPr>
              <a:t>実Dataで意味確認</a:t>
            </a:r>
          </a:p>
        </p:txBody>
      </p:sp>
    </p:spTree>
    <p:extLst>
      <p:ext uri="{BB962C8B-B14F-4D97-AF65-F5344CB8AC3E}">
        <p14:creationId xmlns:p14="http://schemas.microsoft.com/office/powerpoint/2010/main" val="1524336637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top-accent">
            <a:extLst xmlns:a="http://schemas.openxmlformats.org/drawingml/2006/main">
              <a:ext uri="{FF2B5EF4-FFF2-40B4-BE49-F238E27FC236}">
                <a16:creationId xmlns:a16="http://schemas.microsoft.com/office/drawing/2014/main" id="{669684B9-BFE4-4359-8FB8-52A163655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F5F"/>
          </a:solidFill>
          <a:ln xmlns:a="http://schemas.openxmlformats.org/drawingml/2006/main" w="0">
            <a:solidFill>
              <a:srgbClr val="173F5F"/>
            </a:solidFill>
            <a:prstDash val="solid"/>
          </a:ln>
        </p:spPr>
      </p:sp>
      <p:sp>
        <p:nvSpPr>
          <p:cNvPr id="2" name="deck-name">
            <a:extLst xmlns:a="http://schemas.openxmlformats.org/drawingml/2006/main">
              <a:ext uri="{FF2B5EF4-FFF2-40B4-BE49-F238E27FC236}">
                <a16:creationId xmlns:a16="http://schemas.microsoft.com/office/drawing/2014/main" id="{519D2CFC-5ECD-4EFC-9200-86358A61F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670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U001–U003 詳細説明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62EF207-1034-4A10-A6BA-1913ED71E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"/>
            <a:ext cx="11010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17324D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550" b="1">
                <a:solidFill>
                  <a:srgbClr val="17324D"/>
                </a:solidFill>
                <a:latin typeface="Hiragino Kaku Gothic ProN"/>
                <a:ea typeface="Hiragino Kaku Gothic ProN"/>
                <a:cs typeface="Hiragino Kaku Gothic ProN"/>
              </a:rPr>
              <a:t>U003は、確認と報告の機械作業をModuleで支援する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D322F048-659D-44AB-9BD3-DB0C8E6F3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90550" y="1381125"/>
            <a:ext cx="110109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7C8D6"/>
            </a:solidFill>
            <a:prstDash val="solid"/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A85705AB-3231-4D60-A934-71BBC7A7D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34150"/>
            <a:ext cx="781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97222"/>
          </a:bodyPr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900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rPr>
              <a:t>ZHAO ZHILI  |  U-Series Detailed Review  |  2026-09-01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377116A-C582-488C-ABE0-4E897586E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524625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97222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900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rPr>
              <a:t>23</a:t>
            </a:r>
          </a:p>
        </p:txBody>
      </p:sp>
      <p:sp>
        <p:nvSpPr>
          <p:cNvPr id="7" name="flow-arrow-1">
            <a:extLst xmlns:a="http://schemas.openxmlformats.org/drawingml/2006/main">
              <a:ext uri="{FF2B5EF4-FFF2-40B4-BE49-F238E27FC236}">
                <a16:creationId xmlns:a16="http://schemas.microsoft.com/office/drawing/2014/main" id="{F284D5C2-F5D9-406F-824C-11F1ACD50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2286000" y="3190875"/>
            <a:ext cx="228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B7C8D6"/>
            </a:solidFill>
            <a:prstDash val="solid"/>
          </a:ln>
        </p:spPr>
      </p:sp>
      <p:sp>
        <p:nvSpPr>
          <p:cNvPr id="8" name="flow-arrow-2">
            <a:extLst xmlns:a="http://schemas.openxmlformats.org/drawingml/2006/main">
              <a:ext uri="{FF2B5EF4-FFF2-40B4-BE49-F238E27FC236}">
                <a16:creationId xmlns:a16="http://schemas.microsoft.com/office/drawing/2014/main" id="{80D9E487-2E92-4DF2-A977-B37F286F2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4133850" y="3190875"/>
            <a:ext cx="228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B7C8D6"/>
            </a:solidFill>
            <a:prstDash val="solid"/>
          </a:ln>
        </p:spPr>
      </p:sp>
      <p:sp>
        <p:nvSpPr>
          <p:cNvPr id="9" name="flow-arrow-3">
            <a:extLst xmlns:a="http://schemas.openxmlformats.org/drawingml/2006/main">
              <a:ext uri="{FF2B5EF4-FFF2-40B4-BE49-F238E27FC236}">
                <a16:creationId xmlns:a16="http://schemas.microsoft.com/office/drawing/2014/main" id="{7A5257C4-F9B2-4B70-B156-D3A10E89E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981700" y="3190875"/>
            <a:ext cx="228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B7C8D6"/>
            </a:solidFill>
            <a:prstDash val="solid"/>
          </a:ln>
        </p:spPr>
      </p:sp>
      <p:sp>
        <p:nvSpPr>
          <p:cNvPr id="10" name="flow-arrow-4">
            <a:extLst xmlns:a="http://schemas.openxmlformats.org/drawingml/2006/main">
              <a:ext uri="{FF2B5EF4-FFF2-40B4-BE49-F238E27FC236}">
                <a16:creationId xmlns:a16="http://schemas.microsoft.com/office/drawing/2014/main" id="{CE3205CD-7559-4D2D-8684-78E4232BA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7829550" y="3190875"/>
            <a:ext cx="228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B7C8D6"/>
            </a:solidFill>
            <a:prstDash val="solid"/>
          </a:ln>
        </p:spPr>
      </p:sp>
      <p:sp>
        <p:nvSpPr>
          <p:cNvPr id="11" name="flow-arrow-5">
            <a:extLst xmlns:a="http://schemas.openxmlformats.org/drawingml/2006/main">
              <a:ext uri="{FF2B5EF4-FFF2-40B4-BE49-F238E27FC236}">
                <a16:creationId xmlns:a16="http://schemas.microsoft.com/office/drawing/2014/main" id="{3FF7F08E-27F4-4814-B9EA-1C62443BA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9677400" y="3190875"/>
            <a:ext cx="228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B7C8D6"/>
            </a:solidFill>
            <a:prstDash val="solid"/>
          </a:ln>
        </p:spPr>
      </p:sp>
      <p:sp>
        <p:nvSpPr>
          <p:cNvPr id="12" name="flow-box-1">
            <a:extLst xmlns:a="http://schemas.openxmlformats.org/drawingml/2006/main">
              <a:ext uri="{FF2B5EF4-FFF2-40B4-BE49-F238E27FC236}">
                <a16:creationId xmlns:a16="http://schemas.microsoft.com/office/drawing/2014/main" id="{A088A2E4-5779-4705-B15C-B198B4E9A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33625"/>
            <a:ext cx="1695450" cy="1714500"/>
          </a:xfrm>
          <a:prstGeom xmlns:a="http://schemas.openxmlformats.org/drawingml/2006/main" prst="roundRect">
            <a:avLst>
              <a:gd name="adj" fmla="val 22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7C8D6"/>
            </a:solidFill>
            <a:prstDash val="solid"/>
          </a:ln>
        </p:spPr>
      </p:sp>
      <p:sp>
        <p:nvSpPr>
          <p:cNvPr id="13" name="flow-title-1">
            <a:extLst xmlns:a="http://schemas.openxmlformats.org/drawingml/2006/main">
              <a:ext uri="{FF2B5EF4-FFF2-40B4-BE49-F238E27FC236}">
                <a16:creationId xmlns:a16="http://schemas.microsoft.com/office/drawing/2014/main" id="{C61820BE-EE2B-468B-8414-A4FE2CD4E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0325"/>
            <a:ext cx="142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4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候補読込</a:t>
            </a:r>
          </a:p>
        </p:txBody>
      </p:sp>
      <p:sp>
        <p:nvSpPr>
          <p:cNvPr id="14" name="flow-body-1">
            <a:extLst xmlns:a="http://schemas.openxmlformats.org/drawingml/2006/main">
              <a:ext uri="{FF2B5EF4-FFF2-40B4-BE49-F238E27FC236}">
                <a16:creationId xmlns:a16="http://schemas.microsoft.com/office/drawing/2014/main" id="{492B20B9-0C04-4E0F-A73C-EA35BCCA5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81350"/>
            <a:ext cx="142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U002 Package</a:t>
            </a:r>
          </a:p>
        </p:txBody>
      </p:sp>
      <p:sp>
        <p:nvSpPr>
          <p:cNvPr id="15" name="flow-box-2">
            <a:extLst xmlns:a="http://schemas.openxmlformats.org/drawingml/2006/main">
              <a:ext uri="{FF2B5EF4-FFF2-40B4-BE49-F238E27FC236}">
                <a16:creationId xmlns:a16="http://schemas.microsoft.com/office/drawing/2014/main" id="{33EAA83E-D56E-4263-9F59-FEB606CEE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333625"/>
            <a:ext cx="1695450" cy="1714500"/>
          </a:xfrm>
          <a:prstGeom xmlns:a="http://schemas.openxmlformats.org/drawingml/2006/main" prst="roundRect">
            <a:avLst>
              <a:gd name="adj" fmla="val 22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7C8D6"/>
            </a:solidFill>
            <a:prstDash val="solid"/>
          </a:ln>
        </p:spPr>
      </p:sp>
      <p:sp>
        <p:nvSpPr>
          <p:cNvPr id="16" name="flow-title-2">
            <a:extLst xmlns:a="http://schemas.openxmlformats.org/drawingml/2006/main">
              <a:ext uri="{FF2B5EF4-FFF2-40B4-BE49-F238E27FC236}">
                <a16:creationId xmlns:a16="http://schemas.microsoft.com/office/drawing/2014/main" id="{DCDF98B7-FD32-4030-AC02-F0C1F8C73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600325"/>
            <a:ext cx="142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4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同期表示</a:t>
            </a:r>
          </a:p>
        </p:txBody>
      </p:sp>
      <p:sp>
        <p:nvSpPr>
          <p:cNvPr id="17" name="flow-body-2">
            <a:extLst xmlns:a="http://schemas.openxmlformats.org/drawingml/2006/main">
              <a:ext uri="{FF2B5EF4-FFF2-40B4-BE49-F238E27FC236}">
                <a16:creationId xmlns:a16="http://schemas.microsoft.com/office/drawing/2014/main" id="{7A7103A8-036A-44A4-843A-B144FFB13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181350"/>
            <a:ext cx="142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Video + CAN</a:t>
            </a:r>
          </a:p>
          <a:p xmlns:a="http://schemas.openxmlformats.org/drawingml/2006/main">
            <a:pPr algn="ctr">
              <a:buNone/>
              <a:defRPr sz="120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/>
            </a:r>
          </a:p>
        </p:txBody>
      </p:sp>
      <p:sp>
        <p:nvSpPr>
          <p:cNvPr id="18" name="flow-box-3">
            <a:extLst xmlns:a="http://schemas.openxmlformats.org/drawingml/2006/main">
              <a:ext uri="{FF2B5EF4-FFF2-40B4-BE49-F238E27FC236}">
                <a16:creationId xmlns:a16="http://schemas.microsoft.com/office/drawing/2014/main" id="{40B06EBC-6CA4-4A54-AFEB-5F6E19FA1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333625"/>
            <a:ext cx="1695450" cy="1714500"/>
          </a:xfrm>
          <a:prstGeom xmlns:a="http://schemas.openxmlformats.org/drawingml/2006/main" prst="roundRect">
            <a:avLst>
              <a:gd name="adj" fmla="val 22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7C8D6"/>
            </a:solidFill>
            <a:prstDash val="solid"/>
          </a:ln>
        </p:spPr>
      </p:sp>
      <p:sp>
        <p:nvSpPr>
          <p:cNvPr id="19" name="flow-title-3">
            <a:extLst xmlns:a="http://schemas.openxmlformats.org/drawingml/2006/main">
              <a:ext uri="{FF2B5EF4-FFF2-40B4-BE49-F238E27FC236}">
                <a16:creationId xmlns:a16="http://schemas.microsoft.com/office/drawing/2014/main" id="{8CFCBE8D-038E-4DEA-AF86-46D2E7A33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600325"/>
            <a:ext cx="142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4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Graph</a:t>
            </a:r>
          </a:p>
        </p:txBody>
      </p:sp>
      <p:sp>
        <p:nvSpPr>
          <p:cNvPr id="20" name="flow-body-3">
            <a:extLst xmlns:a="http://schemas.openxmlformats.org/drawingml/2006/main">
              <a:ext uri="{FF2B5EF4-FFF2-40B4-BE49-F238E27FC236}">
                <a16:creationId xmlns:a16="http://schemas.microsoft.com/office/drawing/2014/main" id="{9F67A01A-E845-4032-A60B-5FBE06A5A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181350"/>
            <a:ext cx="142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選択Signalを比較</a:t>
            </a:r>
          </a:p>
        </p:txBody>
      </p:sp>
      <p:sp>
        <p:nvSpPr>
          <p:cNvPr id="21" name="flow-box-4">
            <a:extLst xmlns:a="http://schemas.openxmlformats.org/drawingml/2006/main">
              <a:ext uri="{FF2B5EF4-FFF2-40B4-BE49-F238E27FC236}">
                <a16:creationId xmlns:a16="http://schemas.microsoft.com/office/drawing/2014/main" id="{3DBBF726-7BA7-4752-921B-9CF0E36E9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333625"/>
            <a:ext cx="1695450" cy="1714500"/>
          </a:xfrm>
          <a:prstGeom xmlns:a="http://schemas.openxmlformats.org/drawingml/2006/main" prst="roundRect">
            <a:avLst>
              <a:gd name="adj" fmla="val 22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7C8D6"/>
            </a:solidFill>
            <a:prstDash val="solid"/>
          </a:ln>
        </p:spPr>
      </p:sp>
      <p:sp>
        <p:nvSpPr>
          <p:cNvPr id="22" name="flow-title-4">
            <a:extLst xmlns:a="http://schemas.openxmlformats.org/drawingml/2006/main">
              <a:ext uri="{FF2B5EF4-FFF2-40B4-BE49-F238E27FC236}">
                <a16:creationId xmlns:a16="http://schemas.microsoft.com/office/drawing/2014/main" id="{3057DAC3-F07C-4068-94B9-0E08FF122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600325"/>
            <a:ext cx="142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4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Excel</a:t>
            </a:r>
          </a:p>
        </p:txBody>
      </p:sp>
      <p:sp>
        <p:nvSpPr>
          <p:cNvPr id="23" name="flow-body-4">
            <a:extLst xmlns:a="http://schemas.openxmlformats.org/drawingml/2006/main">
              <a:ext uri="{FF2B5EF4-FFF2-40B4-BE49-F238E27FC236}">
                <a16:creationId xmlns:a16="http://schemas.microsoft.com/office/drawing/2014/main" id="{2D55E78B-C5C2-4DFB-A34F-5043C49DA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181350"/>
            <a:ext cx="142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編集可能な図表</a:t>
            </a:r>
          </a:p>
        </p:txBody>
      </p:sp>
      <p:sp>
        <p:nvSpPr>
          <p:cNvPr id="24" name="flow-box-5">
            <a:extLst xmlns:a="http://schemas.openxmlformats.org/drawingml/2006/main">
              <a:ext uri="{FF2B5EF4-FFF2-40B4-BE49-F238E27FC236}">
                <a16:creationId xmlns:a16="http://schemas.microsoft.com/office/drawing/2014/main" id="{FB870EE1-B56F-449B-9DF2-760A1B24B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33625"/>
            <a:ext cx="1695450" cy="1714500"/>
          </a:xfrm>
          <a:prstGeom xmlns:a="http://schemas.openxmlformats.org/drawingml/2006/main" prst="roundRect">
            <a:avLst>
              <a:gd name="adj" fmla="val 22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7C8D6"/>
            </a:solidFill>
            <a:prstDash val="solid"/>
          </a:ln>
        </p:spPr>
      </p:sp>
      <p:sp>
        <p:nvSpPr>
          <p:cNvPr id="25" name="flow-title-5">
            <a:extLst xmlns:a="http://schemas.openxmlformats.org/drawingml/2006/main">
              <a:ext uri="{FF2B5EF4-FFF2-40B4-BE49-F238E27FC236}">
                <a16:creationId xmlns:a16="http://schemas.microsoft.com/office/drawing/2014/main" id="{83784CC1-3D5D-4FB8-92A5-A62A67883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600325"/>
            <a:ext cx="142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4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Mask</a:t>
            </a:r>
          </a:p>
        </p:txBody>
      </p:sp>
      <p:sp>
        <p:nvSpPr>
          <p:cNvPr id="26" name="flow-body-5">
            <a:extLst xmlns:a="http://schemas.openxmlformats.org/drawingml/2006/main">
              <a:ext uri="{FF2B5EF4-FFF2-40B4-BE49-F238E27FC236}">
                <a16:creationId xmlns:a16="http://schemas.microsoft.com/office/drawing/2014/main" id="{CF5F06B8-8ABF-44B7-8FB2-A9F5980CE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181350"/>
            <a:ext cx="142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外部提出用画像</a:t>
            </a:r>
          </a:p>
        </p:txBody>
      </p:sp>
      <p:sp>
        <p:nvSpPr>
          <p:cNvPr id="27" name="flow-box-6">
            <a:extLst xmlns:a="http://schemas.openxmlformats.org/drawingml/2006/main">
              <a:ext uri="{FF2B5EF4-FFF2-40B4-BE49-F238E27FC236}">
                <a16:creationId xmlns:a16="http://schemas.microsoft.com/office/drawing/2014/main" id="{EEE93533-BA63-41CE-958D-F4AC9D203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333625"/>
            <a:ext cx="1695450" cy="1714500"/>
          </a:xfrm>
          <a:prstGeom xmlns:a="http://schemas.openxmlformats.org/drawingml/2006/main" prst="roundRect">
            <a:avLst>
              <a:gd name="adj" fmla="val 2247"/>
            </a:avLst>
          </a:prstGeom>
          <a:solidFill xmlns:a="http://schemas.openxmlformats.org/drawingml/2006/main">
            <a:srgbClr val="E5F2EE"/>
          </a:solidFill>
          <a:ln xmlns:a="http://schemas.openxmlformats.org/drawingml/2006/main" w="14288">
            <a:solidFill>
              <a:srgbClr val="2F7D68"/>
            </a:solidFill>
            <a:prstDash val="solid"/>
          </a:ln>
        </p:spPr>
      </p:sp>
      <p:sp>
        <p:nvSpPr>
          <p:cNvPr id="28" name="flow-title-6">
            <a:extLst xmlns:a="http://schemas.openxmlformats.org/drawingml/2006/main">
              <a:ext uri="{FF2B5EF4-FFF2-40B4-BE49-F238E27FC236}">
                <a16:creationId xmlns:a16="http://schemas.microsoft.com/office/drawing/2014/main" id="{14231920-2C03-425E-9A6D-AA7FA40C4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600325"/>
            <a:ext cx="142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4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Review</a:t>
            </a:r>
          </a:p>
        </p:txBody>
      </p:sp>
      <p:sp>
        <p:nvSpPr>
          <p:cNvPr id="29" name="flow-body-6">
            <a:extLst xmlns:a="http://schemas.openxmlformats.org/drawingml/2006/main">
              <a:ext uri="{FF2B5EF4-FFF2-40B4-BE49-F238E27FC236}">
                <a16:creationId xmlns:a16="http://schemas.microsoft.com/office/drawing/2014/main" id="{E1E2F060-7F73-41DE-8C6E-734E7609E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181350"/>
            <a:ext cx="142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判断・Memo</a:t>
            </a:r>
          </a:p>
          <a:p xmlns:a="http://schemas.openxmlformats.org/drawingml/2006/main">
            <a:pPr algn="ctr">
              <a:buNone/>
              <a:defRPr sz="120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/>
            </a:r>
          </a:p>
        </p:txBody>
      </p:sp>
      <p:sp>
        <p:nvSpPr>
          <p:cNvPr id="30" name="flow-conclusion">
            <a:extLst xmlns:a="http://schemas.openxmlformats.org/drawingml/2006/main">
              <a:ext uri="{FF2B5EF4-FFF2-40B4-BE49-F238E27FC236}">
                <a16:creationId xmlns:a16="http://schemas.microsoft.com/office/drawing/2014/main" id="{1A468857-ED6E-4BCB-B158-2203B07B4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953000"/>
            <a:ext cx="10096500" cy="7239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E7F0F6"/>
          </a:solidFill>
          <a:ln xmlns:a="http://schemas.openxmlformats.org/drawingml/2006/main" w="14288">
            <a:solidFill>
              <a:srgbClr val="173F5F"/>
            </a:solidFill>
            <a:prstDash val="solid"/>
          </a:ln>
        </p:spPr>
      </p:sp>
      <p:sp>
        <p:nvSpPr>
          <p:cNvPr id="31" name="flow-conclusion-text">
            <a:extLst xmlns:a="http://schemas.openxmlformats.org/drawingml/2006/main">
              <a:ext uri="{FF2B5EF4-FFF2-40B4-BE49-F238E27FC236}">
                <a16:creationId xmlns:a16="http://schemas.microsoft.com/office/drawing/2014/main" id="{98B85BF1-D65E-4AB8-B803-3BE8DD5AB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114925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7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判断を自動化せず、判断までの機械作業を減らす</a:t>
            </a:r>
          </a:p>
        </p:txBody>
      </p:sp>
    </p:spTree>
    <p:extLst>
      <p:ext uri="{BB962C8B-B14F-4D97-AF65-F5344CB8AC3E}">
        <p14:creationId xmlns:p14="http://schemas.microsoft.com/office/powerpoint/2010/main" val="586225296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op-accent">
            <a:extLst xmlns:a="http://schemas.openxmlformats.org/drawingml/2006/main">
              <a:ext uri="{FF2B5EF4-FFF2-40B4-BE49-F238E27FC236}">
                <a16:creationId xmlns:a16="http://schemas.microsoft.com/office/drawing/2014/main" id="{00D29C0E-8851-475B-B0F5-B2175515A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F5F"/>
          </a:solidFill>
          <a:ln xmlns:a="http://schemas.openxmlformats.org/drawingml/2006/main" w="0">
            <a:solidFill>
              <a:srgbClr val="173F5F"/>
            </a:solidFill>
            <a:prstDash val="solid"/>
          </a:ln>
        </p:spPr>
      </p:sp>
      <p:sp>
        <p:nvSpPr>
          <p:cNvPr id="2" name="deck-name">
            <a:extLst xmlns:a="http://schemas.openxmlformats.org/drawingml/2006/main">
              <a:ext uri="{FF2B5EF4-FFF2-40B4-BE49-F238E27FC236}">
                <a16:creationId xmlns:a16="http://schemas.microsoft.com/office/drawing/2014/main" id="{BB3C47BB-F314-452D-8A17-3E4FBF6A2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670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U001–U003 詳細説明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F2A0E13-A5D8-4B5C-9CFE-B471BA024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"/>
            <a:ext cx="11010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17324D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850" b="1">
                <a:solidFill>
                  <a:srgbClr val="17324D"/>
                </a:solidFill>
                <a:latin typeface="Hiragino Kaku Gothic ProN"/>
                <a:ea typeface="Hiragino Kaku Gothic ProN"/>
                <a:cs typeface="Hiragino Kaku Gothic ProN"/>
              </a:rPr>
              <a:t>品質の境界：Golden Runだけでは漏検率を言わない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F60DE6A1-4B81-4C8F-BD34-94378F3B2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90550" y="1381125"/>
            <a:ext cx="110109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7C8D6"/>
            </a:solidFill>
            <a:prstDash val="solid"/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0BD3A1F6-159A-4154-BB7E-1A04F553C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34150"/>
            <a:ext cx="781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97222"/>
          </a:bodyPr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900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rPr>
              <a:t>ZHAO ZHILI  |  U-Series Detailed Review  |  2026-09-01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883A81D-07D9-4398-84AC-8B66169F2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524625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97222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900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rPr>
              <a:t>24</a:t>
            </a:r>
          </a:p>
        </p:txBody>
      </p:sp>
      <p:sp>
        <p:nvSpPr>
          <p:cNvPr id="9" name="conclusion-band">
            <a:extLst xmlns:a="http://schemas.openxmlformats.org/drawingml/2006/main">
              <a:ext uri="{FF2B5EF4-FFF2-40B4-BE49-F238E27FC236}">
                <a16:creationId xmlns:a16="http://schemas.microsoft.com/office/drawing/2014/main" id="{AABD679A-60F1-4ACE-9C18-79315CCE6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57850"/>
            <a:ext cx="10477500" cy="59055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E7F0F6"/>
          </a:solidFill>
          <a:ln xmlns:a="http://schemas.openxmlformats.org/drawingml/2006/main" w="14288">
            <a:solidFill>
              <a:srgbClr val="173F5F"/>
            </a:solidFill>
            <a:prstDash val="solid"/>
          </a:ln>
        </p:spPr>
      </p:sp>
      <p:sp>
        <p:nvSpPr>
          <p:cNvPr id="10" name="conclusion">
            <a:extLst xmlns:a="http://schemas.openxmlformats.org/drawingml/2006/main">
              <a:ext uri="{FF2B5EF4-FFF2-40B4-BE49-F238E27FC236}">
                <a16:creationId xmlns:a16="http://schemas.microsoft.com/office/drawing/2014/main" id="{BDED84F5-1A2A-45FD-9FDD-0C94473AD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772150"/>
            <a:ext cx="9982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650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候補精度の実証と、全動画Recallの実証を分ける</a:t>
            </a:r>
          </a:p>
        </p:txBody>
      </p:sp>
      <p:sp>
        <p:nvSpPr>
          <p:cNvPr id="12" name="recall-known-card">
            <a:extLst xmlns:a="http://schemas.openxmlformats.org/drawingml/2006/main">
              <a:ext uri="{FF2B5EF4-FFF2-40B4-BE49-F238E27FC236}">
                <a16:creationId xmlns:a16="http://schemas.microsoft.com/office/drawing/2014/main" id="{DC48272C-80C7-4C8D-84AE-C06C70E94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66900"/>
            <a:ext cx="3333750" cy="2781300"/>
          </a:xfrm>
          <a:prstGeom xmlns:a="http://schemas.openxmlformats.org/drawingml/2006/main" prst="roundRect">
            <a:avLst>
              <a:gd name="adj" fmla="val 4110"/>
            </a:avLst>
          </a:prstGeom>
          <a:solidFill xmlns:a="http://schemas.openxmlformats.org/drawingml/2006/main">
            <a:srgbClr val="E9F5F1"/>
          </a:solidFill>
          <a:ln xmlns:a="http://schemas.openxmlformats.org/drawingml/2006/main" w="14288">
            <a:solidFill>
              <a:srgbClr val="2F826B"/>
            </a:solidFill>
            <a:prstDash val="solid"/>
          </a:ln>
        </p:spPr>
      </p:sp>
      <p:sp>
        <p:nvSpPr>
          <p:cNvPr id="13" name="recall-known-title">
            <a:extLst xmlns:a="http://schemas.openxmlformats.org/drawingml/2006/main">
              <a:ext uri="{FF2B5EF4-FFF2-40B4-BE49-F238E27FC236}">
                <a16:creationId xmlns:a16="http://schemas.microsoft.com/office/drawing/2014/main" id="{437CF36D-A216-4DFA-9BE5-A40D01447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81200"/>
            <a:ext cx="2990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F826B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650" b="1">
                <a:solidFill>
                  <a:srgbClr val="2F826B"/>
                </a:solidFill>
                <a:latin typeface="Hiragino Kaku Gothic ProN"/>
                <a:ea typeface="Hiragino Kaku Gothic ProN"/>
                <a:cs typeface="Hiragino Kaku Gothic ProN"/>
              </a:rPr>
              <a:t>今回確認したこと</a:t>
            </a:r>
          </a:p>
        </p:txBody>
      </p:sp>
      <p:sp>
        <p:nvSpPr>
          <p:cNvPr id="14" name="recall-known-body">
            <a:extLst xmlns:a="http://schemas.openxmlformats.org/drawingml/2006/main">
              <a:ext uri="{FF2B5EF4-FFF2-40B4-BE49-F238E27FC236}">
                <a16:creationId xmlns:a16="http://schemas.microsoft.com/office/drawing/2014/main" id="{0697B054-C68C-4490-8695-22BB2ABD1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43150"/>
            <a:ext cx="2990850" cy="220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526579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200">
                <a:solidFill>
                  <a:srgbClr val="526579"/>
                </a:solidFill>
                <a:latin typeface="Hiragino Kaku Gothic ProN"/>
                <a:ea typeface="Hiragino Kaku Gothic ProN"/>
                <a:cs typeface="Hiragino Kaku Gothic ProN"/>
              </a:rPr>
              <a:t>16 Windowを全件Review</a:t>
            </a:r>
          </a:p>
          <a:p xmlns:a="http://schemas.openxmlformats.org/drawingml/2006/main">
            <a:pPr algn="ctr">
              <a:defRPr sz="1200">
                <a:solidFill>
                  <a:srgbClr val="526579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200">
                <a:solidFill>
                  <a:srgbClr val="526579"/>
                </a:solidFill>
                <a:latin typeface="Hiragino Kaku Gothic ProN"/>
                <a:ea typeface="Hiragino Kaku Gothic ProN"/>
                <a:cs typeface="Hiragino Kaku Gothic ProN"/>
              </a:rPr>
              <a:t>候補理由と現象が対応</a:t>
            </a:r>
          </a:p>
          <a:p xmlns:a="http://schemas.openxmlformats.org/drawingml/2006/main">
            <a:pPr algn="ctr">
              <a:defRPr sz="1200">
                <a:solidFill>
                  <a:srgbClr val="526579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200">
                <a:solidFill>
                  <a:srgbClr val="526579"/>
                </a:solidFill>
                <a:latin typeface="Hiragino Kaku Gothic ProN"/>
                <a:ea typeface="Hiragino Kaku Gothic ProN"/>
                <a:cs typeface="Hiragino Kaku Gothic ProN"/>
              </a:rPr>
              <a:t>別現象を1件分離</a:t>
            </a:r>
          </a:p>
        </p:txBody>
      </p:sp>
      <p:sp>
        <p:nvSpPr>
          <p:cNvPr id="15" name="recall-arrow-1">
            <a:extLst xmlns:a="http://schemas.openxmlformats.org/drawingml/2006/main">
              <a:ext uri="{FF2B5EF4-FFF2-40B4-BE49-F238E27FC236}">
                <a16:creationId xmlns:a16="http://schemas.microsoft.com/office/drawing/2014/main" id="{E0BF35BF-DD74-4C49-BC65-4FE75A480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876550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2E73A6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3000" b="1">
                <a:solidFill>
                  <a:srgbClr val="2E73A6"/>
                </a:solidFill>
                <a:latin typeface="Hiragino Kaku Gothic ProN"/>
                <a:ea typeface="Hiragino Kaku Gothic ProN"/>
                <a:cs typeface="Hiragino Kaku Gothic ProN"/>
              </a:rPr>
              <a:t>→</a:t>
            </a:r>
          </a:p>
        </p:txBody>
      </p:sp>
      <p:sp>
        <p:nvSpPr>
          <p:cNvPr id="16" name="recall-unknown-card">
            <a:extLst xmlns:a="http://schemas.openxmlformats.org/drawingml/2006/main">
              <a:ext uri="{FF2B5EF4-FFF2-40B4-BE49-F238E27FC236}">
                <a16:creationId xmlns:a16="http://schemas.microsoft.com/office/drawing/2014/main" id="{6C77A3E5-372E-4C64-B45D-A62C1FD63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866900"/>
            <a:ext cx="3143250" cy="2781300"/>
          </a:xfrm>
          <a:prstGeom xmlns:a="http://schemas.openxmlformats.org/drawingml/2006/main" prst="roundRect">
            <a:avLst>
              <a:gd name="adj" fmla="val 4110"/>
            </a:avLst>
          </a:prstGeom>
          <a:solidFill xmlns:a="http://schemas.openxmlformats.org/drawingml/2006/main">
            <a:srgbClr val="FFF6E6"/>
          </a:solidFill>
          <a:ln xmlns:a="http://schemas.openxmlformats.org/drawingml/2006/main" w="14288">
            <a:solidFill>
              <a:srgbClr val="E2A43B"/>
            </a:solidFill>
            <a:prstDash val="solid"/>
          </a:ln>
        </p:spPr>
      </p:sp>
      <p:sp>
        <p:nvSpPr>
          <p:cNvPr id="17" name="recall-unknown-title">
            <a:extLst xmlns:a="http://schemas.openxmlformats.org/drawingml/2006/main">
              <a:ext uri="{FF2B5EF4-FFF2-40B4-BE49-F238E27FC236}">
                <a16:creationId xmlns:a16="http://schemas.microsoft.com/office/drawing/2014/main" id="{7E535942-D12D-40A3-9E0B-5FC63C803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981200"/>
            <a:ext cx="2800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B8741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650" b="1">
                <a:solidFill>
                  <a:srgbClr val="B87410"/>
                </a:solidFill>
                <a:latin typeface="Hiragino Kaku Gothic ProN"/>
                <a:ea typeface="Hiragino Kaku Gothic ProN"/>
                <a:cs typeface="Hiragino Kaku Gothic ProN"/>
              </a:rPr>
              <a:t>まだ分からないこと</a:t>
            </a:r>
          </a:p>
        </p:txBody>
      </p:sp>
      <p:sp>
        <p:nvSpPr>
          <p:cNvPr id="18" name="recall-unknown-body">
            <a:extLst xmlns:a="http://schemas.openxmlformats.org/drawingml/2006/main">
              <a:ext uri="{FF2B5EF4-FFF2-40B4-BE49-F238E27FC236}">
                <a16:creationId xmlns:a16="http://schemas.microsoft.com/office/drawing/2014/main" id="{EC09D24D-9F9C-4FF2-8D67-7D7A97B78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343150"/>
            <a:ext cx="2800350" cy="220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526579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200">
                <a:solidFill>
                  <a:srgbClr val="526579"/>
                </a:solidFill>
                <a:latin typeface="Hiragino Kaku Gothic ProN"/>
                <a:ea typeface="Hiragino Kaku Gothic ProN"/>
                <a:cs typeface="Hiragino Kaku Gothic ProN"/>
              </a:rPr>
              <a:t>候補外Frameの正解Label</a:t>
            </a:r>
          </a:p>
          <a:p xmlns:a="http://schemas.openxmlformats.org/drawingml/2006/main">
            <a:pPr algn="ctr">
              <a:defRPr sz="1200">
                <a:solidFill>
                  <a:srgbClr val="526579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200">
                <a:solidFill>
                  <a:srgbClr val="526579"/>
                </a:solidFill>
                <a:latin typeface="Hiragino Kaku Gothic ProN"/>
                <a:ea typeface="Hiragino Kaku Gothic ProN"/>
                <a:cs typeface="Hiragino Kaku Gothic ProN"/>
              </a:rPr>
              <a:t>全動画の漏検率</a:t>
            </a:r>
          </a:p>
          <a:p xmlns:a="http://schemas.openxmlformats.org/drawingml/2006/main">
            <a:pPr algn="ctr">
              <a:defRPr sz="1200">
                <a:solidFill>
                  <a:srgbClr val="526579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200">
                <a:solidFill>
                  <a:srgbClr val="526579"/>
                </a:solidFill>
                <a:latin typeface="Hiragino Kaku Gothic ProN"/>
                <a:ea typeface="Hiragino Kaku Gothic ProN"/>
                <a:cs typeface="Hiragino Kaku Gothic ProN"/>
              </a:rPr>
              <a:t>Cameraの真の誤差</a:t>
            </a:r>
          </a:p>
        </p:txBody>
      </p:sp>
      <p:sp>
        <p:nvSpPr>
          <p:cNvPr id="19" name="recall-arrow-2">
            <a:extLst xmlns:a="http://schemas.openxmlformats.org/drawingml/2006/main">
              <a:ext uri="{FF2B5EF4-FFF2-40B4-BE49-F238E27FC236}">
                <a16:creationId xmlns:a16="http://schemas.microsoft.com/office/drawing/2014/main" id="{AEC994E9-3E1A-429C-9418-D57151227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876550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2E73A6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3000" b="1">
                <a:solidFill>
                  <a:srgbClr val="2E73A6"/>
                </a:solidFill>
                <a:latin typeface="Hiragino Kaku Gothic ProN"/>
                <a:ea typeface="Hiragino Kaku Gothic ProN"/>
                <a:cs typeface="Hiragino Kaku Gothic ProN"/>
              </a:rPr>
              <a:t>→</a:t>
            </a:r>
          </a:p>
        </p:txBody>
      </p:sp>
      <p:sp>
        <p:nvSpPr>
          <p:cNvPr id="20" name="recall-next-card">
            <a:extLst xmlns:a="http://schemas.openxmlformats.org/drawingml/2006/main">
              <a:ext uri="{FF2B5EF4-FFF2-40B4-BE49-F238E27FC236}">
                <a16:creationId xmlns:a16="http://schemas.microsoft.com/office/drawing/2014/main" id="{4C4F61FD-1160-4838-A4A6-677EC5C33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866900"/>
            <a:ext cx="3352800" cy="2781300"/>
          </a:xfrm>
          <a:prstGeom xmlns:a="http://schemas.openxmlformats.org/drawingml/2006/main" prst="roundRect">
            <a:avLst>
              <a:gd name="adj" fmla="val 4110"/>
            </a:avLst>
          </a:prstGeom>
          <a:solidFill xmlns:a="http://schemas.openxmlformats.org/drawingml/2006/main">
            <a:srgbClr val="F4F8FB"/>
          </a:solidFill>
          <a:ln xmlns:a="http://schemas.openxmlformats.org/drawingml/2006/main" w="14288">
            <a:solidFill>
              <a:srgbClr val="9FC4DE"/>
            </a:solidFill>
            <a:prstDash val="solid"/>
          </a:ln>
        </p:spPr>
      </p:sp>
      <p:sp>
        <p:nvSpPr>
          <p:cNvPr id="21" name="recall-next-title">
            <a:extLst xmlns:a="http://schemas.openxmlformats.org/drawingml/2006/main">
              <a:ext uri="{FF2B5EF4-FFF2-40B4-BE49-F238E27FC236}">
                <a16:creationId xmlns:a16="http://schemas.microsoft.com/office/drawing/2014/main" id="{082CE2B7-A375-4C07-ADCB-037DD0879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981200"/>
            <a:ext cx="3009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650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次の評価Experiment</a:t>
            </a:r>
          </a:p>
        </p:txBody>
      </p:sp>
      <p:sp>
        <p:nvSpPr>
          <p:cNvPr id="22" name="recall-next-body">
            <a:extLst xmlns:a="http://schemas.openxmlformats.org/drawingml/2006/main">
              <a:ext uri="{FF2B5EF4-FFF2-40B4-BE49-F238E27FC236}">
                <a16:creationId xmlns:a16="http://schemas.microsoft.com/office/drawing/2014/main" id="{6DAF1C6B-57C8-41CE-BBBF-B764B83F8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43150"/>
            <a:ext cx="3009900" cy="220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526579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200">
                <a:solidFill>
                  <a:srgbClr val="526579"/>
                </a:solidFill>
                <a:latin typeface="Hiragino Kaku Gothic ProN"/>
                <a:ea typeface="Hiragino Kaku Gothic ProN"/>
                <a:cs typeface="Hiragino Kaku Gothic ProN"/>
              </a:rPr>
              <a:t>代表範囲を人が全件Label</a:t>
            </a:r>
          </a:p>
          <a:p xmlns:a="http://schemas.openxmlformats.org/drawingml/2006/main">
            <a:pPr algn="ctr">
              <a:defRPr sz="1200">
                <a:solidFill>
                  <a:srgbClr val="526579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200">
                <a:solidFill>
                  <a:srgbClr val="526579"/>
                </a:solidFill>
                <a:latin typeface="Hiragino Kaku Gothic ProN"/>
                <a:ea typeface="Hiragino Kaku Gothic ProN"/>
                <a:cs typeface="Hiragino Kaku Gothic ProN"/>
              </a:rPr>
              <a:t>候補と正解を比較</a:t>
            </a:r>
          </a:p>
          <a:p xmlns:a="http://schemas.openxmlformats.org/drawingml/2006/main">
            <a:pPr algn="ctr">
              <a:defRPr sz="1200">
                <a:solidFill>
                  <a:srgbClr val="526579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200">
                <a:solidFill>
                  <a:srgbClr val="526579"/>
                </a:solidFill>
                <a:latin typeface="Hiragino Kaku Gothic ProN"/>
                <a:ea typeface="Hiragino Kaku Gothic ProN"/>
                <a:cs typeface="Hiragino Kaku Gothic ProN"/>
              </a:rPr>
              <a:t>Precision / Recallを計算</a:t>
            </a:r>
          </a:p>
        </p:txBody>
      </p:sp>
    </p:spTree>
    <p:extLst>
      <p:ext uri="{BB962C8B-B14F-4D97-AF65-F5344CB8AC3E}">
        <p14:creationId xmlns:p14="http://schemas.microsoft.com/office/powerpoint/2010/main" val="1524336637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op-accent">
            <a:extLst xmlns:a="http://schemas.openxmlformats.org/drawingml/2006/main">
              <a:ext uri="{FF2B5EF4-FFF2-40B4-BE49-F238E27FC236}">
                <a16:creationId xmlns:a16="http://schemas.microsoft.com/office/drawing/2014/main" id="{89B1BDF6-03BC-4C3F-9677-0A27F32DE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F5F"/>
          </a:solidFill>
          <a:ln xmlns:a="http://schemas.openxmlformats.org/drawingml/2006/main" w="0">
            <a:solidFill>
              <a:srgbClr val="173F5F"/>
            </a:solidFill>
            <a:prstDash val="solid"/>
          </a:ln>
        </p:spPr>
      </p:sp>
      <p:sp>
        <p:nvSpPr>
          <p:cNvPr id="2" name="deck-name">
            <a:extLst xmlns:a="http://schemas.openxmlformats.org/drawingml/2006/main">
              <a:ext uri="{FF2B5EF4-FFF2-40B4-BE49-F238E27FC236}">
                <a16:creationId xmlns:a16="http://schemas.microsoft.com/office/drawing/2014/main" id="{3861B3C5-9405-413A-8204-B05C31B1E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670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U001–U003 詳細説明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69A2D4E-FE20-4EF8-BC6D-8E9F1F92A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"/>
            <a:ext cx="11010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17324D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850" b="1">
                <a:solidFill>
                  <a:srgbClr val="17324D"/>
                </a:solidFill>
                <a:latin typeface="Hiragino Kaku Gothic ProN"/>
                <a:ea typeface="Hiragino Kaku Gothic ProN"/>
                <a:cs typeface="Hiragino Kaku Gothic ProN"/>
              </a:rPr>
              <a:t>工程効果は、次の運用から同じ条件で測定する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4C9F4BF3-9F8E-48F4-8C57-3E3E80C2C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90550" y="1381125"/>
            <a:ext cx="110109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7C8D6"/>
            </a:solidFill>
            <a:prstDash val="solid"/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91D92D56-D695-4835-80AF-3F1133676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34150"/>
            <a:ext cx="781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97222"/>
          </a:bodyPr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900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rPr>
              <a:t>ZHAO ZHILI  |  U-Series Detailed Review  |  2026-09-01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DA4DD73-79DC-45F4-A1D0-49D5133A3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524625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97222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900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rPr>
              <a:t>25</a:t>
            </a:r>
          </a:p>
        </p:txBody>
      </p:sp>
      <p:sp>
        <p:nvSpPr>
          <p:cNvPr id="7" name="col-title-0">
            <a:extLst xmlns:a="http://schemas.openxmlformats.org/drawingml/2006/main">
              <a:ext uri="{FF2B5EF4-FFF2-40B4-BE49-F238E27FC236}">
                <a16:creationId xmlns:a16="http://schemas.microsoft.com/office/drawing/2014/main" id="{C7297E31-7236-495A-91DF-798596334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100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今回、実測できたもの</a:t>
            </a:r>
          </a:p>
        </p:txBody>
      </p:sp>
      <p:sp>
        <p:nvSpPr>
          <p:cNvPr id="8" name="col-rule-0">
            <a:extLst xmlns:a="http://schemas.openxmlformats.org/drawingml/2006/main">
              <a:ext uri="{FF2B5EF4-FFF2-40B4-BE49-F238E27FC236}">
                <a16:creationId xmlns:a16="http://schemas.microsoft.com/office/drawing/2014/main" id="{B4BA3290-BDA0-48F5-B80F-8FE83B487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952500" y="2209800"/>
            <a:ext cx="4191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73F5F"/>
            </a:solidFill>
            <a:prstDash val="solid"/>
          </a:ln>
        </p:spPr>
      </p:sp>
      <p:sp>
        <p:nvSpPr>
          <p:cNvPr id="9" name="col-box-0">
            <a:extLst xmlns:a="http://schemas.openxmlformats.org/drawingml/2006/main">
              <a:ext uri="{FF2B5EF4-FFF2-40B4-BE49-F238E27FC236}">
                <a16:creationId xmlns:a16="http://schemas.microsoft.com/office/drawing/2014/main" id="{184224BD-89D4-4F16-A58F-429BFC723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4762500" cy="3143250"/>
          </a:xfrm>
          <a:prstGeom xmlns:a="http://schemas.openxmlformats.org/drawingml/2006/main" prst="roundRect">
            <a:avLst>
              <a:gd name="adj" fmla="val 12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7C8D6"/>
            </a:solidFill>
            <a:prstDash val="solid"/>
          </a:ln>
        </p:spPr>
      </p:sp>
      <p:sp>
        <p:nvSpPr>
          <p:cNvPr id="10" name="col-body-0">
            <a:extLst xmlns:a="http://schemas.openxmlformats.org/drawingml/2006/main">
              <a:ext uri="{FF2B5EF4-FFF2-40B4-BE49-F238E27FC236}">
                <a16:creationId xmlns:a16="http://schemas.microsoft.com/office/drawing/2014/main" id="{62BC1BB1-E2D3-4EF5-AD7A-521080877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28900"/>
            <a:ext cx="41148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marL="20" indent="-10">
              <a:spcAft>
                <a:spcPts val="7"/>
              </a:spcAft>
              <a:buChar char="•"/>
              <a:defRPr sz="135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50,198入力Frame</a:t>
            </a:r>
          </a:p>
          <a:p xmlns:a="http://schemas.openxmlformats.org/drawingml/2006/main">
            <a:pPr marL="20" indent="-10">
              <a:spcAft>
                <a:spcPts val="7"/>
              </a:spcAft>
              <a:buChar char="•"/>
              <a:defRPr sz="135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1,937候補内Frame</a:t>
            </a:r>
          </a:p>
          <a:p xmlns:a="http://schemas.openxmlformats.org/drawingml/2006/main">
            <a:pPr marL="20" indent="-10">
              <a:spcAft>
                <a:spcPts val="7"/>
              </a:spcAft>
              <a:buChar char="•"/>
              <a:defRPr sz="135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16 Review Window</a:t>
            </a:r>
          </a:p>
          <a:p xmlns:a="http://schemas.openxmlformats.org/drawingml/2006/main">
            <a:pPr marL="20" indent="-10">
              <a:spcAft>
                <a:spcPts val="7"/>
              </a:spcAft>
              <a:buChar char="•"/>
              <a:defRPr sz="135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全16件の映像・CAN確認</a:t>
            </a:r>
          </a:p>
          <a:p xmlns:a="http://schemas.openxmlformats.org/drawingml/2006/main">
            <a:pPr marL="20" indent="-10">
              <a:spcAft>
                <a:spcPts val="7"/>
              </a:spcAft>
              <a:buChar char="•"/>
              <a:defRPr sz="135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約3.9%への範囲圧縮</a:t>
            </a:r>
          </a:p>
        </p:txBody>
      </p:sp>
      <p:sp>
        <p:nvSpPr>
          <p:cNvPr id="11" name="col-title-1">
            <a:extLst xmlns:a="http://schemas.openxmlformats.org/drawingml/2006/main">
              <a:ext uri="{FF2B5EF4-FFF2-40B4-BE49-F238E27FC236}">
                <a16:creationId xmlns:a16="http://schemas.microsoft.com/office/drawing/2014/main" id="{E3EFE1CE-03DC-4B8B-BBC1-F6B1ECDC4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5735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100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次に測定するもの</a:t>
            </a:r>
          </a:p>
        </p:txBody>
      </p:sp>
      <p:sp>
        <p:nvSpPr>
          <p:cNvPr id="12" name="col-rule-1">
            <a:extLst xmlns:a="http://schemas.openxmlformats.org/drawingml/2006/main">
              <a:ext uri="{FF2B5EF4-FFF2-40B4-BE49-F238E27FC236}">
                <a16:creationId xmlns:a16="http://schemas.microsoft.com/office/drawing/2014/main" id="{7FBA8354-BC2F-48AE-BE75-990903335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6477000" y="2209800"/>
            <a:ext cx="4191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73F5F"/>
            </a:solidFill>
            <a:prstDash val="solid"/>
          </a:ln>
        </p:spPr>
      </p:sp>
      <p:sp>
        <p:nvSpPr>
          <p:cNvPr id="13" name="col-box-1">
            <a:extLst xmlns:a="http://schemas.openxmlformats.org/drawingml/2006/main">
              <a:ext uri="{FF2B5EF4-FFF2-40B4-BE49-F238E27FC236}">
                <a16:creationId xmlns:a16="http://schemas.microsoft.com/office/drawing/2014/main" id="{8CFD4C8D-1B84-43C6-96C7-081D51A42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81250"/>
            <a:ext cx="4762500" cy="3143250"/>
          </a:xfrm>
          <a:prstGeom xmlns:a="http://schemas.openxmlformats.org/drawingml/2006/main" prst="roundRect">
            <a:avLst>
              <a:gd name="adj" fmla="val 12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7C8D6"/>
            </a:solidFill>
            <a:prstDash val="solid"/>
          </a:ln>
        </p:spPr>
      </p:sp>
      <p:sp>
        <p:nvSpPr>
          <p:cNvPr id="14" name="col-body-1">
            <a:extLst xmlns:a="http://schemas.openxmlformats.org/drawingml/2006/main">
              <a:ext uri="{FF2B5EF4-FFF2-40B4-BE49-F238E27FC236}">
                <a16:creationId xmlns:a16="http://schemas.microsoft.com/office/drawing/2014/main" id="{9A970003-CC05-42C2-B419-53E33487F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628900"/>
            <a:ext cx="41148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marL="20" indent="-10">
              <a:spcAft>
                <a:spcPts val="7"/>
              </a:spcAft>
              <a:buChar char="•"/>
              <a:defRPr sz="135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全動画を手動確認する時間</a:t>
            </a:r>
          </a:p>
          <a:p xmlns:a="http://schemas.openxmlformats.org/drawingml/2006/main">
            <a:pPr marL="20" indent="-10">
              <a:spcAft>
                <a:spcPts val="7"/>
              </a:spcAft>
              <a:buChar char="•"/>
              <a:defRPr sz="135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候補Reviewの時間</a:t>
            </a:r>
          </a:p>
          <a:p xmlns:a="http://schemas.openxmlformats.org/drawingml/2006/main">
            <a:pPr marL="20" indent="-10">
              <a:spcAft>
                <a:spcPts val="7"/>
              </a:spcAft>
              <a:buChar char="•"/>
              <a:defRPr sz="135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Report作成時間</a:t>
            </a:r>
          </a:p>
          <a:p xmlns:a="http://schemas.openxmlformats.org/drawingml/2006/main">
            <a:pPr marL="20" indent="-10">
              <a:spcAft>
                <a:spcPts val="7"/>
              </a:spcAft>
              <a:buChar char="•"/>
              <a:defRPr sz="135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再実行・修正時間</a:t>
            </a:r>
          </a:p>
          <a:p xmlns:a="http://schemas.openxmlformats.org/drawingml/2006/main">
            <a:pPr marL="20" indent="-10">
              <a:spcAft>
                <a:spcPts val="7"/>
              </a:spcAft>
              <a:buChar char="•"/>
              <a:defRPr sz="135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品質を保った削減率</a:t>
            </a:r>
          </a:p>
        </p:txBody>
      </p:sp>
      <p:sp>
        <p:nvSpPr>
          <p:cNvPr id="15" name="two-col-conclusion">
            <a:extLst xmlns:a="http://schemas.openxmlformats.org/drawingml/2006/main">
              <a:ext uri="{FF2B5EF4-FFF2-40B4-BE49-F238E27FC236}">
                <a16:creationId xmlns:a16="http://schemas.microsoft.com/office/drawing/2014/main" id="{DA6BFA64-F67F-4A79-8E4B-B80C28D41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810250"/>
            <a:ext cx="8953500" cy="4762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7F0F6"/>
          </a:solidFill>
          <a:ln xmlns:a="http://schemas.openxmlformats.org/drawingml/2006/main" w="14288">
            <a:solidFill>
              <a:srgbClr val="173F5F"/>
            </a:solidFill>
            <a:prstDash val="solid"/>
          </a:ln>
        </p:spPr>
      </p:sp>
      <p:sp>
        <p:nvSpPr>
          <p:cNvPr id="16" name="two-col-conclusion-text">
            <a:extLst xmlns:a="http://schemas.openxmlformats.org/drawingml/2006/main">
              <a:ext uri="{FF2B5EF4-FFF2-40B4-BE49-F238E27FC236}">
                <a16:creationId xmlns:a16="http://schemas.microsoft.com/office/drawing/2014/main" id="{1434F208-0620-482A-9807-7DDB7629B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5867400"/>
            <a:ext cx="847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57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今は範囲圧縮を報告し、工数効果は次回から同じ条件で測る</a:t>
            </a:r>
          </a:p>
        </p:txBody>
      </p:sp>
    </p:spTree>
    <p:extLst>
      <p:ext uri="{BB962C8B-B14F-4D97-AF65-F5344CB8AC3E}">
        <p14:creationId xmlns:p14="http://schemas.microsoft.com/office/powerpoint/2010/main" val="1521358047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top-accent">
            <a:extLst xmlns:a="http://schemas.openxmlformats.org/drawingml/2006/main">
              <a:ext uri="{FF2B5EF4-FFF2-40B4-BE49-F238E27FC236}">
                <a16:creationId xmlns:a16="http://schemas.microsoft.com/office/drawing/2014/main" id="{6209E79B-4422-45DE-8BB5-CC29FAC5E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F5F"/>
          </a:solidFill>
          <a:ln xmlns:a="http://schemas.openxmlformats.org/drawingml/2006/main" w="0">
            <a:solidFill>
              <a:srgbClr val="173F5F"/>
            </a:solidFill>
            <a:prstDash val="solid"/>
          </a:ln>
        </p:spPr>
      </p:sp>
      <p:sp>
        <p:nvSpPr>
          <p:cNvPr id="2" name="deck-name">
            <a:extLst xmlns:a="http://schemas.openxmlformats.org/drawingml/2006/main">
              <a:ext uri="{FF2B5EF4-FFF2-40B4-BE49-F238E27FC236}">
                <a16:creationId xmlns:a16="http://schemas.microsoft.com/office/drawing/2014/main" id="{1721907B-1DF8-4F2D-BDBB-DAB06DADC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670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U001–U003 詳細説明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CE7C8DA-7DD1-419C-A3AE-99CE4E575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"/>
            <a:ext cx="11010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17324D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850" b="1">
                <a:solidFill>
                  <a:srgbClr val="17324D"/>
                </a:solidFill>
                <a:latin typeface="Hiragino Kaku Gothic ProN"/>
                <a:ea typeface="Hiragino Kaku Gothic ProN"/>
                <a:cs typeface="Hiragino Kaku Gothic ProN"/>
              </a:rPr>
              <a:t>MATLABは、U002の分析Moduleとして接続する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BEFA1F30-76A2-47F0-8A13-0CBBD6211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90550" y="1381125"/>
            <a:ext cx="110109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7C8D6"/>
            </a:solidFill>
            <a:prstDash val="solid"/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75728F57-D5B9-45C1-9455-3040FBAFE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34150"/>
            <a:ext cx="781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97222"/>
          </a:bodyPr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900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rPr>
              <a:t>ZHAO ZHILI  |  U-Series Detailed Review  |  2026-09-01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5D5359C7-3D18-486D-B7D3-8B78B12D1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524625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97222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900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rPr>
              <a:t>26</a:t>
            </a:r>
          </a:p>
        </p:txBody>
      </p:sp>
      <p:sp>
        <p:nvSpPr>
          <p:cNvPr id="7" name="flow-arrow-1">
            <a:extLst xmlns:a="http://schemas.openxmlformats.org/drawingml/2006/main">
              <a:ext uri="{FF2B5EF4-FFF2-40B4-BE49-F238E27FC236}">
                <a16:creationId xmlns:a16="http://schemas.microsoft.com/office/drawing/2014/main" id="{3862D7B0-2861-4E20-9D97-DDBAEBC06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2286000" y="3190875"/>
            <a:ext cx="228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B7C8D6"/>
            </a:solidFill>
            <a:prstDash val="solid"/>
          </a:ln>
        </p:spPr>
      </p:sp>
      <p:sp>
        <p:nvSpPr>
          <p:cNvPr id="8" name="flow-arrow-2">
            <a:extLst xmlns:a="http://schemas.openxmlformats.org/drawingml/2006/main">
              <a:ext uri="{FF2B5EF4-FFF2-40B4-BE49-F238E27FC236}">
                <a16:creationId xmlns:a16="http://schemas.microsoft.com/office/drawing/2014/main" id="{1F901E21-8F61-4ED9-B4B2-6BA70A05E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4133850" y="3190875"/>
            <a:ext cx="228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B7C8D6"/>
            </a:solidFill>
            <a:prstDash val="solid"/>
          </a:ln>
        </p:spPr>
      </p:sp>
      <p:sp>
        <p:nvSpPr>
          <p:cNvPr id="9" name="flow-arrow-3">
            <a:extLst xmlns:a="http://schemas.openxmlformats.org/drawingml/2006/main">
              <a:ext uri="{FF2B5EF4-FFF2-40B4-BE49-F238E27FC236}">
                <a16:creationId xmlns:a16="http://schemas.microsoft.com/office/drawing/2014/main" id="{D6810145-9195-4D09-B390-BB5D34B39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981700" y="3190875"/>
            <a:ext cx="228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B7C8D6"/>
            </a:solidFill>
            <a:prstDash val="solid"/>
          </a:ln>
        </p:spPr>
      </p:sp>
      <p:sp>
        <p:nvSpPr>
          <p:cNvPr id="10" name="flow-arrow-4">
            <a:extLst xmlns:a="http://schemas.openxmlformats.org/drawingml/2006/main">
              <a:ext uri="{FF2B5EF4-FFF2-40B4-BE49-F238E27FC236}">
                <a16:creationId xmlns:a16="http://schemas.microsoft.com/office/drawing/2014/main" id="{270CEFFB-F459-40AB-8F54-A23993E3C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7829550" y="3190875"/>
            <a:ext cx="228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B7C8D6"/>
            </a:solidFill>
            <a:prstDash val="solid"/>
          </a:ln>
        </p:spPr>
      </p:sp>
      <p:sp>
        <p:nvSpPr>
          <p:cNvPr id="11" name="flow-arrow-5">
            <a:extLst xmlns:a="http://schemas.openxmlformats.org/drawingml/2006/main">
              <a:ext uri="{FF2B5EF4-FFF2-40B4-BE49-F238E27FC236}">
                <a16:creationId xmlns:a16="http://schemas.microsoft.com/office/drawing/2014/main" id="{E7F6AEBF-1B67-4184-B216-7A65972AF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9677400" y="3190875"/>
            <a:ext cx="228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B7C8D6"/>
            </a:solidFill>
            <a:prstDash val="solid"/>
          </a:ln>
        </p:spPr>
      </p:sp>
      <p:sp>
        <p:nvSpPr>
          <p:cNvPr id="12" name="flow-box-1">
            <a:extLst xmlns:a="http://schemas.openxmlformats.org/drawingml/2006/main">
              <a:ext uri="{FF2B5EF4-FFF2-40B4-BE49-F238E27FC236}">
                <a16:creationId xmlns:a16="http://schemas.microsoft.com/office/drawing/2014/main" id="{FC60123A-00CE-4E12-B489-6861E9C0A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33625"/>
            <a:ext cx="1695450" cy="1714500"/>
          </a:xfrm>
          <a:prstGeom xmlns:a="http://schemas.openxmlformats.org/drawingml/2006/main" prst="roundRect">
            <a:avLst>
              <a:gd name="adj" fmla="val 22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7C8D6"/>
            </a:solidFill>
            <a:prstDash val="solid"/>
          </a:ln>
        </p:spPr>
      </p:sp>
      <p:sp>
        <p:nvSpPr>
          <p:cNvPr id="13" name="flow-title-1">
            <a:extLst xmlns:a="http://schemas.openxmlformats.org/drawingml/2006/main">
              <a:ext uri="{FF2B5EF4-FFF2-40B4-BE49-F238E27FC236}">
                <a16:creationId xmlns:a16="http://schemas.microsoft.com/office/drawing/2014/main" id="{8EE7FC25-7FFE-4D70-93AE-1B6D5C1A5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0325"/>
            <a:ext cx="142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4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U001</a:t>
            </a:r>
          </a:p>
        </p:txBody>
      </p:sp>
      <p:sp>
        <p:nvSpPr>
          <p:cNvPr id="14" name="flow-body-1">
            <a:extLst xmlns:a="http://schemas.openxmlformats.org/drawingml/2006/main">
              <a:ext uri="{FF2B5EF4-FFF2-40B4-BE49-F238E27FC236}">
                <a16:creationId xmlns:a16="http://schemas.microsoft.com/office/drawing/2014/main" id="{8AA49447-9CB0-4B5D-9DEE-357F4D1BB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81350"/>
            <a:ext cx="142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共通Frame表</a:t>
            </a:r>
          </a:p>
        </p:txBody>
      </p:sp>
      <p:sp>
        <p:nvSpPr>
          <p:cNvPr id="15" name="flow-box-2">
            <a:extLst xmlns:a="http://schemas.openxmlformats.org/drawingml/2006/main">
              <a:ext uri="{FF2B5EF4-FFF2-40B4-BE49-F238E27FC236}">
                <a16:creationId xmlns:a16="http://schemas.microsoft.com/office/drawing/2014/main" id="{DECDDACA-EAE8-4472-A0C2-6138131E1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333625"/>
            <a:ext cx="1695450" cy="1714500"/>
          </a:xfrm>
          <a:prstGeom xmlns:a="http://schemas.openxmlformats.org/drawingml/2006/main" prst="roundRect">
            <a:avLst>
              <a:gd name="adj" fmla="val 22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7C8D6"/>
            </a:solidFill>
            <a:prstDash val="solid"/>
          </a:ln>
        </p:spPr>
      </p:sp>
      <p:sp>
        <p:nvSpPr>
          <p:cNvPr id="16" name="flow-title-2">
            <a:extLst xmlns:a="http://schemas.openxmlformats.org/drawingml/2006/main">
              <a:ext uri="{FF2B5EF4-FFF2-40B4-BE49-F238E27FC236}">
                <a16:creationId xmlns:a16="http://schemas.microsoft.com/office/drawing/2014/main" id="{2AD66484-68DE-4C47-858E-E8F1578B4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600325"/>
            <a:ext cx="142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4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U002</a:t>
            </a:r>
          </a:p>
        </p:txBody>
      </p:sp>
      <p:sp>
        <p:nvSpPr>
          <p:cNvPr id="17" name="flow-body-2">
            <a:extLst xmlns:a="http://schemas.openxmlformats.org/drawingml/2006/main">
              <a:ext uri="{FF2B5EF4-FFF2-40B4-BE49-F238E27FC236}">
                <a16:creationId xmlns:a16="http://schemas.microsoft.com/office/drawing/2014/main" id="{3E51EAA8-6C6F-495D-A2A6-1FCFEEFB7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181350"/>
            <a:ext cx="142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Stageと入力を指定</a:t>
            </a:r>
          </a:p>
        </p:txBody>
      </p:sp>
      <p:sp>
        <p:nvSpPr>
          <p:cNvPr id="18" name="flow-box-3">
            <a:extLst xmlns:a="http://schemas.openxmlformats.org/drawingml/2006/main">
              <a:ext uri="{FF2B5EF4-FFF2-40B4-BE49-F238E27FC236}">
                <a16:creationId xmlns:a16="http://schemas.microsoft.com/office/drawing/2014/main" id="{EB27E90C-C6FA-4AE5-B9FE-E71CD8D29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333625"/>
            <a:ext cx="1695450" cy="1714500"/>
          </a:xfrm>
          <a:prstGeom xmlns:a="http://schemas.openxmlformats.org/drawingml/2006/main" prst="roundRect">
            <a:avLst>
              <a:gd name="adj" fmla="val 22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7C8D6"/>
            </a:solidFill>
            <a:prstDash val="solid"/>
          </a:ln>
        </p:spPr>
      </p:sp>
      <p:sp>
        <p:nvSpPr>
          <p:cNvPr id="19" name="flow-title-3">
            <a:extLst xmlns:a="http://schemas.openxmlformats.org/drawingml/2006/main">
              <a:ext uri="{FF2B5EF4-FFF2-40B4-BE49-F238E27FC236}">
                <a16:creationId xmlns:a16="http://schemas.microsoft.com/office/drawing/2014/main" id="{3D58DB3E-444E-4715-B5DF-BEF6423A4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600325"/>
            <a:ext cx="142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4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MATLAB</a:t>
            </a:r>
          </a:p>
        </p:txBody>
      </p:sp>
      <p:sp>
        <p:nvSpPr>
          <p:cNvPr id="20" name="flow-body-3">
            <a:extLst xmlns:a="http://schemas.openxmlformats.org/drawingml/2006/main">
              <a:ext uri="{FF2B5EF4-FFF2-40B4-BE49-F238E27FC236}">
                <a16:creationId xmlns:a16="http://schemas.microsoft.com/office/drawing/2014/main" id="{7272BC13-54AD-4973-8A0E-A40678E94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181350"/>
            <a:ext cx="142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SysID・Model・
Control計算</a:t>
            </a:r>
          </a:p>
        </p:txBody>
      </p:sp>
      <p:sp>
        <p:nvSpPr>
          <p:cNvPr id="21" name="flow-box-4">
            <a:extLst xmlns:a="http://schemas.openxmlformats.org/drawingml/2006/main">
              <a:ext uri="{FF2B5EF4-FFF2-40B4-BE49-F238E27FC236}">
                <a16:creationId xmlns:a16="http://schemas.microsoft.com/office/drawing/2014/main" id="{147506D8-3B0B-4FE0-83E9-AA1D9A717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333625"/>
            <a:ext cx="1695450" cy="1714500"/>
          </a:xfrm>
          <a:prstGeom xmlns:a="http://schemas.openxmlformats.org/drawingml/2006/main" prst="roundRect">
            <a:avLst>
              <a:gd name="adj" fmla="val 22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7C8D6"/>
            </a:solidFill>
            <a:prstDash val="solid"/>
          </a:ln>
        </p:spPr>
      </p:sp>
      <p:sp>
        <p:nvSpPr>
          <p:cNvPr id="22" name="flow-title-4">
            <a:extLst xmlns:a="http://schemas.openxmlformats.org/drawingml/2006/main">
              <a:ext uri="{FF2B5EF4-FFF2-40B4-BE49-F238E27FC236}">
                <a16:creationId xmlns:a16="http://schemas.microsoft.com/office/drawing/2014/main" id="{D2F25FDA-CDC4-4A90-AABF-84F3106E8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600325"/>
            <a:ext cx="142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4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Module出力</a:t>
            </a:r>
          </a:p>
        </p:txBody>
      </p:sp>
      <p:sp>
        <p:nvSpPr>
          <p:cNvPr id="23" name="flow-body-4">
            <a:extLst xmlns:a="http://schemas.openxmlformats.org/drawingml/2006/main">
              <a:ext uri="{FF2B5EF4-FFF2-40B4-BE49-F238E27FC236}">
                <a16:creationId xmlns:a16="http://schemas.microsoft.com/office/drawing/2014/main" id="{A1D64EF8-C131-4CA0-A0BC-95C070F0A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181350"/>
            <a:ext cx="142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Score・結果・
説明</a:t>
            </a:r>
          </a:p>
        </p:txBody>
      </p:sp>
      <p:sp>
        <p:nvSpPr>
          <p:cNvPr id="24" name="flow-box-5">
            <a:extLst xmlns:a="http://schemas.openxmlformats.org/drawingml/2006/main">
              <a:ext uri="{FF2B5EF4-FFF2-40B4-BE49-F238E27FC236}">
                <a16:creationId xmlns:a16="http://schemas.microsoft.com/office/drawing/2014/main" id="{10A7A31A-DB7F-4239-8CEC-5A14FFDC2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33625"/>
            <a:ext cx="1695450" cy="1714500"/>
          </a:xfrm>
          <a:prstGeom xmlns:a="http://schemas.openxmlformats.org/drawingml/2006/main" prst="roundRect">
            <a:avLst>
              <a:gd name="adj" fmla="val 22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7C8D6"/>
            </a:solidFill>
            <a:prstDash val="solid"/>
          </a:ln>
        </p:spPr>
      </p:sp>
      <p:sp>
        <p:nvSpPr>
          <p:cNvPr id="25" name="flow-title-5">
            <a:extLst xmlns:a="http://schemas.openxmlformats.org/drawingml/2006/main">
              <a:ext uri="{FF2B5EF4-FFF2-40B4-BE49-F238E27FC236}">
                <a16:creationId xmlns:a16="http://schemas.microsoft.com/office/drawing/2014/main" id="{B27E271A-2807-43EE-8A4A-AD0C08A62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600325"/>
            <a:ext cx="142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4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U002</a:t>
            </a:r>
          </a:p>
        </p:txBody>
      </p:sp>
      <p:sp>
        <p:nvSpPr>
          <p:cNvPr id="26" name="flow-body-5">
            <a:extLst xmlns:a="http://schemas.openxmlformats.org/drawingml/2006/main">
              <a:ext uri="{FF2B5EF4-FFF2-40B4-BE49-F238E27FC236}">
                <a16:creationId xmlns:a16="http://schemas.microsoft.com/office/drawing/2014/main" id="{56661279-26D5-4DE0-89AC-565BC7D7D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181350"/>
            <a:ext cx="142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候補化・版記録</a:t>
            </a:r>
          </a:p>
        </p:txBody>
      </p:sp>
      <p:sp>
        <p:nvSpPr>
          <p:cNvPr id="27" name="flow-box-6">
            <a:extLst xmlns:a="http://schemas.openxmlformats.org/drawingml/2006/main">
              <a:ext uri="{FF2B5EF4-FFF2-40B4-BE49-F238E27FC236}">
                <a16:creationId xmlns:a16="http://schemas.microsoft.com/office/drawing/2014/main" id="{9DCC640B-9B50-49EA-97FF-A72D70D03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333625"/>
            <a:ext cx="1695450" cy="1714500"/>
          </a:xfrm>
          <a:prstGeom xmlns:a="http://schemas.openxmlformats.org/drawingml/2006/main" prst="roundRect">
            <a:avLst>
              <a:gd name="adj" fmla="val 2247"/>
            </a:avLst>
          </a:prstGeom>
          <a:solidFill xmlns:a="http://schemas.openxmlformats.org/drawingml/2006/main">
            <a:srgbClr val="E5F2EE"/>
          </a:solidFill>
          <a:ln xmlns:a="http://schemas.openxmlformats.org/drawingml/2006/main" w="14288">
            <a:solidFill>
              <a:srgbClr val="2F7D68"/>
            </a:solidFill>
            <a:prstDash val="solid"/>
          </a:ln>
        </p:spPr>
      </p:sp>
      <p:sp>
        <p:nvSpPr>
          <p:cNvPr id="28" name="flow-title-6">
            <a:extLst xmlns:a="http://schemas.openxmlformats.org/drawingml/2006/main">
              <a:ext uri="{FF2B5EF4-FFF2-40B4-BE49-F238E27FC236}">
                <a16:creationId xmlns:a16="http://schemas.microsoft.com/office/drawing/2014/main" id="{7CAC8D28-CC0C-40DA-B770-A6E3FCA72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600325"/>
            <a:ext cx="142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4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U003</a:t>
            </a:r>
          </a:p>
        </p:txBody>
      </p:sp>
      <p:sp>
        <p:nvSpPr>
          <p:cNvPr id="29" name="flow-body-6">
            <a:extLst xmlns:a="http://schemas.openxmlformats.org/drawingml/2006/main">
              <a:ext uri="{FF2B5EF4-FFF2-40B4-BE49-F238E27FC236}">
                <a16:creationId xmlns:a16="http://schemas.microsoft.com/office/drawing/2014/main" id="{C44E7A93-251D-49F9-A085-B3F32950C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181350"/>
            <a:ext cx="142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映像・CANで確認</a:t>
            </a:r>
          </a:p>
          <a:p xmlns:a="http://schemas.openxmlformats.org/drawingml/2006/main">
            <a:pPr algn="ctr">
              <a:buNone/>
              <a:defRPr sz="120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/>
            </a:r>
          </a:p>
        </p:txBody>
      </p:sp>
      <p:sp>
        <p:nvSpPr>
          <p:cNvPr id="30" name="flow-conclusion">
            <a:extLst xmlns:a="http://schemas.openxmlformats.org/drawingml/2006/main">
              <a:ext uri="{FF2B5EF4-FFF2-40B4-BE49-F238E27FC236}">
                <a16:creationId xmlns:a16="http://schemas.microsoft.com/office/drawing/2014/main" id="{E2BAB2AF-9512-4A51-8A8A-E333685DC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953000"/>
            <a:ext cx="10096500" cy="7239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E7F0F6"/>
          </a:solidFill>
          <a:ln xmlns:a="http://schemas.openxmlformats.org/drawingml/2006/main" w="14288">
            <a:solidFill>
              <a:srgbClr val="173F5F"/>
            </a:solidFill>
            <a:prstDash val="solid"/>
          </a:ln>
        </p:spPr>
      </p:sp>
      <p:sp>
        <p:nvSpPr>
          <p:cNvPr id="31" name="flow-conclusion-text">
            <a:extLst xmlns:a="http://schemas.openxmlformats.org/drawingml/2006/main">
              <a:ext uri="{FF2B5EF4-FFF2-40B4-BE49-F238E27FC236}">
                <a16:creationId xmlns:a16="http://schemas.microsoft.com/office/drawing/2014/main" id="{AEC4F46B-95DC-4797-A40A-B187925FD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114925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7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MATLABを置き換えず、分析Workflowの中へ取り込む</a:t>
            </a:r>
          </a:p>
        </p:txBody>
      </p:sp>
    </p:spTree>
    <p:extLst>
      <p:ext uri="{BB962C8B-B14F-4D97-AF65-F5344CB8AC3E}">
        <p14:creationId xmlns:p14="http://schemas.microsoft.com/office/powerpoint/2010/main" val="808868782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top-accent">
            <a:extLst xmlns:a="http://schemas.openxmlformats.org/drawingml/2006/main">
              <a:ext uri="{FF2B5EF4-FFF2-40B4-BE49-F238E27FC236}">
                <a16:creationId xmlns:a16="http://schemas.microsoft.com/office/drawing/2014/main" id="{867D244C-5535-471F-A9A1-1E894EF59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F5F"/>
          </a:solidFill>
          <a:ln xmlns:a="http://schemas.openxmlformats.org/drawingml/2006/main" w="0">
            <a:solidFill>
              <a:srgbClr val="173F5F"/>
            </a:solidFill>
            <a:prstDash val="solid"/>
          </a:ln>
        </p:spPr>
      </p:sp>
      <p:sp>
        <p:nvSpPr>
          <p:cNvPr id="2" name="deck-name">
            <a:extLst xmlns:a="http://schemas.openxmlformats.org/drawingml/2006/main">
              <a:ext uri="{FF2B5EF4-FFF2-40B4-BE49-F238E27FC236}">
                <a16:creationId xmlns:a16="http://schemas.microsoft.com/office/drawing/2014/main" id="{055ED64B-6F35-4651-A022-F4D71F812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670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U001–U003 詳細説明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2D0DF82-6F1B-435D-A5F1-A3F032764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"/>
            <a:ext cx="11010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17324D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550" b="1">
                <a:solidFill>
                  <a:srgbClr val="17324D"/>
                </a:solidFill>
                <a:latin typeface="Hiragino Kaku Gothic ProN"/>
                <a:ea typeface="Hiragino Kaku Gothic ProN"/>
                <a:cs typeface="Hiragino Kaku Gothic ProN"/>
              </a:rPr>
              <a:t>次のCamera分析は、この六段階を繰り返す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ACFE170D-56EB-40FD-BB5B-DD7345C53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90550" y="1381125"/>
            <a:ext cx="110109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7C8D6"/>
            </a:solidFill>
            <a:prstDash val="solid"/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765AE7CC-62BB-46A5-9524-DCC1A2542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34150"/>
            <a:ext cx="781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97222"/>
          </a:bodyPr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900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rPr>
              <a:t>ZHAO ZHILI  |  U-Series Detailed Review  |  2026-09-01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0680B74-4583-494E-9002-CFD51A26D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524625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97222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900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rPr>
              <a:t>27</a:t>
            </a:r>
          </a:p>
        </p:txBody>
      </p:sp>
      <p:sp>
        <p:nvSpPr>
          <p:cNvPr id="7" name="flow-arrow-1">
            <a:extLst xmlns:a="http://schemas.openxmlformats.org/drawingml/2006/main">
              <a:ext uri="{FF2B5EF4-FFF2-40B4-BE49-F238E27FC236}">
                <a16:creationId xmlns:a16="http://schemas.microsoft.com/office/drawing/2014/main" id="{591C86C6-D8B5-475B-ABD9-554FEB818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2286000" y="3190875"/>
            <a:ext cx="228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B7C8D6"/>
            </a:solidFill>
            <a:prstDash val="solid"/>
          </a:ln>
        </p:spPr>
      </p:sp>
      <p:sp>
        <p:nvSpPr>
          <p:cNvPr id="8" name="flow-arrow-2">
            <a:extLst xmlns:a="http://schemas.openxmlformats.org/drawingml/2006/main">
              <a:ext uri="{FF2B5EF4-FFF2-40B4-BE49-F238E27FC236}">
                <a16:creationId xmlns:a16="http://schemas.microsoft.com/office/drawing/2014/main" id="{0AE02D62-3441-4F21-9034-A72572EF8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4133850" y="3190875"/>
            <a:ext cx="228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B7C8D6"/>
            </a:solidFill>
            <a:prstDash val="solid"/>
          </a:ln>
        </p:spPr>
      </p:sp>
      <p:sp>
        <p:nvSpPr>
          <p:cNvPr id="9" name="flow-arrow-3">
            <a:extLst xmlns:a="http://schemas.openxmlformats.org/drawingml/2006/main">
              <a:ext uri="{FF2B5EF4-FFF2-40B4-BE49-F238E27FC236}">
                <a16:creationId xmlns:a16="http://schemas.microsoft.com/office/drawing/2014/main" id="{EA0CD59C-6867-431D-9C2A-8A62C4EBC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981700" y="3190875"/>
            <a:ext cx="228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B7C8D6"/>
            </a:solidFill>
            <a:prstDash val="solid"/>
          </a:ln>
        </p:spPr>
      </p:sp>
      <p:sp>
        <p:nvSpPr>
          <p:cNvPr id="10" name="flow-arrow-4">
            <a:extLst xmlns:a="http://schemas.openxmlformats.org/drawingml/2006/main">
              <a:ext uri="{FF2B5EF4-FFF2-40B4-BE49-F238E27FC236}">
                <a16:creationId xmlns:a16="http://schemas.microsoft.com/office/drawing/2014/main" id="{FA5163AE-4F90-4180-A153-CB5787200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7829550" y="3190875"/>
            <a:ext cx="228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B7C8D6"/>
            </a:solidFill>
            <a:prstDash val="solid"/>
          </a:ln>
        </p:spPr>
      </p:sp>
      <p:sp>
        <p:nvSpPr>
          <p:cNvPr id="11" name="flow-arrow-5">
            <a:extLst xmlns:a="http://schemas.openxmlformats.org/drawingml/2006/main">
              <a:ext uri="{FF2B5EF4-FFF2-40B4-BE49-F238E27FC236}">
                <a16:creationId xmlns:a16="http://schemas.microsoft.com/office/drawing/2014/main" id="{AB2435DD-00F5-48C8-9428-56B6130FC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9677400" y="3190875"/>
            <a:ext cx="228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B7C8D6"/>
            </a:solidFill>
            <a:prstDash val="solid"/>
          </a:ln>
        </p:spPr>
      </p:sp>
      <p:sp>
        <p:nvSpPr>
          <p:cNvPr id="12" name="flow-box-1">
            <a:extLst xmlns:a="http://schemas.openxmlformats.org/drawingml/2006/main">
              <a:ext uri="{FF2B5EF4-FFF2-40B4-BE49-F238E27FC236}">
                <a16:creationId xmlns:a16="http://schemas.microsoft.com/office/drawing/2014/main" id="{3F7CED79-7990-4B3E-AE9B-5414CB860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33625"/>
            <a:ext cx="1695450" cy="1714500"/>
          </a:xfrm>
          <a:prstGeom xmlns:a="http://schemas.openxmlformats.org/drawingml/2006/main" prst="roundRect">
            <a:avLst>
              <a:gd name="adj" fmla="val 22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7C8D6"/>
            </a:solidFill>
            <a:prstDash val="solid"/>
          </a:ln>
        </p:spPr>
      </p:sp>
      <p:sp>
        <p:nvSpPr>
          <p:cNvPr id="13" name="flow-title-1">
            <a:extLst xmlns:a="http://schemas.openxmlformats.org/drawingml/2006/main">
              <a:ext uri="{FF2B5EF4-FFF2-40B4-BE49-F238E27FC236}">
                <a16:creationId xmlns:a16="http://schemas.microsoft.com/office/drawing/2014/main" id="{C5AB5390-3AB9-4548-9422-4617226F0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0325"/>
            <a:ext cx="142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4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工程質問</a:t>
            </a:r>
          </a:p>
        </p:txBody>
      </p:sp>
      <p:sp>
        <p:nvSpPr>
          <p:cNvPr id="14" name="flow-body-1">
            <a:extLst xmlns:a="http://schemas.openxmlformats.org/drawingml/2006/main">
              <a:ext uri="{FF2B5EF4-FFF2-40B4-BE49-F238E27FC236}">
                <a16:creationId xmlns:a16="http://schemas.microsoft.com/office/drawing/2014/main" id="{DC24D2B1-ED98-4A53-BAE7-2F468F5AE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81350"/>
            <a:ext cx="142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9280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何が悪化するか</a:t>
            </a:r>
          </a:p>
          <a:p xmlns:a="http://schemas.openxmlformats.org/drawingml/2006/main">
            <a:pPr algn="ctr">
              <a:buNone/>
              <a:defRPr sz="120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/>
            </a:r>
          </a:p>
        </p:txBody>
      </p:sp>
      <p:sp>
        <p:nvSpPr>
          <p:cNvPr id="15" name="flow-box-2">
            <a:extLst xmlns:a="http://schemas.openxmlformats.org/drawingml/2006/main">
              <a:ext uri="{FF2B5EF4-FFF2-40B4-BE49-F238E27FC236}">
                <a16:creationId xmlns:a16="http://schemas.microsoft.com/office/drawing/2014/main" id="{2D9A0A43-4738-4AD6-9864-2DBAAA29C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333625"/>
            <a:ext cx="1695450" cy="1714500"/>
          </a:xfrm>
          <a:prstGeom xmlns:a="http://schemas.openxmlformats.org/drawingml/2006/main" prst="roundRect">
            <a:avLst>
              <a:gd name="adj" fmla="val 22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7C8D6"/>
            </a:solidFill>
            <a:prstDash val="solid"/>
          </a:ln>
        </p:spPr>
      </p:sp>
      <p:sp>
        <p:nvSpPr>
          <p:cNvPr id="16" name="flow-title-2">
            <a:extLst xmlns:a="http://schemas.openxmlformats.org/drawingml/2006/main">
              <a:ext uri="{FF2B5EF4-FFF2-40B4-BE49-F238E27FC236}">
                <a16:creationId xmlns:a16="http://schemas.microsoft.com/office/drawing/2014/main" id="{CF74FE5D-1B22-4329-9030-E013D1CBA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600325"/>
            <a:ext cx="142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4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Signal</a:t>
            </a:r>
          </a:p>
        </p:txBody>
      </p:sp>
      <p:sp>
        <p:nvSpPr>
          <p:cNvPr id="17" name="flow-body-2">
            <a:extLst xmlns:a="http://schemas.openxmlformats.org/drawingml/2006/main">
              <a:ext uri="{FF2B5EF4-FFF2-40B4-BE49-F238E27FC236}">
                <a16:creationId xmlns:a16="http://schemas.microsoft.com/office/drawing/2014/main" id="{A7B05740-727F-4E05-A49B-DE2E6C245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181350"/>
            <a:ext cx="142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距離・横位置</a:t>
            </a:r>
          </a:p>
          <a:p xmlns:a="http://schemas.openxmlformats.org/drawingml/2006/main">
            <a:pPr algn="ctr">
              <a:buNone/>
              <a:defRPr sz="120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速度・姿勢</a:t>
            </a:r>
          </a:p>
        </p:txBody>
      </p:sp>
      <p:sp>
        <p:nvSpPr>
          <p:cNvPr id="18" name="flow-box-3">
            <a:extLst xmlns:a="http://schemas.openxmlformats.org/drawingml/2006/main">
              <a:ext uri="{FF2B5EF4-FFF2-40B4-BE49-F238E27FC236}">
                <a16:creationId xmlns:a16="http://schemas.microsoft.com/office/drawing/2014/main" id="{AB7DB3CB-39B9-4DC3-8906-C783AB106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333625"/>
            <a:ext cx="1695450" cy="1714500"/>
          </a:xfrm>
          <a:prstGeom xmlns:a="http://schemas.openxmlformats.org/drawingml/2006/main" prst="roundRect">
            <a:avLst>
              <a:gd name="adj" fmla="val 22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7C8D6"/>
            </a:solidFill>
            <a:prstDash val="solid"/>
          </a:ln>
        </p:spPr>
      </p:sp>
      <p:sp>
        <p:nvSpPr>
          <p:cNvPr id="19" name="flow-title-3">
            <a:extLst xmlns:a="http://schemas.openxmlformats.org/drawingml/2006/main">
              <a:ext uri="{FF2B5EF4-FFF2-40B4-BE49-F238E27FC236}">
                <a16:creationId xmlns:a16="http://schemas.microsoft.com/office/drawing/2014/main" id="{3F82C685-7A74-47BF-9F07-12F8FA9D7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600325"/>
            <a:ext cx="142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4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Module</a:t>
            </a:r>
          </a:p>
        </p:txBody>
      </p:sp>
      <p:sp>
        <p:nvSpPr>
          <p:cNvPr id="20" name="flow-body-3">
            <a:extLst xmlns:a="http://schemas.openxmlformats.org/drawingml/2006/main">
              <a:ext uri="{FF2B5EF4-FFF2-40B4-BE49-F238E27FC236}">
                <a16:creationId xmlns:a16="http://schemas.microsoft.com/office/drawing/2014/main" id="{709631CA-8B64-4ACE-A934-8C8AC0C6D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181350"/>
            <a:ext cx="142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仮説を測れる形へ</a:t>
            </a:r>
          </a:p>
        </p:txBody>
      </p:sp>
      <p:sp>
        <p:nvSpPr>
          <p:cNvPr id="21" name="flow-box-4">
            <a:extLst xmlns:a="http://schemas.openxmlformats.org/drawingml/2006/main">
              <a:ext uri="{FF2B5EF4-FFF2-40B4-BE49-F238E27FC236}">
                <a16:creationId xmlns:a16="http://schemas.microsoft.com/office/drawing/2014/main" id="{4DC2ADD3-37A2-4CD2-853E-546DD92BD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333625"/>
            <a:ext cx="1695450" cy="1714500"/>
          </a:xfrm>
          <a:prstGeom xmlns:a="http://schemas.openxmlformats.org/drawingml/2006/main" prst="roundRect">
            <a:avLst>
              <a:gd name="adj" fmla="val 22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7C8D6"/>
            </a:solidFill>
            <a:prstDash val="solid"/>
          </a:ln>
        </p:spPr>
      </p:sp>
      <p:sp>
        <p:nvSpPr>
          <p:cNvPr id="22" name="flow-title-4">
            <a:extLst xmlns:a="http://schemas.openxmlformats.org/drawingml/2006/main">
              <a:ext uri="{FF2B5EF4-FFF2-40B4-BE49-F238E27FC236}">
                <a16:creationId xmlns:a16="http://schemas.microsoft.com/office/drawing/2014/main" id="{AD1D3577-AFF7-4E12-AE37-F6D851B95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600325"/>
            <a:ext cx="142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4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全量実行</a:t>
            </a:r>
          </a:p>
        </p:txBody>
      </p:sp>
      <p:sp>
        <p:nvSpPr>
          <p:cNvPr id="23" name="flow-body-4">
            <a:extLst xmlns:a="http://schemas.openxmlformats.org/drawingml/2006/main">
              <a:ext uri="{FF2B5EF4-FFF2-40B4-BE49-F238E27FC236}">
                <a16:creationId xmlns:a16="http://schemas.microsoft.com/office/drawing/2014/main" id="{BE17810F-6119-42AB-AEE3-1483EC252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181350"/>
            <a:ext cx="142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候補と理由</a:t>
            </a:r>
          </a:p>
        </p:txBody>
      </p:sp>
      <p:sp>
        <p:nvSpPr>
          <p:cNvPr id="24" name="flow-box-5">
            <a:extLst xmlns:a="http://schemas.openxmlformats.org/drawingml/2006/main">
              <a:ext uri="{FF2B5EF4-FFF2-40B4-BE49-F238E27FC236}">
                <a16:creationId xmlns:a16="http://schemas.microsoft.com/office/drawing/2014/main" id="{4E434097-8B1C-4403-859B-18F8023AC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33625"/>
            <a:ext cx="1695450" cy="1714500"/>
          </a:xfrm>
          <a:prstGeom xmlns:a="http://schemas.openxmlformats.org/drawingml/2006/main" prst="roundRect">
            <a:avLst>
              <a:gd name="adj" fmla="val 22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7C8D6"/>
            </a:solidFill>
            <a:prstDash val="solid"/>
          </a:ln>
        </p:spPr>
      </p:sp>
      <p:sp>
        <p:nvSpPr>
          <p:cNvPr id="25" name="flow-title-5">
            <a:extLst xmlns:a="http://schemas.openxmlformats.org/drawingml/2006/main">
              <a:ext uri="{FF2B5EF4-FFF2-40B4-BE49-F238E27FC236}">
                <a16:creationId xmlns:a16="http://schemas.microsoft.com/office/drawing/2014/main" id="{81E14005-63ED-4B45-9EE3-8325DB5C1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600325"/>
            <a:ext cx="142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4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U003</a:t>
            </a:r>
          </a:p>
        </p:txBody>
      </p:sp>
      <p:sp>
        <p:nvSpPr>
          <p:cNvPr id="26" name="flow-body-5">
            <a:extLst xmlns:a="http://schemas.openxmlformats.org/drawingml/2006/main">
              <a:ext uri="{FF2B5EF4-FFF2-40B4-BE49-F238E27FC236}">
                <a16:creationId xmlns:a16="http://schemas.microsoft.com/office/drawing/2014/main" id="{15AF96C9-379D-4616-B8FF-10F38B07B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181350"/>
            <a:ext cx="142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映像で全件Review</a:t>
            </a:r>
          </a:p>
        </p:txBody>
      </p:sp>
      <p:sp>
        <p:nvSpPr>
          <p:cNvPr id="27" name="flow-box-6">
            <a:extLst xmlns:a="http://schemas.openxmlformats.org/drawingml/2006/main">
              <a:ext uri="{FF2B5EF4-FFF2-40B4-BE49-F238E27FC236}">
                <a16:creationId xmlns:a16="http://schemas.microsoft.com/office/drawing/2014/main" id="{44AFD022-D47E-4B89-990A-E9B28F1E0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333625"/>
            <a:ext cx="1695450" cy="1714500"/>
          </a:xfrm>
          <a:prstGeom xmlns:a="http://schemas.openxmlformats.org/drawingml/2006/main" prst="roundRect">
            <a:avLst>
              <a:gd name="adj" fmla="val 2247"/>
            </a:avLst>
          </a:prstGeom>
          <a:solidFill xmlns:a="http://schemas.openxmlformats.org/drawingml/2006/main">
            <a:srgbClr val="E5F2EE"/>
          </a:solidFill>
          <a:ln xmlns:a="http://schemas.openxmlformats.org/drawingml/2006/main" w="14288">
            <a:solidFill>
              <a:srgbClr val="2F7D68"/>
            </a:solidFill>
            <a:prstDash val="solid"/>
          </a:ln>
        </p:spPr>
      </p:sp>
      <p:sp>
        <p:nvSpPr>
          <p:cNvPr id="28" name="flow-title-6">
            <a:extLst xmlns:a="http://schemas.openxmlformats.org/drawingml/2006/main">
              <a:ext uri="{FF2B5EF4-FFF2-40B4-BE49-F238E27FC236}">
                <a16:creationId xmlns:a16="http://schemas.microsoft.com/office/drawing/2014/main" id="{68A2584B-A239-4C78-AC5A-C3E778E97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600325"/>
            <a:ext cx="142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4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Profile</a:t>
            </a:r>
          </a:p>
        </p:txBody>
      </p:sp>
      <p:sp>
        <p:nvSpPr>
          <p:cNvPr id="29" name="flow-body-6">
            <a:extLst xmlns:a="http://schemas.openxmlformats.org/drawingml/2006/main">
              <a:ext uri="{FF2B5EF4-FFF2-40B4-BE49-F238E27FC236}">
                <a16:creationId xmlns:a16="http://schemas.microsoft.com/office/drawing/2014/main" id="{85C5ACB4-F36E-4CB4-A6A1-91E7738C2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181350"/>
            <a:ext cx="142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条件と結果を保存</a:t>
            </a:r>
          </a:p>
        </p:txBody>
      </p:sp>
      <p:sp>
        <p:nvSpPr>
          <p:cNvPr id="30" name="flow-conclusion">
            <a:extLst xmlns:a="http://schemas.openxmlformats.org/drawingml/2006/main">
              <a:ext uri="{FF2B5EF4-FFF2-40B4-BE49-F238E27FC236}">
                <a16:creationId xmlns:a16="http://schemas.microsoft.com/office/drawing/2014/main" id="{EB667461-51A9-449C-98E7-94DB2ECE1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953000"/>
            <a:ext cx="10096500" cy="7239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E7F0F6"/>
          </a:solidFill>
          <a:ln xmlns:a="http://schemas.openxmlformats.org/drawingml/2006/main" w="14288">
            <a:solidFill>
              <a:srgbClr val="173F5F"/>
            </a:solidFill>
            <a:prstDash val="solid"/>
          </a:ln>
        </p:spPr>
      </p:sp>
      <p:sp>
        <p:nvSpPr>
          <p:cNvPr id="31" name="flow-conclusion-text">
            <a:extLst xmlns:a="http://schemas.openxmlformats.org/drawingml/2006/main">
              <a:ext uri="{FF2B5EF4-FFF2-40B4-BE49-F238E27FC236}">
                <a16:creationId xmlns:a16="http://schemas.microsoft.com/office/drawing/2014/main" id="{80610380-53FB-4656-8482-E71ECCAB1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114925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7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旋回・速度・Target位置など、Camera性能低下条件を段階的に検証する</a:t>
            </a:r>
          </a:p>
        </p:txBody>
      </p:sp>
    </p:spTree>
    <p:extLst>
      <p:ext uri="{BB962C8B-B14F-4D97-AF65-F5344CB8AC3E}">
        <p14:creationId xmlns:p14="http://schemas.microsoft.com/office/powerpoint/2010/main" val="487995411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op-accent">
            <a:extLst xmlns:a="http://schemas.openxmlformats.org/drawingml/2006/main">
              <a:ext uri="{FF2B5EF4-FFF2-40B4-BE49-F238E27FC236}">
                <a16:creationId xmlns:a16="http://schemas.microsoft.com/office/drawing/2014/main" id="{446530FA-F39F-4D53-A5CC-3FD1F8EBA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F5F"/>
          </a:solidFill>
          <a:ln xmlns:a="http://schemas.openxmlformats.org/drawingml/2006/main" w="0">
            <a:solidFill>
              <a:srgbClr val="173F5F"/>
            </a:solidFill>
            <a:prstDash val="solid"/>
          </a:ln>
        </p:spPr>
      </p:sp>
      <p:sp>
        <p:nvSpPr>
          <p:cNvPr id="2" name="deck-name">
            <a:extLst xmlns:a="http://schemas.openxmlformats.org/drawingml/2006/main">
              <a:ext uri="{FF2B5EF4-FFF2-40B4-BE49-F238E27FC236}">
                <a16:creationId xmlns:a16="http://schemas.microsoft.com/office/drawing/2014/main" id="{CCAB3FFC-EEEC-48D8-80F3-E807EE902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670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U001–U003 詳細説明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AC58916-9909-46DC-93AF-47F31A63B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"/>
            <a:ext cx="11010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17324D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850" b="1">
                <a:solidFill>
                  <a:srgbClr val="17324D"/>
                </a:solidFill>
                <a:latin typeface="Hiragino Kaku Gothic ProN"/>
                <a:ea typeface="Hiragino Kaku Gothic ProN"/>
                <a:cs typeface="Hiragino Kaku Gothic ProN"/>
              </a:rPr>
              <a:t>補足：今回完成した三つの工程能力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FCB93324-D2DA-4FD9-BCF2-DA742093B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90550" y="1381125"/>
            <a:ext cx="110109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7C8D6"/>
            </a:solidFill>
            <a:prstDash val="solid"/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A1A0A0F2-0180-4C7B-B8F0-4F029F88D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34150"/>
            <a:ext cx="781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97222"/>
          </a:bodyPr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900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rPr>
              <a:t>ZHAO ZHILI  |  U-Series Detailed Review  |  2026-09-01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869C8DC-401B-441E-A285-F8EC06EC9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524625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97222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900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rPr>
              <a:t>28</a:t>
            </a:r>
          </a:p>
        </p:txBody>
      </p:sp>
      <p:sp>
        <p:nvSpPr>
          <p:cNvPr id="7" name="metric-0">
            <a:extLst xmlns:a="http://schemas.openxmlformats.org/drawingml/2006/main">
              <a:ext uri="{FF2B5EF4-FFF2-40B4-BE49-F238E27FC236}">
                <a16:creationId xmlns:a16="http://schemas.microsoft.com/office/drawing/2014/main" id="{6D7892D0-6E68-4875-AE53-69E1376F3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3327400" cy="180975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73F5F"/>
            </a:solidFill>
            <a:prstDash val="solid"/>
          </a:ln>
        </p:spPr>
      </p:sp>
      <p:sp>
        <p:nvSpPr>
          <p:cNvPr id="8" name="metric-value-0">
            <a:extLst xmlns:a="http://schemas.openxmlformats.org/drawingml/2006/main">
              <a:ext uri="{FF2B5EF4-FFF2-40B4-BE49-F238E27FC236}">
                <a16:creationId xmlns:a16="http://schemas.microsoft.com/office/drawing/2014/main" id="{0726FBE8-FDF2-463E-BD0B-D6111C985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095500"/>
            <a:ext cx="3098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450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3450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1</a:t>
            </a:r>
          </a:p>
        </p:txBody>
      </p:sp>
      <p:sp>
        <p:nvSpPr>
          <p:cNvPr id="9" name="metric-label-0">
            <a:extLst xmlns:a="http://schemas.openxmlformats.org/drawingml/2006/main">
              <a:ext uri="{FF2B5EF4-FFF2-40B4-BE49-F238E27FC236}">
                <a16:creationId xmlns:a16="http://schemas.microsoft.com/office/drawing/2014/main" id="{3B330E28-0D9A-4A81-8ACD-606A2487B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914650"/>
            <a:ext cx="3022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35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rPr>
              <a:t>End-to-End実証</a:t>
            </a:r>
          </a:p>
        </p:txBody>
      </p:sp>
      <p:sp>
        <p:nvSpPr>
          <p:cNvPr id="10" name="metric-1">
            <a:extLst xmlns:a="http://schemas.openxmlformats.org/drawingml/2006/main">
              <a:ext uri="{FF2B5EF4-FFF2-40B4-BE49-F238E27FC236}">
                <a16:creationId xmlns:a16="http://schemas.microsoft.com/office/drawing/2014/main" id="{018913C9-7D68-44CA-AA82-CBF53BA0A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2300" y="1809750"/>
            <a:ext cx="3327400" cy="180975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EDF4F8"/>
          </a:solidFill>
          <a:ln xmlns:a="http://schemas.openxmlformats.org/drawingml/2006/main" w="14288">
            <a:solidFill>
              <a:srgbClr val="2E6F9E"/>
            </a:solidFill>
            <a:prstDash val="solid"/>
          </a:ln>
        </p:spPr>
      </p:sp>
      <p:sp>
        <p:nvSpPr>
          <p:cNvPr id="11" name="metric-value-1">
            <a:extLst xmlns:a="http://schemas.openxmlformats.org/drawingml/2006/main">
              <a:ext uri="{FF2B5EF4-FFF2-40B4-BE49-F238E27FC236}">
                <a16:creationId xmlns:a16="http://schemas.microsoft.com/office/drawing/2014/main" id="{612EC52E-1F8D-4ED1-89E0-E00A8D168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6600" y="2095500"/>
            <a:ext cx="3098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450" b="1">
                <a:solidFill>
                  <a:srgbClr val="2E6F9E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3450" b="1">
                <a:solidFill>
                  <a:srgbClr val="2E6F9E"/>
                </a:solidFill>
                <a:latin typeface="Hiragino Kaku Gothic ProN"/>
                <a:ea typeface="Hiragino Kaku Gothic ProN"/>
                <a:cs typeface="Hiragino Kaku Gothic ProN"/>
              </a:rPr>
              <a:t>2</a:t>
            </a:r>
          </a:p>
        </p:txBody>
      </p:sp>
      <p:sp>
        <p:nvSpPr>
          <p:cNvPr id="12" name="metric-label-1">
            <a:extLst xmlns:a="http://schemas.openxmlformats.org/drawingml/2006/main">
              <a:ext uri="{FF2B5EF4-FFF2-40B4-BE49-F238E27FC236}">
                <a16:creationId xmlns:a16="http://schemas.microsoft.com/office/drawing/2014/main" id="{6841A41E-D79C-44D6-8E8A-B1F104494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4700" y="2914650"/>
            <a:ext cx="3022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35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rPr>
              <a:t>交換可能な分析骨格</a:t>
            </a:r>
          </a:p>
        </p:txBody>
      </p:sp>
      <p:sp>
        <p:nvSpPr>
          <p:cNvPr id="13" name="metric-2">
            <a:extLst xmlns:a="http://schemas.openxmlformats.org/drawingml/2006/main">
              <a:ext uri="{FF2B5EF4-FFF2-40B4-BE49-F238E27FC236}">
                <a16:creationId xmlns:a16="http://schemas.microsoft.com/office/drawing/2014/main" id="{79F0B500-8C60-44ED-8400-68A538BCE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7350" y="1809750"/>
            <a:ext cx="3327400" cy="180975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E5F2EE"/>
          </a:solidFill>
          <a:ln xmlns:a="http://schemas.openxmlformats.org/drawingml/2006/main" w="14288">
            <a:solidFill>
              <a:srgbClr val="2F7D68"/>
            </a:solidFill>
            <a:prstDash val="solid"/>
          </a:ln>
        </p:spPr>
      </p:sp>
      <p:sp>
        <p:nvSpPr>
          <p:cNvPr id="14" name="metric-value-2">
            <a:extLst xmlns:a="http://schemas.openxmlformats.org/drawingml/2006/main">
              <a:ext uri="{FF2B5EF4-FFF2-40B4-BE49-F238E27FC236}">
                <a16:creationId xmlns:a16="http://schemas.microsoft.com/office/drawing/2014/main" id="{8E87C321-7A2B-4102-8978-C10593CD2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1650" y="2095500"/>
            <a:ext cx="3098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450" b="1">
                <a:solidFill>
                  <a:srgbClr val="2F7D6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3450" b="1">
                <a:solidFill>
                  <a:srgbClr val="2F7D68"/>
                </a:solidFill>
                <a:latin typeface="Hiragino Kaku Gothic ProN"/>
                <a:ea typeface="Hiragino Kaku Gothic ProN"/>
                <a:cs typeface="Hiragino Kaku Gothic ProN"/>
              </a:rPr>
              <a:t>3</a:t>
            </a:r>
          </a:p>
        </p:txBody>
      </p:sp>
      <p:sp>
        <p:nvSpPr>
          <p:cNvPr id="15" name="metric-label-2">
            <a:extLst xmlns:a="http://schemas.openxmlformats.org/drawingml/2006/main">
              <a:ext uri="{FF2B5EF4-FFF2-40B4-BE49-F238E27FC236}">
                <a16:creationId xmlns:a16="http://schemas.microsoft.com/office/drawing/2014/main" id="{B608F5A2-8E33-4688-886C-B39BD8B57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9750" y="2914650"/>
            <a:ext cx="3022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35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rPr>
              <a:t>確認・報告の自動化</a:t>
            </a:r>
          </a:p>
        </p:txBody>
      </p:sp>
      <p:sp>
        <p:nvSpPr>
          <p:cNvPr id="16" name="metric-explain">
            <a:extLst xmlns:a="http://schemas.openxmlformats.org/drawingml/2006/main">
              <a:ext uri="{FF2B5EF4-FFF2-40B4-BE49-F238E27FC236}">
                <a16:creationId xmlns:a16="http://schemas.microsoft.com/office/drawing/2014/main" id="{B1395408-979C-4213-A9F8-9745075AA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095750"/>
            <a:ext cx="9810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80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rPr>
              <a:t>16件の全件Reviewは、三つの能力を実車Dataで接続できた確認例。</a:t>
            </a:r>
          </a:p>
        </p:txBody>
      </p:sp>
      <p:sp>
        <p:nvSpPr>
          <p:cNvPr id="17" name="metric-conclusion">
            <a:extLst xmlns:a="http://schemas.openxmlformats.org/drawingml/2006/main">
              <a:ext uri="{FF2B5EF4-FFF2-40B4-BE49-F238E27FC236}">
                <a16:creationId xmlns:a16="http://schemas.microsoft.com/office/drawing/2014/main" id="{E0A0A2DD-3892-4C71-9D81-7E986E573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429250"/>
            <a:ext cx="9334500" cy="6667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7F0F6"/>
          </a:solidFill>
          <a:ln xmlns:a="http://schemas.openxmlformats.org/drawingml/2006/main" w="14288">
            <a:solidFill>
              <a:srgbClr val="173F5F"/>
            </a:solidFill>
            <a:prstDash val="solid"/>
          </a:ln>
        </p:spPr>
      </p:sp>
      <p:sp>
        <p:nvSpPr>
          <p:cNvPr id="18" name="metric-conclusion-text">
            <a:extLst xmlns:a="http://schemas.openxmlformats.org/drawingml/2006/main">
              <a:ext uri="{FF2B5EF4-FFF2-40B4-BE49-F238E27FC236}">
                <a16:creationId xmlns:a16="http://schemas.microsoft.com/office/drawing/2014/main" id="{92FF0B22-A860-44C1-A315-50ABAC3F7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562600"/>
            <a:ext cx="876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650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最重要成果は、課題ごとにModuleを展開できる道が成立したこと</a:t>
            </a:r>
          </a:p>
        </p:txBody>
      </p:sp>
    </p:spTree>
    <p:extLst>
      <p:ext uri="{BB962C8B-B14F-4D97-AF65-F5344CB8AC3E}">
        <p14:creationId xmlns:p14="http://schemas.microsoft.com/office/powerpoint/2010/main" val="1139368281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op-accent">
            <a:extLst xmlns:a="http://schemas.openxmlformats.org/drawingml/2006/main">
              <a:ext uri="{FF2B5EF4-FFF2-40B4-BE49-F238E27FC236}">
                <a16:creationId xmlns:a16="http://schemas.microsoft.com/office/drawing/2014/main" id="{446530FA-F39F-4D53-A5CC-3FD1F8EBA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F5F"/>
          </a:solidFill>
          <a:ln xmlns:a="http://schemas.openxmlformats.org/drawingml/2006/main" w="0">
            <a:solidFill>
              <a:srgbClr val="173F5F"/>
            </a:solidFill>
            <a:prstDash val="solid"/>
          </a:ln>
        </p:spPr>
      </p:sp>
      <p:sp>
        <p:nvSpPr>
          <p:cNvPr id="2" name="deck-name">
            <a:extLst xmlns:a="http://schemas.openxmlformats.org/drawingml/2006/main">
              <a:ext uri="{FF2B5EF4-FFF2-40B4-BE49-F238E27FC236}">
                <a16:creationId xmlns:a16="http://schemas.microsoft.com/office/drawing/2014/main" id="{CCAB3FFC-EEEC-48D8-80F3-E807EE902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670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U001–U003 詳細説明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AC58916-9909-46DC-93AF-47F31A63B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"/>
            <a:ext cx="11010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17324D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850" b="1">
                <a:solidFill>
                  <a:srgbClr val="17324D"/>
                </a:solidFill>
                <a:latin typeface="Hiragino Kaku Gothic ProN"/>
                <a:ea typeface="Hiragino Kaku Gothic ProN"/>
                <a:cs typeface="Hiragino Kaku Gothic ProN"/>
              </a:rPr>
              <a:t>補足：現在の成熟度を、三段階で管理する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FCB93324-D2DA-4FD9-BCF2-DA742093B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90550" y="1381125"/>
            <a:ext cx="110109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7C8D6"/>
            </a:solidFill>
            <a:prstDash val="solid"/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A1A0A0F2-0180-4C7B-B8F0-4F029F88D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34150"/>
            <a:ext cx="781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97222"/>
          </a:bodyPr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900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rPr>
              <a:t>ZHAO ZHILI  |  U-Series Detailed Review  |  2026-09-01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869C8DC-401B-441E-A285-F8EC06EC9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524625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97222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900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rPr>
              <a:t>29</a:t>
            </a:r>
          </a:p>
        </p:txBody>
      </p:sp>
      <p:sp>
        <p:nvSpPr>
          <p:cNvPr id="7" name="metric-0">
            <a:extLst xmlns:a="http://schemas.openxmlformats.org/drawingml/2006/main">
              <a:ext uri="{FF2B5EF4-FFF2-40B4-BE49-F238E27FC236}">
                <a16:creationId xmlns:a16="http://schemas.microsoft.com/office/drawing/2014/main" id="{6D7892D0-6E68-4875-AE53-69E1376F3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3327400" cy="180975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73F5F"/>
            </a:solidFill>
            <a:prstDash val="solid"/>
          </a:ln>
        </p:spPr>
      </p:sp>
      <p:sp>
        <p:nvSpPr>
          <p:cNvPr id="8" name="metric-value-0">
            <a:extLst xmlns:a="http://schemas.openxmlformats.org/drawingml/2006/main">
              <a:ext uri="{FF2B5EF4-FFF2-40B4-BE49-F238E27FC236}">
                <a16:creationId xmlns:a16="http://schemas.microsoft.com/office/drawing/2014/main" id="{0726FBE8-FDF2-463E-BD0B-D6111C985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095500"/>
            <a:ext cx="3098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450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3450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A</a:t>
            </a:r>
          </a:p>
        </p:txBody>
      </p:sp>
      <p:sp>
        <p:nvSpPr>
          <p:cNvPr id="9" name="metric-label-0">
            <a:extLst xmlns:a="http://schemas.openxmlformats.org/drawingml/2006/main">
              <a:ext uri="{FF2B5EF4-FFF2-40B4-BE49-F238E27FC236}">
                <a16:creationId xmlns:a16="http://schemas.microsoft.com/office/drawing/2014/main" id="{3B330E28-0D9A-4A81-8ACD-606A2487B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914650"/>
            <a:ext cx="3022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35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rPr>
              <a:t>Program動作</a:t>
            </a:r>
          </a:p>
        </p:txBody>
      </p:sp>
      <p:sp>
        <p:nvSpPr>
          <p:cNvPr id="10" name="metric-1">
            <a:extLst xmlns:a="http://schemas.openxmlformats.org/drawingml/2006/main">
              <a:ext uri="{FF2B5EF4-FFF2-40B4-BE49-F238E27FC236}">
                <a16:creationId xmlns:a16="http://schemas.microsoft.com/office/drawing/2014/main" id="{018913C9-7D68-44CA-AA82-CBF53BA0A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2300" y="1809750"/>
            <a:ext cx="3327400" cy="180975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EDF4F8"/>
          </a:solidFill>
          <a:ln xmlns:a="http://schemas.openxmlformats.org/drawingml/2006/main" w="14288">
            <a:solidFill>
              <a:srgbClr val="2E6F9E"/>
            </a:solidFill>
            <a:prstDash val="solid"/>
          </a:ln>
        </p:spPr>
      </p:sp>
      <p:sp>
        <p:nvSpPr>
          <p:cNvPr id="11" name="metric-value-1">
            <a:extLst xmlns:a="http://schemas.openxmlformats.org/drawingml/2006/main">
              <a:ext uri="{FF2B5EF4-FFF2-40B4-BE49-F238E27FC236}">
                <a16:creationId xmlns:a16="http://schemas.microsoft.com/office/drawing/2014/main" id="{612EC52E-1F8D-4ED1-89E0-E00A8D168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6600" y="2095500"/>
            <a:ext cx="3098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450" b="1">
                <a:solidFill>
                  <a:srgbClr val="2E6F9E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3450" b="1">
                <a:solidFill>
                  <a:srgbClr val="2E6F9E"/>
                </a:solidFill>
                <a:latin typeface="Hiragino Kaku Gothic ProN"/>
                <a:ea typeface="Hiragino Kaku Gothic ProN"/>
                <a:cs typeface="Hiragino Kaku Gothic ProN"/>
              </a:rPr>
              <a:t>B</a:t>
            </a:r>
          </a:p>
        </p:txBody>
      </p:sp>
      <p:sp>
        <p:nvSpPr>
          <p:cNvPr id="12" name="metric-label-1">
            <a:extLst xmlns:a="http://schemas.openxmlformats.org/drawingml/2006/main">
              <a:ext uri="{FF2B5EF4-FFF2-40B4-BE49-F238E27FC236}">
                <a16:creationId xmlns:a16="http://schemas.microsoft.com/office/drawing/2014/main" id="{6841A41E-D79C-44D6-8E8A-B1F104494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4700" y="2914650"/>
            <a:ext cx="3022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35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rPr>
              <a:t>実車現象と整合</a:t>
            </a:r>
          </a:p>
        </p:txBody>
      </p:sp>
      <p:sp>
        <p:nvSpPr>
          <p:cNvPr id="13" name="metric-2">
            <a:extLst xmlns:a="http://schemas.openxmlformats.org/drawingml/2006/main">
              <a:ext uri="{FF2B5EF4-FFF2-40B4-BE49-F238E27FC236}">
                <a16:creationId xmlns:a16="http://schemas.microsoft.com/office/drawing/2014/main" id="{79F0B500-8C60-44ED-8400-68A538BCE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7350" y="1809750"/>
            <a:ext cx="3327400" cy="180975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E5F2EE"/>
          </a:solidFill>
          <a:ln xmlns:a="http://schemas.openxmlformats.org/drawingml/2006/main" w="14288">
            <a:solidFill>
              <a:srgbClr val="2F7D68"/>
            </a:solidFill>
            <a:prstDash val="solid"/>
          </a:ln>
        </p:spPr>
      </p:sp>
      <p:sp>
        <p:nvSpPr>
          <p:cNvPr id="14" name="metric-value-2">
            <a:extLst xmlns:a="http://schemas.openxmlformats.org/drawingml/2006/main">
              <a:ext uri="{FF2B5EF4-FFF2-40B4-BE49-F238E27FC236}">
                <a16:creationId xmlns:a16="http://schemas.microsoft.com/office/drawing/2014/main" id="{8E87C321-7A2B-4102-8978-C10593CD2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1650" y="2095500"/>
            <a:ext cx="3098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450" b="1">
                <a:solidFill>
                  <a:srgbClr val="2F7D6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3450" b="1">
                <a:solidFill>
                  <a:srgbClr val="2F7D68"/>
                </a:solidFill>
                <a:latin typeface="Hiragino Kaku Gothic ProN"/>
                <a:ea typeface="Hiragino Kaku Gothic ProN"/>
                <a:cs typeface="Hiragino Kaku Gothic ProN"/>
              </a:rPr>
              <a:t>C</a:t>
            </a:r>
          </a:p>
        </p:txBody>
      </p:sp>
      <p:sp>
        <p:nvSpPr>
          <p:cNvPr id="15" name="metric-label-2">
            <a:extLst xmlns:a="http://schemas.openxmlformats.org/drawingml/2006/main">
              <a:ext uri="{FF2B5EF4-FFF2-40B4-BE49-F238E27FC236}">
                <a16:creationId xmlns:a16="http://schemas.microsoft.com/office/drawing/2014/main" id="{B608F5A2-8E33-4688-886C-B39BD8B57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9750" y="2914650"/>
            <a:ext cx="3022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35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rPr>
              <a:t>他条件へ一般化</a:t>
            </a:r>
          </a:p>
        </p:txBody>
      </p:sp>
      <p:sp>
        <p:nvSpPr>
          <p:cNvPr id="16" name="metric-explain">
            <a:extLst xmlns:a="http://schemas.openxmlformats.org/drawingml/2006/main">
              <a:ext uri="{FF2B5EF4-FFF2-40B4-BE49-F238E27FC236}">
                <a16:creationId xmlns:a16="http://schemas.microsoft.com/office/drawing/2014/main" id="{B1395408-979C-4213-A9F8-9745075AA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095750"/>
            <a:ext cx="9810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80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rPr>
              <a:t>今回Aと代表課題のBを確認。Cは次のCamera Campaignで積み上げる。</a:t>
            </a:r>
          </a:p>
        </p:txBody>
      </p:sp>
      <p:sp>
        <p:nvSpPr>
          <p:cNvPr id="17" name="metric-conclusion">
            <a:extLst xmlns:a="http://schemas.openxmlformats.org/drawingml/2006/main">
              <a:ext uri="{FF2B5EF4-FFF2-40B4-BE49-F238E27FC236}">
                <a16:creationId xmlns:a16="http://schemas.microsoft.com/office/drawing/2014/main" id="{E0A0A2DD-3892-4C71-9D81-7E986E573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429250"/>
            <a:ext cx="9334500" cy="6667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7F0F6"/>
          </a:solidFill>
          <a:ln xmlns:a="http://schemas.openxmlformats.org/drawingml/2006/main" w="14288">
            <a:solidFill>
              <a:srgbClr val="173F5F"/>
            </a:solidFill>
            <a:prstDash val="solid"/>
          </a:ln>
        </p:spPr>
      </p:sp>
      <p:sp>
        <p:nvSpPr>
          <p:cNvPr id="18" name="metric-conclusion-text">
            <a:extLst xmlns:a="http://schemas.openxmlformats.org/drawingml/2006/main">
              <a:ext uri="{FF2B5EF4-FFF2-40B4-BE49-F238E27FC236}">
                <a16:creationId xmlns:a16="http://schemas.microsoft.com/office/drawing/2014/main" id="{92FF0B22-A860-44C1-A315-50ABAC3F7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562600"/>
            <a:ext cx="876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650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動くこと、意味が合うこと、広く使えることを分けて評価する</a:t>
            </a:r>
          </a:p>
        </p:txBody>
      </p:sp>
    </p:spTree>
    <p:extLst>
      <p:ext uri="{BB962C8B-B14F-4D97-AF65-F5344CB8AC3E}">
        <p14:creationId xmlns:p14="http://schemas.microsoft.com/office/powerpoint/2010/main" val="1139368281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top-accent">
            <a:extLst xmlns:a="http://schemas.openxmlformats.org/drawingml/2006/main">
              <a:ext uri="{FF2B5EF4-FFF2-40B4-BE49-F238E27FC236}">
                <a16:creationId xmlns:a16="http://schemas.microsoft.com/office/drawing/2014/main" id="{669684B9-BFE4-4359-8FB8-52A163655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F5F"/>
          </a:solidFill>
          <a:ln xmlns:a="http://schemas.openxmlformats.org/drawingml/2006/main" w="0">
            <a:solidFill>
              <a:srgbClr val="173F5F"/>
            </a:solidFill>
            <a:prstDash val="solid"/>
          </a:ln>
        </p:spPr>
      </p:sp>
      <p:sp>
        <p:nvSpPr>
          <p:cNvPr id="2" name="deck-name">
            <a:extLst xmlns:a="http://schemas.openxmlformats.org/drawingml/2006/main">
              <a:ext uri="{FF2B5EF4-FFF2-40B4-BE49-F238E27FC236}">
                <a16:creationId xmlns:a16="http://schemas.microsoft.com/office/drawing/2014/main" id="{519D2CFC-5ECD-4EFC-9200-86358A61F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670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U001–U003 詳細説明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62EF207-1034-4A10-A6BA-1913ED71E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"/>
            <a:ext cx="11010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17324D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550" b="1">
                <a:solidFill>
                  <a:srgbClr val="17324D"/>
                </a:solidFill>
                <a:latin typeface="Hiragino Kaku Gothic ProN"/>
                <a:ea typeface="Hiragino Kaku Gothic ProN"/>
                <a:cs typeface="Hiragino Kaku Gothic ProN"/>
              </a:rPr>
              <a:t>補足：一人でも使え、Teamでも保守できる構成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D322F048-659D-44AB-9BD3-DB0C8E6F3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90550" y="1381125"/>
            <a:ext cx="110109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7C8D6"/>
            </a:solidFill>
            <a:prstDash val="solid"/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A85705AB-3231-4D60-A934-71BBC7A7D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34150"/>
            <a:ext cx="781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97222"/>
          </a:bodyPr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900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rPr>
              <a:t>ZHAO ZHILI  |  U-Series Detailed Review  |  2026-09-01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377116A-C582-488C-ABE0-4E897586E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524625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97222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900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rPr>
              <a:t>30</a:t>
            </a:r>
          </a:p>
        </p:txBody>
      </p:sp>
      <p:sp>
        <p:nvSpPr>
          <p:cNvPr id="7" name="flow-arrow-1">
            <a:extLst xmlns:a="http://schemas.openxmlformats.org/drawingml/2006/main">
              <a:ext uri="{FF2B5EF4-FFF2-40B4-BE49-F238E27FC236}">
                <a16:creationId xmlns:a16="http://schemas.microsoft.com/office/drawing/2014/main" id="{F284D5C2-F5D9-406F-824C-11F1ACD50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2286000" y="3190875"/>
            <a:ext cx="228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B7C8D6"/>
            </a:solidFill>
            <a:prstDash val="solid"/>
          </a:ln>
        </p:spPr>
      </p:sp>
      <p:sp>
        <p:nvSpPr>
          <p:cNvPr id="8" name="flow-arrow-2">
            <a:extLst xmlns:a="http://schemas.openxmlformats.org/drawingml/2006/main">
              <a:ext uri="{FF2B5EF4-FFF2-40B4-BE49-F238E27FC236}">
                <a16:creationId xmlns:a16="http://schemas.microsoft.com/office/drawing/2014/main" id="{80D9E487-2E92-4DF2-A977-B37F286F2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4133850" y="3190875"/>
            <a:ext cx="228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B7C8D6"/>
            </a:solidFill>
            <a:prstDash val="solid"/>
          </a:ln>
        </p:spPr>
      </p:sp>
      <p:sp>
        <p:nvSpPr>
          <p:cNvPr id="9" name="flow-arrow-3">
            <a:extLst xmlns:a="http://schemas.openxmlformats.org/drawingml/2006/main">
              <a:ext uri="{FF2B5EF4-FFF2-40B4-BE49-F238E27FC236}">
                <a16:creationId xmlns:a16="http://schemas.microsoft.com/office/drawing/2014/main" id="{7A5257C4-F9B2-4B70-B156-D3A10E89E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981700" y="3190875"/>
            <a:ext cx="228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B7C8D6"/>
            </a:solidFill>
            <a:prstDash val="solid"/>
          </a:ln>
        </p:spPr>
      </p:sp>
      <p:sp>
        <p:nvSpPr>
          <p:cNvPr id="10" name="flow-arrow-4">
            <a:extLst xmlns:a="http://schemas.openxmlformats.org/drawingml/2006/main">
              <a:ext uri="{FF2B5EF4-FFF2-40B4-BE49-F238E27FC236}">
                <a16:creationId xmlns:a16="http://schemas.microsoft.com/office/drawing/2014/main" id="{CE3205CD-7559-4D2D-8684-78E4232BA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7829550" y="3190875"/>
            <a:ext cx="228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B7C8D6"/>
            </a:solidFill>
            <a:prstDash val="solid"/>
          </a:ln>
        </p:spPr>
      </p:sp>
      <p:sp>
        <p:nvSpPr>
          <p:cNvPr id="11" name="flow-arrow-5">
            <a:extLst xmlns:a="http://schemas.openxmlformats.org/drawingml/2006/main">
              <a:ext uri="{FF2B5EF4-FFF2-40B4-BE49-F238E27FC236}">
                <a16:creationId xmlns:a16="http://schemas.microsoft.com/office/drawing/2014/main" id="{3FF7F08E-27F4-4814-B9EA-1C62443BA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9677400" y="3190875"/>
            <a:ext cx="228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B7C8D6"/>
            </a:solidFill>
            <a:prstDash val="solid"/>
          </a:ln>
        </p:spPr>
      </p:sp>
      <p:sp>
        <p:nvSpPr>
          <p:cNvPr id="12" name="flow-box-1">
            <a:extLst xmlns:a="http://schemas.openxmlformats.org/drawingml/2006/main">
              <a:ext uri="{FF2B5EF4-FFF2-40B4-BE49-F238E27FC236}">
                <a16:creationId xmlns:a16="http://schemas.microsoft.com/office/drawing/2014/main" id="{A088A2E4-5779-4705-B15C-B198B4E9A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33625"/>
            <a:ext cx="1695450" cy="1714500"/>
          </a:xfrm>
          <a:prstGeom xmlns:a="http://schemas.openxmlformats.org/drawingml/2006/main" prst="roundRect">
            <a:avLst>
              <a:gd name="adj" fmla="val 22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7C8D6"/>
            </a:solidFill>
            <a:prstDash val="solid"/>
          </a:ln>
        </p:spPr>
      </p:sp>
      <p:sp>
        <p:nvSpPr>
          <p:cNvPr id="13" name="flow-title-1">
            <a:extLst xmlns:a="http://schemas.openxmlformats.org/drawingml/2006/main">
              <a:ext uri="{FF2B5EF4-FFF2-40B4-BE49-F238E27FC236}">
                <a16:creationId xmlns:a16="http://schemas.microsoft.com/office/drawing/2014/main" id="{C61820BE-EE2B-468B-8414-A4FE2CD4E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0325"/>
            <a:ext cx="142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4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Core</a:t>
            </a:r>
          </a:p>
        </p:txBody>
      </p:sp>
      <p:sp>
        <p:nvSpPr>
          <p:cNvPr id="14" name="flow-body-1">
            <a:extLst xmlns:a="http://schemas.openxmlformats.org/drawingml/2006/main">
              <a:ext uri="{FF2B5EF4-FFF2-40B4-BE49-F238E27FC236}">
                <a16:creationId xmlns:a16="http://schemas.microsoft.com/office/drawing/2014/main" id="{492B20B9-0C04-4E0F-A73C-EA35BCCA5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81350"/>
            <a:ext cx="142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通常は変更しない</a:t>
            </a:r>
          </a:p>
        </p:txBody>
      </p:sp>
      <p:sp>
        <p:nvSpPr>
          <p:cNvPr id="15" name="flow-box-2">
            <a:extLst xmlns:a="http://schemas.openxmlformats.org/drawingml/2006/main">
              <a:ext uri="{FF2B5EF4-FFF2-40B4-BE49-F238E27FC236}">
                <a16:creationId xmlns:a16="http://schemas.microsoft.com/office/drawing/2014/main" id="{33EAA83E-D56E-4263-9F59-FEB606CEE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333625"/>
            <a:ext cx="1695450" cy="1714500"/>
          </a:xfrm>
          <a:prstGeom xmlns:a="http://schemas.openxmlformats.org/drawingml/2006/main" prst="roundRect">
            <a:avLst>
              <a:gd name="adj" fmla="val 22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7C8D6"/>
            </a:solidFill>
            <a:prstDash val="solid"/>
          </a:ln>
        </p:spPr>
      </p:sp>
      <p:sp>
        <p:nvSpPr>
          <p:cNvPr id="16" name="flow-title-2">
            <a:extLst xmlns:a="http://schemas.openxmlformats.org/drawingml/2006/main">
              <a:ext uri="{FF2B5EF4-FFF2-40B4-BE49-F238E27FC236}">
                <a16:creationId xmlns:a16="http://schemas.microsoft.com/office/drawing/2014/main" id="{DCDF98B7-FD32-4030-AC02-F0C1F8C73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600325"/>
            <a:ext cx="142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4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Module</a:t>
            </a:r>
          </a:p>
        </p:txBody>
      </p:sp>
      <p:sp>
        <p:nvSpPr>
          <p:cNvPr id="17" name="flow-body-2">
            <a:extLst xmlns:a="http://schemas.openxmlformats.org/drawingml/2006/main">
              <a:ext uri="{FF2B5EF4-FFF2-40B4-BE49-F238E27FC236}">
                <a16:creationId xmlns:a16="http://schemas.microsoft.com/office/drawing/2014/main" id="{7A7103A8-036A-44A4-843A-B144FFB13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181350"/>
            <a:ext cx="142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担当能力だけ開発</a:t>
            </a:r>
          </a:p>
          <a:p xmlns:a="http://schemas.openxmlformats.org/drawingml/2006/main">
            <a:pPr algn="ctr">
              <a:buNone/>
              <a:defRPr sz="120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/>
            </a:r>
          </a:p>
        </p:txBody>
      </p:sp>
      <p:sp>
        <p:nvSpPr>
          <p:cNvPr id="18" name="flow-box-3">
            <a:extLst xmlns:a="http://schemas.openxmlformats.org/drawingml/2006/main">
              <a:ext uri="{FF2B5EF4-FFF2-40B4-BE49-F238E27FC236}">
                <a16:creationId xmlns:a16="http://schemas.microsoft.com/office/drawing/2014/main" id="{40B06EBC-6CA4-4A54-AFEB-5F6E19FA1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333625"/>
            <a:ext cx="1695450" cy="1714500"/>
          </a:xfrm>
          <a:prstGeom xmlns:a="http://schemas.openxmlformats.org/drawingml/2006/main" prst="roundRect">
            <a:avLst>
              <a:gd name="adj" fmla="val 22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7C8D6"/>
            </a:solidFill>
            <a:prstDash val="solid"/>
          </a:ln>
        </p:spPr>
      </p:sp>
      <p:sp>
        <p:nvSpPr>
          <p:cNvPr id="19" name="flow-title-3">
            <a:extLst xmlns:a="http://schemas.openxmlformats.org/drawingml/2006/main">
              <a:ext uri="{FF2B5EF4-FFF2-40B4-BE49-F238E27FC236}">
                <a16:creationId xmlns:a16="http://schemas.microsoft.com/office/drawing/2014/main" id="{8CFCBE8D-038E-4DEA-AF86-46D2E7A33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600325"/>
            <a:ext cx="142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4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Profile</a:t>
            </a:r>
          </a:p>
        </p:txBody>
      </p:sp>
      <p:sp>
        <p:nvSpPr>
          <p:cNvPr id="20" name="flow-body-3">
            <a:extLst xmlns:a="http://schemas.openxmlformats.org/drawingml/2006/main">
              <a:ext uri="{FF2B5EF4-FFF2-40B4-BE49-F238E27FC236}">
                <a16:creationId xmlns:a16="http://schemas.microsoft.com/office/drawing/2014/main" id="{9F67A01A-E845-4032-A60B-5FBE06A5A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181350"/>
            <a:ext cx="142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条件を保存</a:t>
            </a:r>
          </a:p>
        </p:txBody>
      </p:sp>
      <p:sp>
        <p:nvSpPr>
          <p:cNvPr id="21" name="flow-box-4">
            <a:extLst xmlns:a="http://schemas.openxmlformats.org/drawingml/2006/main">
              <a:ext uri="{FF2B5EF4-FFF2-40B4-BE49-F238E27FC236}">
                <a16:creationId xmlns:a16="http://schemas.microsoft.com/office/drawing/2014/main" id="{3DBBF726-7BA7-4752-921B-9CF0E36E9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333625"/>
            <a:ext cx="1695450" cy="1714500"/>
          </a:xfrm>
          <a:prstGeom xmlns:a="http://schemas.openxmlformats.org/drawingml/2006/main" prst="roundRect">
            <a:avLst>
              <a:gd name="adj" fmla="val 22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7C8D6"/>
            </a:solidFill>
            <a:prstDash val="solid"/>
          </a:ln>
        </p:spPr>
      </p:sp>
      <p:sp>
        <p:nvSpPr>
          <p:cNvPr id="22" name="flow-title-4">
            <a:extLst xmlns:a="http://schemas.openxmlformats.org/drawingml/2006/main">
              <a:ext uri="{FF2B5EF4-FFF2-40B4-BE49-F238E27FC236}">
                <a16:creationId xmlns:a16="http://schemas.microsoft.com/office/drawing/2014/main" id="{3057DAC3-F07C-4068-94B9-0E08FF122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600325"/>
            <a:ext cx="142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4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Manual</a:t>
            </a:r>
          </a:p>
        </p:txBody>
      </p:sp>
      <p:sp>
        <p:nvSpPr>
          <p:cNvPr id="23" name="flow-body-4">
            <a:extLst xmlns:a="http://schemas.openxmlformats.org/drawingml/2006/main">
              <a:ext uri="{FF2B5EF4-FFF2-40B4-BE49-F238E27FC236}">
                <a16:creationId xmlns:a16="http://schemas.microsoft.com/office/drawing/2014/main" id="{2D55E78B-C5C2-4DFB-A34F-5043C49DA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181350"/>
            <a:ext cx="142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利用・開発・排障</a:t>
            </a:r>
          </a:p>
        </p:txBody>
      </p:sp>
      <p:sp>
        <p:nvSpPr>
          <p:cNvPr id="24" name="flow-box-5">
            <a:extLst xmlns:a="http://schemas.openxmlformats.org/drawingml/2006/main">
              <a:ext uri="{FF2B5EF4-FFF2-40B4-BE49-F238E27FC236}">
                <a16:creationId xmlns:a16="http://schemas.microsoft.com/office/drawing/2014/main" id="{FB870EE1-B56F-449B-9DF2-760A1B24B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33625"/>
            <a:ext cx="1695450" cy="1714500"/>
          </a:xfrm>
          <a:prstGeom xmlns:a="http://schemas.openxmlformats.org/drawingml/2006/main" prst="roundRect">
            <a:avLst>
              <a:gd name="adj" fmla="val 22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7C8D6"/>
            </a:solidFill>
            <a:prstDash val="solid"/>
          </a:ln>
        </p:spPr>
      </p:sp>
      <p:sp>
        <p:nvSpPr>
          <p:cNvPr id="25" name="flow-title-5">
            <a:extLst xmlns:a="http://schemas.openxmlformats.org/drawingml/2006/main">
              <a:ext uri="{FF2B5EF4-FFF2-40B4-BE49-F238E27FC236}">
                <a16:creationId xmlns:a16="http://schemas.microsoft.com/office/drawing/2014/main" id="{83784CC1-3D5D-4FB8-92A5-A62A67883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600325"/>
            <a:ext cx="142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4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Sample</a:t>
            </a:r>
          </a:p>
        </p:txBody>
      </p:sp>
      <p:sp>
        <p:nvSpPr>
          <p:cNvPr id="26" name="flow-body-5">
            <a:extLst xmlns:a="http://schemas.openxmlformats.org/drawingml/2006/main">
              <a:ext uri="{FF2B5EF4-FFF2-40B4-BE49-F238E27FC236}">
                <a16:creationId xmlns:a16="http://schemas.microsoft.com/office/drawing/2014/main" id="{CF5F06B8-8ABF-44B7-8FB2-A9F5980CE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181350"/>
            <a:ext cx="142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実Dataなしで確認</a:t>
            </a:r>
          </a:p>
        </p:txBody>
      </p:sp>
      <p:sp>
        <p:nvSpPr>
          <p:cNvPr id="27" name="flow-box-6">
            <a:extLst xmlns:a="http://schemas.openxmlformats.org/drawingml/2006/main">
              <a:ext uri="{FF2B5EF4-FFF2-40B4-BE49-F238E27FC236}">
                <a16:creationId xmlns:a16="http://schemas.microsoft.com/office/drawing/2014/main" id="{EEE93533-BA63-41CE-958D-F4AC9D203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333625"/>
            <a:ext cx="1695450" cy="1714500"/>
          </a:xfrm>
          <a:prstGeom xmlns:a="http://schemas.openxmlformats.org/drawingml/2006/main" prst="roundRect">
            <a:avLst>
              <a:gd name="adj" fmla="val 2247"/>
            </a:avLst>
          </a:prstGeom>
          <a:solidFill xmlns:a="http://schemas.openxmlformats.org/drawingml/2006/main">
            <a:srgbClr val="E5F2EE"/>
          </a:solidFill>
          <a:ln xmlns:a="http://schemas.openxmlformats.org/drawingml/2006/main" w="14288">
            <a:solidFill>
              <a:srgbClr val="2F7D68"/>
            </a:solidFill>
            <a:prstDash val="solid"/>
          </a:ln>
        </p:spPr>
      </p:sp>
      <p:sp>
        <p:nvSpPr>
          <p:cNvPr id="28" name="flow-title-6">
            <a:extLst xmlns:a="http://schemas.openxmlformats.org/drawingml/2006/main">
              <a:ext uri="{FF2B5EF4-FFF2-40B4-BE49-F238E27FC236}">
                <a16:creationId xmlns:a16="http://schemas.microsoft.com/office/drawing/2014/main" id="{14231920-2C03-425E-9A6D-AA7FA40C4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600325"/>
            <a:ext cx="142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4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Version</a:t>
            </a:r>
          </a:p>
        </p:txBody>
      </p:sp>
      <p:sp>
        <p:nvSpPr>
          <p:cNvPr id="29" name="flow-body-6">
            <a:extLst xmlns:a="http://schemas.openxmlformats.org/drawingml/2006/main">
              <a:ext uri="{FF2B5EF4-FFF2-40B4-BE49-F238E27FC236}">
                <a16:creationId xmlns:a16="http://schemas.microsoft.com/office/drawing/2014/main" id="{E1E2F060-7F73-41DE-8C6E-734E7609E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181350"/>
            <a:ext cx="142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過去結果を保持</a:t>
            </a:r>
          </a:p>
          <a:p xmlns:a="http://schemas.openxmlformats.org/drawingml/2006/main">
            <a:pPr algn="ctr">
              <a:buNone/>
              <a:defRPr sz="120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/>
            </a:r>
          </a:p>
        </p:txBody>
      </p:sp>
      <p:sp>
        <p:nvSpPr>
          <p:cNvPr id="30" name="flow-conclusion">
            <a:extLst xmlns:a="http://schemas.openxmlformats.org/drawingml/2006/main">
              <a:ext uri="{FF2B5EF4-FFF2-40B4-BE49-F238E27FC236}">
                <a16:creationId xmlns:a16="http://schemas.microsoft.com/office/drawing/2014/main" id="{1A468857-ED6E-4BCB-B158-2203B07B4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953000"/>
            <a:ext cx="10096500" cy="7239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E7F0F6"/>
          </a:solidFill>
          <a:ln xmlns:a="http://schemas.openxmlformats.org/drawingml/2006/main" w="14288">
            <a:solidFill>
              <a:srgbClr val="173F5F"/>
            </a:solidFill>
            <a:prstDash val="solid"/>
          </a:ln>
        </p:spPr>
      </p:sp>
      <p:sp>
        <p:nvSpPr>
          <p:cNvPr id="31" name="flow-conclusion-text">
            <a:extLst xmlns:a="http://schemas.openxmlformats.org/drawingml/2006/main">
              <a:ext uri="{FF2B5EF4-FFF2-40B4-BE49-F238E27FC236}">
                <a16:creationId xmlns:a16="http://schemas.microsoft.com/office/drawing/2014/main" id="{98B85BF1-D65E-4AB8-B803-3BE8DD5AB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114925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7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責任を分け、変更範囲を小さくして保守難度を下げる</a:t>
            </a:r>
          </a:p>
        </p:txBody>
      </p:sp>
    </p:spTree>
    <p:extLst>
      <p:ext uri="{BB962C8B-B14F-4D97-AF65-F5344CB8AC3E}">
        <p14:creationId xmlns:p14="http://schemas.microsoft.com/office/powerpoint/2010/main" val="586225296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op-accent">
            <a:extLst xmlns:a="http://schemas.openxmlformats.org/drawingml/2006/main">
              <a:ext uri="{FF2B5EF4-FFF2-40B4-BE49-F238E27FC236}">
                <a16:creationId xmlns:a16="http://schemas.microsoft.com/office/drawing/2014/main" id="{89B1BDF6-03BC-4C3F-9677-0A27F32DE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F5F"/>
          </a:solidFill>
          <a:ln xmlns:a="http://schemas.openxmlformats.org/drawingml/2006/main" w="0">
            <a:solidFill>
              <a:srgbClr val="173F5F"/>
            </a:solidFill>
            <a:prstDash val="solid"/>
          </a:ln>
        </p:spPr>
      </p:sp>
      <p:sp>
        <p:nvSpPr>
          <p:cNvPr id="2" name="deck-name">
            <a:extLst xmlns:a="http://schemas.openxmlformats.org/drawingml/2006/main">
              <a:ext uri="{FF2B5EF4-FFF2-40B4-BE49-F238E27FC236}">
                <a16:creationId xmlns:a16="http://schemas.microsoft.com/office/drawing/2014/main" id="{3861B3C5-9405-413A-8204-B05C31B1E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670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U001–U003 詳細説明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69A2D4E-FE20-4EF8-BC6D-8E9F1F92A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"/>
            <a:ext cx="11010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17324D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850" b="1">
                <a:solidFill>
                  <a:srgbClr val="17324D"/>
                </a:solidFill>
                <a:latin typeface="Hiragino Kaku Gothic ProN"/>
                <a:ea typeface="Hiragino Kaku Gothic ProN"/>
                <a:cs typeface="Hiragino Kaku Gothic ProN"/>
              </a:rPr>
              <a:t>補足：Moduleを増やすだけでは、経験は増えない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4C9F4BF3-9F8E-48F4-8C57-3E3E80C2C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90550" y="1381125"/>
            <a:ext cx="110109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7C8D6"/>
            </a:solidFill>
            <a:prstDash val="solid"/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91D92D56-D695-4835-80AF-3F1133676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34150"/>
            <a:ext cx="781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97222"/>
          </a:bodyPr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900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rPr>
              <a:t>ZHAO ZHILI  |  U-Series Detailed Review  |  2026-09-01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DA4DD73-79DC-45F4-A1D0-49D5133A3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524625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97222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900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rPr>
              <a:t>31</a:t>
            </a:r>
          </a:p>
        </p:txBody>
      </p:sp>
      <p:sp>
        <p:nvSpPr>
          <p:cNvPr id="7" name="col-title-0">
            <a:extLst xmlns:a="http://schemas.openxmlformats.org/drawingml/2006/main">
              <a:ext uri="{FF2B5EF4-FFF2-40B4-BE49-F238E27FC236}">
                <a16:creationId xmlns:a16="http://schemas.microsoft.com/office/drawing/2014/main" id="{C7297E31-7236-495A-91DF-798596334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100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能力としてのModule</a:t>
            </a:r>
          </a:p>
        </p:txBody>
      </p:sp>
      <p:sp>
        <p:nvSpPr>
          <p:cNvPr id="8" name="col-rule-0">
            <a:extLst xmlns:a="http://schemas.openxmlformats.org/drawingml/2006/main">
              <a:ext uri="{FF2B5EF4-FFF2-40B4-BE49-F238E27FC236}">
                <a16:creationId xmlns:a16="http://schemas.microsoft.com/office/drawing/2014/main" id="{B4BA3290-BDA0-48F5-B80F-8FE83B487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952500" y="2209800"/>
            <a:ext cx="4191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73F5F"/>
            </a:solidFill>
            <a:prstDash val="solid"/>
          </a:ln>
        </p:spPr>
      </p:sp>
      <p:sp>
        <p:nvSpPr>
          <p:cNvPr id="9" name="col-box-0">
            <a:extLst xmlns:a="http://schemas.openxmlformats.org/drawingml/2006/main">
              <a:ext uri="{FF2B5EF4-FFF2-40B4-BE49-F238E27FC236}">
                <a16:creationId xmlns:a16="http://schemas.microsoft.com/office/drawing/2014/main" id="{184224BD-89D4-4F16-A58F-429BFC723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4762500" cy="3143250"/>
          </a:xfrm>
          <a:prstGeom xmlns:a="http://schemas.openxmlformats.org/drawingml/2006/main" prst="roundRect">
            <a:avLst>
              <a:gd name="adj" fmla="val 12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7C8D6"/>
            </a:solidFill>
            <a:prstDash val="solid"/>
          </a:ln>
        </p:spPr>
      </p:sp>
      <p:sp>
        <p:nvSpPr>
          <p:cNvPr id="10" name="col-body-0">
            <a:extLst xmlns:a="http://schemas.openxmlformats.org/drawingml/2006/main">
              <a:ext uri="{FF2B5EF4-FFF2-40B4-BE49-F238E27FC236}">
                <a16:creationId xmlns:a16="http://schemas.microsoft.com/office/drawing/2014/main" id="{62BC1BB1-E2D3-4EF5-AD7A-521080877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28900"/>
            <a:ext cx="41148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marL="20" indent="-10">
              <a:spcAft>
                <a:spcPts val="7"/>
              </a:spcAft>
              <a:buChar char="•"/>
              <a:defRPr sz="135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一つの計算・判断</a:t>
            </a:r>
          </a:p>
          <a:p xmlns:a="http://schemas.openxmlformats.org/drawingml/2006/main">
            <a:pPr marL="20" indent="-10">
              <a:spcAft>
                <a:spcPts val="7"/>
              </a:spcAft>
              <a:buChar char="•"/>
              <a:defRPr sz="135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再利用可能なCode</a:t>
            </a:r>
          </a:p>
          <a:p xmlns:a="http://schemas.openxmlformats.org/drawingml/2006/main">
            <a:pPr marL="20" indent="-10">
              <a:spcAft>
                <a:spcPts val="7"/>
              </a:spcAft>
              <a:buChar char="•"/>
              <a:defRPr sz="135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Sampleで動作確認</a:t>
            </a:r>
          </a:p>
          <a:p xmlns:a="http://schemas.openxmlformats.org/drawingml/2006/main">
            <a:pPr marL="20" indent="-10">
              <a:spcAft>
                <a:spcPts val="7"/>
              </a:spcAft>
              <a:buChar char="•"/>
              <a:defRPr sz="135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適用前は仮説</a:t>
            </a:r>
          </a:p>
          <a:p xmlns:a="http://schemas.openxmlformats.org/drawingml/2006/main">
            <a:pPr marL="20" indent="-10">
              <a:spcAft>
                <a:spcPts val="7"/>
              </a:spcAft>
              <a:buChar char="•"/>
              <a:defRPr sz="135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数学とCodeの強み</a:t>
            </a:r>
          </a:p>
        </p:txBody>
      </p:sp>
      <p:sp>
        <p:nvSpPr>
          <p:cNvPr id="11" name="col-title-1">
            <a:extLst xmlns:a="http://schemas.openxmlformats.org/drawingml/2006/main">
              <a:ext uri="{FF2B5EF4-FFF2-40B4-BE49-F238E27FC236}">
                <a16:creationId xmlns:a16="http://schemas.microsoft.com/office/drawing/2014/main" id="{E3EFE1CE-03DC-4B8B-BBC1-F6B1ECDC4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5735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100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経験としての検証済み経路</a:t>
            </a:r>
          </a:p>
        </p:txBody>
      </p:sp>
      <p:sp>
        <p:nvSpPr>
          <p:cNvPr id="12" name="col-rule-1">
            <a:extLst xmlns:a="http://schemas.openxmlformats.org/drawingml/2006/main">
              <a:ext uri="{FF2B5EF4-FFF2-40B4-BE49-F238E27FC236}">
                <a16:creationId xmlns:a16="http://schemas.microsoft.com/office/drawing/2014/main" id="{7FBA8354-BC2F-48AE-BE75-990903335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6477000" y="2209800"/>
            <a:ext cx="4191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73F5F"/>
            </a:solidFill>
            <a:prstDash val="solid"/>
          </a:ln>
        </p:spPr>
      </p:sp>
      <p:sp>
        <p:nvSpPr>
          <p:cNvPr id="13" name="col-box-1">
            <a:extLst xmlns:a="http://schemas.openxmlformats.org/drawingml/2006/main">
              <a:ext uri="{FF2B5EF4-FFF2-40B4-BE49-F238E27FC236}">
                <a16:creationId xmlns:a16="http://schemas.microsoft.com/office/drawing/2014/main" id="{8CFD4C8D-1B84-43C6-96C7-081D51A42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81250"/>
            <a:ext cx="4762500" cy="3143250"/>
          </a:xfrm>
          <a:prstGeom xmlns:a="http://schemas.openxmlformats.org/drawingml/2006/main" prst="roundRect">
            <a:avLst>
              <a:gd name="adj" fmla="val 12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7C8D6"/>
            </a:solidFill>
            <a:prstDash val="solid"/>
          </a:ln>
        </p:spPr>
      </p:sp>
      <p:sp>
        <p:nvSpPr>
          <p:cNvPr id="14" name="col-body-1">
            <a:extLst xmlns:a="http://schemas.openxmlformats.org/drawingml/2006/main">
              <a:ext uri="{FF2B5EF4-FFF2-40B4-BE49-F238E27FC236}">
                <a16:creationId xmlns:a16="http://schemas.microsoft.com/office/drawing/2014/main" id="{9A970003-CC05-42C2-B419-53E33487F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628900"/>
            <a:ext cx="41148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marL="20" indent="-10">
              <a:spcAft>
                <a:spcPts val="7"/>
              </a:spcAft>
              <a:buChar char="•"/>
              <a:defRPr sz="135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実車課題に適用</a:t>
            </a:r>
          </a:p>
          <a:p xmlns:a="http://schemas.openxmlformats.org/drawingml/2006/main">
            <a:pPr marL="20" indent="-10">
              <a:spcAft>
                <a:spcPts val="7"/>
              </a:spcAft>
              <a:buChar char="•"/>
              <a:defRPr sz="135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映像とCANでReview</a:t>
            </a:r>
          </a:p>
          <a:p xmlns:a="http://schemas.openxmlformats.org/drawingml/2006/main">
            <a:pPr marL="20" indent="-10">
              <a:spcAft>
                <a:spcPts val="7"/>
              </a:spcAft>
              <a:buChar char="•"/>
              <a:defRPr sz="135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成功・失敗を記録</a:t>
            </a:r>
          </a:p>
          <a:p xmlns:a="http://schemas.openxmlformats.org/drawingml/2006/main">
            <a:pPr marL="20" indent="-10">
              <a:spcAft>
                <a:spcPts val="7"/>
              </a:spcAft>
              <a:buChar char="•"/>
              <a:defRPr sz="135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適用範囲を明記</a:t>
            </a:r>
          </a:p>
          <a:p xmlns:a="http://schemas.openxmlformats.org/drawingml/2006/main">
            <a:pPr marL="20" indent="-10">
              <a:spcAft>
                <a:spcPts val="7"/>
              </a:spcAft>
              <a:buChar char="•"/>
              <a:defRPr sz="135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Profile + Run + Review</a:t>
            </a:r>
          </a:p>
        </p:txBody>
      </p:sp>
      <p:sp>
        <p:nvSpPr>
          <p:cNvPr id="15" name="two-col-conclusion">
            <a:extLst xmlns:a="http://schemas.openxmlformats.org/drawingml/2006/main">
              <a:ext uri="{FF2B5EF4-FFF2-40B4-BE49-F238E27FC236}">
                <a16:creationId xmlns:a16="http://schemas.microsoft.com/office/drawing/2014/main" id="{DA6BFA64-F67F-4A79-8E4B-B80C28D41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810250"/>
            <a:ext cx="8953500" cy="4762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7F0F6"/>
          </a:solidFill>
          <a:ln xmlns:a="http://schemas.openxmlformats.org/drawingml/2006/main" w="14288">
            <a:solidFill>
              <a:srgbClr val="173F5F"/>
            </a:solidFill>
            <a:prstDash val="solid"/>
          </a:ln>
        </p:spPr>
      </p:sp>
      <p:sp>
        <p:nvSpPr>
          <p:cNvPr id="16" name="two-col-conclusion-text">
            <a:extLst xmlns:a="http://schemas.openxmlformats.org/drawingml/2006/main">
              <a:ext uri="{FF2B5EF4-FFF2-40B4-BE49-F238E27FC236}">
                <a16:creationId xmlns:a16="http://schemas.microsoft.com/office/drawing/2014/main" id="{1434F208-0620-482A-9807-7DDB7629B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5867400"/>
            <a:ext cx="847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57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数学・Codeの能力を、実車で確認されたTeam資産へ変える</a:t>
            </a:r>
          </a:p>
        </p:txBody>
      </p:sp>
    </p:spTree>
    <p:extLst>
      <p:ext uri="{BB962C8B-B14F-4D97-AF65-F5344CB8AC3E}">
        <p14:creationId xmlns:p14="http://schemas.microsoft.com/office/powerpoint/2010/main" val="1521358047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op-accent">
            <a:extLst xmlns:a="http://schemas.openxmlformats.org/drawingml/2006/main">
              <a:ext uri="{FF2B5EF4-FFF2-40B4-BE49-F238E27FC236}">
                <a16:creationId xmlns:a16="http://schemas.microsoft.com/office/drawing/2014/main" id="{89B1BDF6-03BC-4C3F-9677-0A27F32DE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F5F"/>
          </a:solidFill>
          <a:ln xmlns:a="http://schemas.openxmlformats.org/drawingml/2006/main" w="0">
            <a:solidFill>
              <a:srgbClr val="173F5F"/>
            </a:solidFill>
            <a:prstDash val="solid"/>
          </a:ln>
        </p:spPr>
      </p:sp>
      <p:sp>
        <p:nvSpPr>
          <p:cNvPr id="2" name="deck-name">
            <a:extLst xmlns:a="http://schemas.openxmlformats.org/drawingml/2006/main">
              <a:ext uri="{FF2B5EF4-FFF2-40B4-BE49-F238E27FC236}">
                <a16:creationId xmlns:a16="http://schemas.microsoft.com/office/drawing/2014/main" id="{3861B3C5-9405-413A-8204-B05C31B1E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670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U001–U003 詳細説明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69A2D4E-FE20-4EF8-BC6D-8E9F1F92A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"/>
            <a:ext cx="11010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17324D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850" b="1">
                <a:solidFill>
                  <a:srgbClr val="17324D"/>
                </a:solidFill>
                <a:latin typeface="Hiragino Kaku Gothic ProN"/>
                <a:ea typeface="Hiragino Kaku Gothic ProN"/>
                <a:cs typeface="Hiragino Kaku Gothic ProN"/>
              </a:rPr>
              <a:t>補足：なぜ、一つの巨大Programにしないのか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4C9F4BF3-9F8E-48F4-8C57-3E3E80C2C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90550" y="1381125"/>
            <a:ext cx="110109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7C8D6"/>
            </a:solidFill>
            <a:prstDash val="solid"/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91D92D56-D695-4835-80AF-3F1133676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34150"/>
            <a:ext cx="781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97222"/>
          </a:bodyPr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900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rPr>
              <a:t>ZHAO ZHILI  |  U-Series Detailed Review  |  2026-09-01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DA4DD73-79DC-45F4-A1D0-49D5133A3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524625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97222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900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rPr>
              <a:t>32</a:t>
            </a:r>
          </a:p>
        </p:txBody>
      </p:sp>
      <p:sp>
        <p:nvSpPr>
          <p:cNvPr id="7" name="col-title-0">
            <a:extLst xmlns:a="http://schemas.openxmlformats.org/drawingml/2006/main">
              <a:ext uri="{FF2B5EF4-FFF2-40B4-BE49-F238E27FC236}">
                <a16:creationId xmlns:a16="http://schemas.microsoft.com/office/drawing/2014/main" id="{C7297E31-7236-495A-91DF-798596334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100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一つにまとめた時の問題</a:t>
            </a:r>
          </a:p>
        </p:txBody>
      </p:sp>
      <p:sp>
        <p:nvSpPr>
          <p:cNvPr id="8" name="col-rule-0">
            <a:extLst xmlns:a="http://schemas.openxmlformats.org/drawingml/2006/main">
              <a:ext uri="{FF2B5EF4-FFF2-40B4-BE49-F238E27FC236}">
                <a16:creationId xmlns:a16="http://schemas.microsoft.com/office/drawing/2014/main" id="{B4BA3290-BDA0-48F5-B80F-8FE83B487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952500" y="2209800"/>
            <a:ext cx="4191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73F5F"/>
            </a:solidFill>
            <a:prstDash val="solid"/>
          </a:ln>
        </p:spPr>
      </p:sp>
      <p:sp>
        <p:nvSpPr>
          <p:cNvPr id="9" name="col-box-0">
            <a:extLst xmlns:a="http://schemas.openxmlformats.org/drawingml/2006/main">
              <a:ext uri="{FF2B5EF4-FFF2-40B4-BE49-F238E27FC236}">
                <a16:creationId xmlns:a16="http://schemas.microsoft.com/office/drawing/2014/main" id="{184224BD-89D4-4F16-A58F-429BFC723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4762500" cy="3143250"/>
          </a:xfrm>
          <a:prstGeom xmlns:a="http://schemas.openxmlformats.org/drawingml/2006/main" prst="roundRect">
            <a:avLst>
              <a:gd name="adj" fmla="val 12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7C8D6"/>
            </a:solidFill>
            <a:prstDash val="solid"/>
          </a:ln>
        </p:spPr>
      </p:sp>
      <p:sp>
        <p:nvSpPr>
          <p:cNvPr id="10" name="col-body-0">
            <a:extLst xmlns:a="http://schemas.openxmlformats.org/drawingml/2006/main">
              <a:ext uri="{FF2B5EF4-FFF2-40B4-BE49-F238E27FC236}">
                <a16:creationId xmlns:a16="http://schemas.microsoft.com/office/drawing/2014/main" id="{62BC1BB1-E2D3-4EF5-AD7A-521080877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28900"/>
            <a:ext cx="41148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marL="20" indent="-10">
              <a:spcAft>
                <a:spcPts val="7"/>
              </a:spcAft>
              <a:buChar char="•"/>
              <a:defRPr sz="135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入力変更が分析へ波及</a:t>
            </a:r>
          </a:p>
          <a:p xmlns:a="http://schemas.openxmlformats.org/drawingml/2006/main">
            <a:pPr marL="20" indent="-10">
              <a:spcAft>
                <a:spcPts val="7"/>
              </a:spcAft>
              <a:buChar char="•"/>
              <a:defRPr sz="135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分析変更がReviewへ波及</a:t>
            </a:r>
          </a:p>
          <a:p xmlns:a="http://schemas.openxmlformats.org/drawingml/2006/main">
            <a:pPr marL="20" indent="-10">
              <a:spcAft>
                <a:spcPts val="7"/>
              </a:spcAft>
              <a:buChar char="•"/>
              <a:defRPr sz="135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原因位置が分かりにくい</a:t>
            </a:r>
          </a:p>
          <a:p xmlns:a="http://schemas.openxmlformats.org/drawingml/2006/main">
            <a:pPr marL="20" indent="-10">
              <a:spcAft>
                <a:spcPts val="7"/>
              </a:spcAft>
              <a:buChar char="•"/>
              <a:defRPr sz="135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外部実装の範囲が広い</a:t>
            </a:r>
          </a:p>
          <a:p xmlns:a="http://schemas.openxmlformats.org/drawingml/2006/main">
            <a:pPr marL="20" indent="-10">
              <a:spcAft>
                <a:spcPts val="7"/>
              </a:spcAft>
              <a:buChar char="•"/>
              <a:defRPr sz="135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Version比較が難しい</a:t>
            </a:r>
          </a:p>
        </p:txBody>
      </p:sp>
      <p:sp>
        <p:nvSpPr>
          <p:cNvPr id="11" name="col-title-1">
            <a:extLst xmlns:a="http://schemas.openxmlformats.org/drawingml/2006/main">
              <a:ext uri="{FF2B5EF4-FFF2-40B4-BE49-F238E27FC236}">
                <a16:creationId xmlns:a16="http://schemas.microsoft.com/office/drawing/2014/main" id="{E3EFE1CE-03DC-4B8B-BBC1-F6B1ECDC4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5735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100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三つに分ける効果</a:t>
            </a:r>
          </a:p>
        </p:txBody>
      </p:sp>
      <p:sp>
        <p:nvSpPr>
          <p:cNvPr id="12" name="col-rule-1">
            <a:extLst xmlns:a="http://schemas.openxmlformats.org/drawingml/2006/main">
              <a:ext uri="{FF2B5EF4-FFF2-40B4-BE49-F238E27FC236}">
                <a16:creationId xmlns:a16="http://schemas.microsoft.com/office/drawing/2014/main" id="{7FBA8354-BC2F-48AE-BE75-990903335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6477000" y="2209800"/>
            <a:ext cx="4191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73F5F"/>
            </a:solidFill>
            <a:prstDash val="solid"/>
          </a:ln>
        </p:spPr>
      </p:sp>
      <p:sp>
        <p:nvSpPr>
          <p:cNvPr id="13" name="col-box-1">
            <a:extLst xmlns:a="http://schemas.openxmlformats.org/drawingml/2006/main">
              <a:ext uri="{FF2B5EF4-FFF2-40B4-BE49-F238E27FC236}">
                <a16:creationId xmlns:a16="http://schemas.microsoft.com/office/drawing/2014/main" id="{8CFD4C8D-1B84-43C6-96C7-081D51A42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81250"/>
            <a:ext cx="4762500" cy="3143250"/>
          </a:xfrm>
          <a:prstGeom xmlns:a="http://schemas.openxmlformats.org/drawingml/2006/main" prst="roundRect">
            <a:avLst>
              <a:gd name="adj" fmla="val 12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7C8D6"/>
            </a:solidFill>
            <a:prstDash val="solid"/>
          </a:ln>
        </p:spPr>
      </p:sp>
      <p:sp>
        <p:nvSpPr>
          <p:cNvPr id="14" name="col-body-1">
            <a:extLst xmlns:a="http://schemas.openxmlformats.org/drawingml/2006/main">
              <a:ext uri="{FF2B5EF4-FFF2-40B4-BE49-F238E27FC236}">
                <a16:creationId xmlns:a16="http://schemas.microsoft.com/office/drawing/2014/main" id="{9A970003-CC05-42C2-B419-53E33487F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628900"/>
            <a:ext cx="41148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marL="20" indent="-10">
              <a:spcAft>
                <a:spcPts val="7"/>
              </a:spcAft>
              <a:buChar char="•"/>
              <a:defRPr sz="135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責任が明確</a:t>
            </a:r>
          </a:p>
          <a:p xmlns:a="http://schemas.openxmlformats.org/drawingml/2006/main">
            <a:pPr marL="20" indent="-10">
              <a:spcAft>
                <a:spcPts val="7"/>
              </a:spcAft>
              <a:buChar char="•"/>
              <a:defRPr sz="135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独立してTest可能</a:t>
            </a:r>
          </a:p>
          <a:p xmlns:a="http://schemas.openxmlformats.org/drawingml/2006/main">
            <a:pPr marL="20" indent="-10">
              <a:spcAft>
                <a:spcPts val="7"/>
              </a:spcAft>
              <a:buChar char="•"/>
              <a:defRPr sz="135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交換範囲が小さい</a:t>
            </a:r>
          </a:p>
          <a:p xmlns:a="http://schemas.openxmlformats.org/drawingml/2006/main">
            <a:pPr marL="20" indent="-10">
              <a:spcAft>
                <a:spcPts val="7"/>
              </a:spcAft>
              <a:buChar char="•"/>
              <a:defRPr sz="135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既存Toolと接続しやすい</a:t>
            </a:r>
          </a:p>
          <a:p xmlns:a="http://schemas.openxmlformats.org/drawingml/2006/main">
            <a:pPr marL="20" indent="-10">
              <a:spcAft>
                <a:spcPts val="7"/>
              </a:spcAft>
              <a:buChar char="•"/>
              <a:defRPr sz="135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失敗位置を追える</a:t>
            </a:r>
          </a:p>
        </p:txBody>
      </p:sp>
      <p:sp>
        <p:nvSpPr>
          <p:cNvPr id="15" name="two-col-conclusion">
            <a:extLst xmlns:a="http://schemas.openxmlformats.org/drawingml/2006/main">
              <a:ext uri="{FF2B5EF4-FFF2-40B4-BE49-F238E27FC236}">
                <a16:creationId xmlns:a16="http://schemas.microsoft.com/office/drawing/2014/main" id="{DA6BFA64-F67F-4A79-8E4B-B80C28D41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810250"/>
            <a:ext cx="8953500" cy="4762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7F0F6"/>
          </a:solidFill>
          <a:ln xmlns:a="http://schemas.openxmlformats.org/drawingml/2006/main" w="14288">
            <a:solidFill>
              <a:srgbClr val="173F5F"/>
            </a:solidFill>
            <a:prstDash val="solid"/>
          </a:ln>
        </p:spPr>
      </p:sp>
      <p:sp>
        <p:nvSpPr>
          <p:cNvPr id="16" name="two-col-conclusion-text">
            <a:extLst xmlns:a="http://schemas.openxmlformats.org/drawingml/2006/main">
              <a:ext uri="{FF2B5EF4-FFF2-40B4-BE49-F238E27FC236}">
                <a16:creationId xmlns:a16="http://schemas.microsoft.com/office/drawing/2014/main" id="{1434F208-0620-482A-9807-7DDB7629B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5867400"/>
            <a:ext cx="847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57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利用は連続させ、内部責任は分離する</a:t>
            </a:r>
          </a:p>
        </p:txBody>
      </p:sp>
    </p:spTree>
    <p:extLst>
      <p:ext uri="{BB962C8B-B14F-4D97-AF65-F5344CB8AC3E}">
        <p14:creationId xmlns:p14="http://schemas.microsoft.com/office/powerpoint/2010/main" val="1521358047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top-accent">
            <a:extLst xmlns:a="http://schemas.openxmlformats.org/drawingml/2006/main">
              <a:ext uri="{FF2B5EF4-FFF2-40B4-BE49-F238E27FC236}">
                <a16:creationId xmlns:a16="http://schemas.microsoft.com/office/drawing/2014/main" id="{6209E79B-4422-45DE-8BB5-CC29FAC5E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F5F"/>
          </a:solidFill>
          <a:ln xmlns:a="http://schemas.openxmlformats.org/drawingml/2006/main" w="0">
            <a:solidFill>
              <a:srgbClr val="173F5F"/>
            </a:solidFill>
            <a:prstDash val="solid"/>
          </a:ln>
        </p:spPr>
      </p:sp>
      <p:sp>
        <p:nvSpPr>
          <p:cNvPr id="2" name="deck-name">
            <a:extLst xmlns:a="http://schemas.openxmlformats.org/drawingml/2006/main">
              <a:ext uri="{FF2B5EF4-FFF2-40B4-BE49-F238E27FC236}">
                <a16:creationId xmlns:a16="http://schemas.microsoft.com/office/drawing/2014/main" id="{1721907B-1DF8-4F2D-BDBB-DAB06DADC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670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U001–U003 詳細説明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CE7C8DA-7DD1-419C-A3AE-99CE4E575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"/>
            <a:ext cx="11010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17324D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850" b="1">
                <a:solidFill>
                  <a:srgbClr val="17324D"/>
                </a:solidFill>
                <a:latin typeface="Hiragino Kaku Gothic ProN"/>
                <a:ea typeface="Hiragino Kaku Gothic ProN"/>
                <a:cs typeface="Hiragino Kaku Gothic ProN"/>
              </a:rPr>
              <a:t>補足：Black Boxを防ぐ六つの記録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BEFA1F30-76A2-47F0-8A13-0CBBD6211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90550" y="1381125"/>
            <a:ext cx="110109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7C8D6"/>
            </a:solidFill>
            <a:prstDash val="solid"/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75728F57-D5B9-45C1-9455-3040FBAFE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34150"/>
            <a:ext cx="781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97222"/>
          </a:bodyPr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900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rPr>
              <a:t>ZHAO ZHILI  |  U-Series Detailed Review  |  2026-09-01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5D5359C7-3D18-486D-B7D3-8B78B12D1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524625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97222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900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rPr>
              <a:t>33</a:t>
            </a:r>
          </a:p>
        </p:txBody>
      </p:sp>
      <p:sp>
        <p:nvSpPr>
          <p:cNvPr id="7" name="flow-arrow-1">
            <a:extLst xmlns:a="http://schemas.openxmlformats.org/drawingml/2006/main">
              <a:ext uri="{FF2B5EF4-FFF2-40B4-BE49-F238E27FC236}">
                <a16:creationId xmlns:a16="http://schemas.microsoft.com/office/drawing/2014/main" id="{3862D7B0-2861-4E20-9D97-DDBAEBC06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2286000" y="3190875"/>
            <a:ext cx="228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B7C8D6"/>
            </a:solidFill>
            <a:prstDash val="solid"/>
          </a:ln>
        </p:spPr>
      </p:sp>
      <p:sp>
        <p:nvSpPr>
          <p:cNvPr id="8" name="flow-arrow-2">
            <a:extLst xmlns:a="http://schemas.openxmlformats.org/drawingml/2006/main">
              <a:ext uri="{FF2B5EF4-FFF2-40B4-BE49-F238E27FC236}">
                <a16:creationId xmlns:a16="http://schemas.microsoft.com/office/drawing/2014/main" id="{1F901E21-8F61-4ED9-B4B2-6BA70A05E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4133850" y="3190875"/>
            <a:ext cx="228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B7C8D6"/>
            </a:solidFill>
            <a:prstDash val="solid"/>
          </a:ln>
        </p:spPr>
      </p:sp>
      <p:sp>
        <p:nvSpPr>
          <p:cNvPr id="9" name="flow-arrow-3">
            <a:extLst xmlns:a="http://schemas.openxmlformats.org/drawingml/2006/main">
              <a:ext uri="{FF2B5EF4-FFF2-40B4-BE49-F238E27FC236}">
                <a16:creationId xmlns:a16="http://schemas.microsoft.com/office/drawing/2014/main" id="{D6810145-9195-4D09-B390-BB5D34B39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981700" y="3190875"/>
            <a:ext cx="228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B7C8D6"/>
            </a:solidFill>
            <a:prstDash val="solid"/>
          </a:ln>
        </p:spPr>
      </p:sp>
      <p:sp>
        <p:nvSpPr>
          <p:cNvPr id="10" name="flow-arrow-4">
            <a:extLst xmlns:a="http://schemas.openxmlformats.org/drawingml/2006/main">
              <a:ext uri="{FF2B5EF4-FFF2-40B4-BE49-F238E27FC236}">
                <a16:creationId xmlns:a16="http://schemas.microsoft.com/office/drawing/2014/main" id="{270CEFFB-F459-40AB-8F54-A23993E3C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7829550" y="3190875"/>
            <a:ext cx="228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B7C8D6"/>
            </a:solidFill>
            <a:prstDash val="solid"/>
          </a:ln>
        </p:spPr>
      </p:sp>
      <p:sp>
        <p:nvSpPr>
          <p:cNvPr id="11" name="flow-arrow-5">
            <a:extLst xmlns:a="http://schemas.openxmlformats.org/drawingml/2006/main">
              <a:ext uri="{FF2B5EF4-FFF2-40B4-BE49-F238E27FC236}">
                <a16:creationId xmlns:a16="http://schemas.microsoft.com/office/drawing/2014/main" id="{E7F6AEBF-1B67-4184-B216-7A65972AF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9677400" y="3190875"/>
            <a:ext cx="228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B7C8D6"/>
            </a:solidFill>
            <a:prstDash val="solid"/>
          </a:ln>
        </p:spPr>
      </p:sp>
      <p:sp>
        <p:nvSpPr>
          <p:cNvPr id="12" name="flow-box-1">
            <a:extLst xmlns:a="http://schemas.openxmlformats.org/drawingml/2006/main">
              <a:ext uri="{FF2B5EF4-FFF2-40B4-BE49-F238E27FC236}">
                <a16:creationId xmlns:a16="http://schemas.microsoft.com/office/drawing/2014/main" id="{FC60123A-00CE-4E12-B489-6861E9C0A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33625"/>
            <a:ext cx="1695450" cy="1714500"/>
          </a:xfrm>
          <a:prstGeom xmlns:a="http://schemas.openxmlformats.org/drawingml/2006/main" prst="roundRect">
            <a:avLst>
              <a:gd name="adj" fmla="val 22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7C8D6"/>
            </a:solidFill>
            <a:prstDash val="solid"/>
          </a:ln>
        </p:spPr>
      </p:sp>
      <p:sp>
        <p:nvSpPr>
          <p:cNvPr id="13" name="flow-title-1">
            <a:extLst xmlns:a="http://schemas.openxmlformats.org/drawingml/2006/main">
              <a:ext uri="{FF2B5EF4-FFF2-40B4-BE49-F238E27FC236}">
                <a16:creationId xmlns:a16="http://schemas.microsoft.com/office/drawing/2014/main" id="{8EE7FC25-7FFE-4D70-93AE-1B6D5C1A5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0325"/>
            <a:ext cx="142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4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課題</a:t>
            </a:r>
          </a:p>
        </p:txBody>
      </p:sp>
      <p:sp>
        <p:nvSpPr>
          <p:cNvPr id="14" name="flow-body-1">
            <a:extLst xmlns:a="http://schemas.openxmlformats.org/drawingml/2006/main">
              <a:ext uri="{FF2B5EF4-FFF2-40B4-BE49-F238E27FC236}">
                <a16:creationId xmlns:a16="http://schemas.microsoft.com/office/drawing/2014/main" id="{8AA49447-9CB0-4B5D-9DEE-357F4D1BB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81350"/>
            <a:ext cx="142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何を確認するか</a:t>
            </a:r>
          </a:p>
        </p:txBody>
      </p:sp>
      <p:sp>
        <p:nvSpPr>
          <p:cNvPr id="15" name="flow-box-2">
            <a:extLst xmlns:a="http://schemas.openxmlformats.org/drawingml/2006/main">
              <a:ext uri="{FF2B5EF4-FFF2-40B4-BE49-F238E27FC236}">
                <a16:creationId xmlns:a16="http://schemas.microsoft.com/office/drawing/2014/main" id="{DECDDACA-EAE8-4472-A0C2-6138131E1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333625"/>
            <a:ext cx="1695450" cy="1714500"/>
          </a:xfrm>
          <a:prstGeom xmlns:a="http://schemas.openxmlformats.org/drawingml/2006/main" prst="roundRect">
            <a:avLst>
              <a:gd name="adj" fmla="val 22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7C8D6"/>
            </a:solidFill>
            <a:prstDash val="solid"/>
          </a:ln>
        </p:spPr>
      </p:sp>
      <p:sp>
        <p:nvSpPr>
          <p:cNvPr id="16" name="flow-title-2">
            <a:extLst xmlns:a="http://schemas.openxmlformats.org/drawingml/2006/main">
              <a:ext uri="{FF2B5EF4-FFF2-40B4-BE49-F238E27FC236}">
                <a16:creationId xmlns:a16="http://schemas.microsoft.com/office/drawing/2014/main" id="{2AD66484-68DE-4C47-858E-E8F1578B4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600325"/>
            <a:ext cx="142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4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入力</a:t>
            </a:r>
          </a:p>
        </p:txBody>
      </p:sp>
      <p:sp>
        <p:nvSpPr>
          <p:cNvPr id="17" name="flow-body-2">
            <a:extLst xmlns:a="http://schemas.openxmlformats.org/drawingml/2006/main">
              <a:ext uri="{FF2B5EF4-FFF2-40B4-BE49-F238E27FC236}">
                <a16:creationId xmlns:a16="http://schemas.microsoft.com/office/drawing/2014/main" id="{3E51EAA8-6C6F-495D-A2A6-1FCFEEFB7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181350"/>
            <a:ext cx="142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Signal・単位・
対象</a:t>
            </a:r>
          </a:p>
        </p:txBody>
      </p:sp>
      <p:sp>
        <p:nvSpPr>
          <p:cNvPr id="18" name="flow-box-3">
            <a:extLst xmlns:a="http://schemas.openxmlformats.org/drawingml/2006/main">
              <a:ext uri="{FF2B5EF4-FFF2-40B4-BE49-F238E27FC236}">
                <a16:creationId xmlns:a16="http://schemas.microsoft.com/office/drawing/2014/main" id="{EB27E90C-C6FA-4AE5-B9FE-E71CD8D29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333625"/>
            <a:ext cx="1695450" cy="1714500"/>
          </a:xfrm>
          <a:prstGeom xmlns:a="http://schemas.openxmlformats.org/drawingml/2006/main" prst="roundRect">
            <a:avLst>
              <a:gd name="adj" fmla="val 22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7C8D6"/>
            </a:solidFill>
            <a:prstDash val="solid"/>
          </a:ln>
        </p:spPr>
      </p:sp>
      <p:sp>
        <p:nvSpPr>
          <p:cNvPr id="19" name="flow-title-3">
            <a:extLst xmlns:a="http://schemas.openxmlformats.org/drawingml/2006/main">
              <a:ext uri="{FF2B5EF4-FFF2-40B4-BE49-F238E27FC236}">
                <a16:creationId xmlns:a16="http://schemas.microsoft.com/office/drawing/2014/main" id="{3D58DB3E-444E-4715-B5DF-BEF6423A4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600325"/>
            <a:ext cx="142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4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方法</a:t>
            </a:r>
          </a:p>
        </p:txBody>
      </p:sp>
      <p:sp>
        <p:nvSpPr>
          <p:cNvPr id="20" name="flow-body-3">
            <a:extLst xmlns:a="http://schemas.openxmlformats.org/drawingml/2006/main">
              <a:ext uri="{FF2B5EF4-FFF2-40B4-BE49-F238E27FC236}">
                <a16:creationId xmlns:a16="http://schemas.microsoft.com/office/drawing/2014/main" id="{7272BC13-54AD-4973-8A0E-A40678E94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181350"/>
            <a:ext cx="142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計算と条件</a:t>
            </a:r>
          </a:p>
        </p:txBody>
      </p:sp>
      <p:sp>
        <p:nvSpPr>
          <p:cNvPr id="21" name="flow-box-4">
            <a:extLst xmlns:a="http://schemas.openxmlformats.org/drawingml/2006/main">
              <a:ext uri="{FF2B5EF4-FFF2-40B4-BE49-F238E27FC236}">
                <a16:creationId xmlns:a16="http://schemas.microsoft.com/office/drawing/2014/main" id="{147506D8-3B0B-4FE0-83E9-AA1D9A717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333625"/>
            <a:ext cx="1695450" cy="1714500"/>
          </a:xfrm>
          <a:prstGeom xmlns:a="http://schemas.openxmlformats.org/drawingml/2006/main" prst="roundRect">
            <a:avLst>
              <a:gd name="adj" fmla="val 22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7C8D6"/>
            </a:solidFill>
            <a:prstDash val="solid"/>
          </a:ln>
        </p:spPr>
      </p:sp>
      <p:sp>
        <p:nvSpPr>
          <p:cNvPr id="22" name="flow-title-4">
            <a:extLst xmlns:a="http://schemas.openxmlformats.org/drawingml/2006/main">
              <a:ext uri="{FF2B5EF4-FFF2-40B4-BE49-F238E27FC236}">
                <a16:creationId xmlns:a16="http://schemas.microsoft.com/office/drawing/2014/main" id="{D2F25FDA-CDC4-4A90-AABF-84F3106E8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600325"/>
            <a:ext cx="142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4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候補</a:t>
            </a:r>
          </a:p>
        </p:txBody>
      </p:sp>
      <p:sp>
        <p:nvSpPr>
          <p:cNvPr id="23" name="flow-body-4">
            <a:extLst xmlns:a="http://schemas.openxmlformats.org/drawingml/2006/main">
              <a:ext uri="{FF2B5EF4-FFF2-40B4-BE49-F238E27FC236}">
                <a16:creationId xmlns:a16="http://schemas.microsoft.com/office/drawing/2014/main" id="{A1D64EF8-C131-4CA0-A0BC-95C070F0A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181350"/>
            <a:ext cx="142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Frameと理由</a:t>
            </a:r>
          </a:p>
        </p:txBody>
      </p:sp>
      <p:sp>
        <p:nvSpPr>
          <p:cNvPr id="24" name="flow-box-5">
            <a:extLst xmlns:a="http://schemas.openxmlformats.org/drawingml/2006/main">
              <a:ext uri="{FF2B5EF4-FFF2-40B4-BE49-F238E27FC236}">
                <a16:creationId xmlns:a16="http://schemas.microsoft.com/office/drawing/2014/main" id="{10A7A31A-DB7F-4239-8CEC-5A14FFDC2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33625"/>
            <a:ext cx="1695450" cy="1714500"/>
          </a:xfrm>
          <a:prstGeom xmlns:a="http://schemas.openxmlformats.org/drawingml/2006/main" prst="roundRect">
            <a:avLst>
              <a:gd name="adj" fmla="val 22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7C8D6"/>
            </a:solidFill>
            <a:prstDash val="solid"/>
          </a:ln>
        </p:spPr>
      </p:sp>
      <p:sp>
        <p:nvSpPr>
          <p:cNvPr id="25" name="flow-title-5">
            <a:extLst xmlns:a="http://schemas.openxmlformats.org/drawingml/2006/main">
              <a:ext uri="{FF2B5EF4-FFF2-40B4-BE49-F238E27FC236}">
                <a16:creationId xmlns:a16="http://schemas.microsoft.com/office/drawing/2014/main" id="{B27E271A-2807-43EE-8A4A-AD0C08A62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600325"/>
            <a:ext cx="142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4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Evidence</a:t>
            </a:r>
          </a:p>
        </p:txBody>
      </p:sp>
      <p:sp>
        <p:nvSpPr>
          <p:cNvPr id="26" name="flow-body-5">
            <a:extLst xmlns:a="http://schemas.openxmlformats.org/drawingml/2006/main">
              <a:ext uri="{FF2B5EF4-FFF2-40B4-BE49-F238E27FC236}">
                <a16:creationId xmlns:a16="http://schemas.microsoft.com/office/drawing/2014/main" id="{56661279-26D5-4DE0-89AC-565BC7D7D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181350"/>
            <a:ext cx="142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Video・CAN</a:t>
            </a:r>
          </a:p>
        </p:txBody>
      </p:sp>
      <p:sp>
        <p:nvSpPr>
          <p:cNvPr id="27" name="flow-box-6">
            <a:extLst xmlns:a="http://schemas.openxmlformats.org/drawingml/2006/main">
              <a:ext uri="{FF2B5EF4-FFF2-40B4-BE49-F238E27FC236}">
                <a16:creationId xmlns:a16="http://schemas.microsoft.com/office/drawing/2014/main" id="{9DCC640B-9B50-49EA-97FF-A72D70D03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333625"/>
            <a:ext cx="1695450" cy="1714500"/>
          </a:xfrm>
          <a:prstGeom xmlns:a="http://schemas.openxmlformats.org/drawingml/2006/main" prst="roundRect">
            <a:avLst>
              <a:gd name="adj" fmla="val 2247"/>
            </a:avLst>
          </a:prstGeom>
          <a:solidFill xmlns:a="http://schemas.openxmlformats.org/drawingml/2006/main">
            <a:srgbClr val="E5F2EE"/>
          </a:solidFill>
          <a:ln xmlns:a="http://schemas.openxmlformats.org/drawingml/2006/main" w="14288">
            <a:solidFill>
              <a:srgbClr val="2F7D68"/>
            </a:solidFill>
            <a:prstDash val="solid"/>
          </a:ln>
        </p:spPr>
      </p:sp>
      <p:sp>
        <p:nvSpPr>
          <p:cNvPr id="28" name="flow-title-6">
            <a:extLst xmlns:a="http://schemas.openxmlformats.org/drawingml/2006/main">
              <a:ext uri="{FF2B5EF4-FFF2-40B4-BE49-F238E27FC236}">
                <a16:creationId xmlns:a16="http://schemas.microsoft.com/office/drawing/2014/main" id="{7CAC8D28-CC0C-40DA-B770-A6E3FCA72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600325"/>
            <a:ext cx="142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4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判断</a:t>
            </a:r>
          </a:p>
        </p:txBody>
      </p:sp>
      <p:sp>
        <p:nvSpPr>
          <p:cNvPr id="29" name="flow-body-6">
            <a:extLst xmlns:a="http://schemas.openxmlformats.org/drawingml/2006/main">
              <a:ext uri="{FF2B5EF4-FFF2-40B4-BE49-F238E27FC236}">
                <a16:creationId xmlns:a16="http://schemas.microsoft.com/office/drawing/2014/main" id="{C44E7A93-251D-49F9-A085-B3F32950C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181350"/>
            <a:ext cx="142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Engineer Memo</a:t>
            </a:r>
          </a:p>
          <a:p xmlns:a="http://schemas.openxmlformats.org/drawingml/2006/main">
            <a:pPr algn="ctr">
              <a:buNone/>
              <a:defRPr sz="120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/>
            </a:r>
          </a:p>
        </p:txBody>
      </p:sp>
      <p:sp>
        <p:nvSpPr>
          <p:cNvPr id="30" name="flow-conclusion">
            <a:extLst xmlns:a="http://schemas.openxmlformats.org/drawingml/2006/main">
              <a:ext uri="{FF2B5EF4-FFF2-40B4-BE49-F238E27FC236}">
                <a16:creationId xmlns:a16="http://schemas.microsoft.com/office/drawing/2014/main" id="{E2BAB2AF-9512-4A51-8A8A-E333685DC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953000"/>
            <a:ext cx="10096500" cy="7239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E7F0F6"/>
          </a:solidFill>
          <a:ln xmlns:a="http://schemas.openxmlformats.org/drawingml/2006/main" w="14288">
            <a:solidFill>
              <a:srgbClr val="173F5F"/>
            </a:solidFill>
            <a:prstDash val="solid"/>
          </a:ln>
        </p:spPr>
      </p:sp>
      <p:sp>
        <p:nvSpPr>
          <p:cNvPr id="31" name="flow-conclusion-text">
            <a:extLst xmlns:a="http://schemas.openxmlformats.org/drawingml/2006/main">
              <a:ext uri="{FF2B5EF4-FFF2-40B4-BE49-F238E27FC236}">
                <a16:creationId xmlns:a16="http://schemas.microsoft.com/office/drawing/2014/main" id="{AEC4F46B-95DC-4797-A40A-B187925FD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114925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7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Scoreだけを出さず、判断まで戻れる経路を残す</a:t>
            </a:r>
          </a:p>
        </p:txBody>
      </p:sp>
    </p:spTree>
    <p:extLst>
      <p:ext uri="{BB962C8B-B14F-4D97-AF65-F5344CB8AC3E}">
        <p14:creationId xmlns:p14="http://schemas.microsoft.com/office/powerpoint/2010/main" val="808868782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top-accent">
            <a:extLst xmlns:a="http://schemas.openxmlformats.org/drawingml/2006/main">
              <a:ext uri="{FF2B5EF4-FFF2-40B4-BE49-F238E27FC236}">
                <a16:creationId xmlns:a16="http://schemas.microsoft.com/office/drawing/2014/main" id="{669684B9-BFE4-4359-8FB8-52A163655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F5F"/>
          </a:solidFill>
          <a:ln xmlns:a="http://schemas.openxmlformats.org/drawingml/2006/main" w="0">
            <a:solidFill>
              <a:srgbClr val="173F5F"/>
            </a:solidFill>
            <a:prstDash val="solid"/>
          </a:ln>
        </p:spPr>
      </p:sp>
      <p:sp>
        <p:nvSpPr>
          <p:cNvPr id="2" name="deck-name">
            <a:extLst xmlns:a="http://schemas.openxmlformats.org/drawingml/2006/main">
              <a:ext uri="{FF2B5EF4-FFF2-40B4-BE49-F238E27FC236}">
                <a16:creationId xmlns:a16="http://schemas.microsoft.com/office/drawing/2014/main" id="{519D2CFC-5ECD-4EFC-9200-86358A61F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670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U001–U003 詳細説明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62EF207-1034-4A10-A6BA-1913ED71E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"/>
            <a:ext cx="11010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17324D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550" b="1">
                <a:solidFill>
                  <a:srgbClr val="17324D"/>
                </a:solidFill>
                <a:latin typeface="Hiragino Kaku Gothic ProN"/>
                <a:ea typeface="Hiragino Kaku Gothic ProN"/>
                <a:cs typeface="Hiragino Kaku Gothic ProN"/>
              </a:rPr>
              <a:t>補足：既存Toolと外部支援を、どこへ接続するか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D322F048-659D-44AB-9BD3-DB0C8E6F3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90550" y="1381125"/>
            <a:ext cx="110109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7C8D6"/>
            </a:solidFill>
            <a:prstDash val="solid"/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A85705AB-3231-4D60-A934-71BBC7A7D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34150"/>
            <a:ext cx="781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97222"/>
          </a:bodyPr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900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rPr>
              <a:t>ZHAO ZHILI  |  U-Series Detailed Review  |  2026-09-01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377116A-C582-488C-ABE0-4E897586E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524625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97222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900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rPr>
              <a:t>34</a:t>
            </a:r>
          </a:p>
        </p:txBody>
      </p:sp>
      <p:sp>
        <p:nvSpPr>
          <p:cNvPr id="7" name="flow-arrow-1">
            <a:extLst xmlns:a="http://schemas.openxmlformats.org/drawingml/2006/main">
              <a:ext uri="{FF2B5EF4-FFF2-40B4-BE49-F238E27FC236}">
                <a16:creationId xmlns:a16="http://schemas.microsoft.com/office/drawing/2014/main" id="{F284D5C2-F5D9-406F-824C-11F1ACD50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2286000" y="3190875"/>
            <a:ext cx="228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B7C8D6"/>
            </a:solidFill>
            <a:prstDash val="solid"/>
          </a:ln>
        </p:spPr>
      </p:sp>
      <p:sp>
        <p:nvSpPr>
          <p:cNvPr id="8" name="flow-arrow-2">
            <a:extLst xmlns:a="http://schemas.openxmlformats.org/drawingml/2006/main">
              <a:ext uri="{FF2B5EF4-FFF2-40B4-BE49-F238E27FC236}">
                <a16:creationId xmlns:a16="http://schemas.microsoft.com/office/drawing/2014/main" id="{80D9E487-2E92-4DF2-A977-B37F286F2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4133850" y="3190875"/>
            <a:ext cx="228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B7C8D6"/>
            </a:solidFill>
            <a:prstDash val="solid"/>
          </a:ln>
        </p:spPr>
      </p:sp>
      <p:sp>
        <p:nvSpPr>
          <p:cNvPr id="9" name="flow-arrow-3">
            <a:extLst xmlns:a="http://schemas.openxmlformats.org/drawingml/2006/main">
              <a:ext uri="{FF2B5EF4-FFF2-40B4-BE49-F238E27FC236}">
                <a16:creationId xmlns:a16="http://schemas.microsoft.com/office/drawing/2014/main" id="{7A5257C4-F9B2-4B70-B156-D3A10E89E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981700" y="3190875"/>
            <a:ext cx="228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B7C8D6"/>
            </a:solidFill>
            <a:prstDash val="solid"/>
          </a:ln>
        </p:spPr>
      </p:sp>
      <p:sp>
        <p:nvSpPr>
          <p:cNvPr id="10" name="flow-arrow-4">
            <a:extLst xmlns:a="http://schemas.openxmlformats.org/drawingml/2006/main">
              <a:ext uri="{FF2B5EF4-FFF2-40B4-BE49-F238E27FC236}">
                <a16:creationId xmlns:a16="http://schemas.microsoft.com/office/drawing/2014/main" id="{CE3205CD-7559-4D2D-8684-78E4232BA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7829550" y="3190875"/>
            <a:ext cx="228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B7C8D6"/>
            </a:solidFill>
            <a:prstDash val="solid"/>
          </a:ln>
        </p:spPr>
      </p:sp>
      <p:sp>
        <p:nvSpPr>
          <p:cNvPr id="11" name="flow-arrow-5">
            <a:extLst xmlns:a="http://schemas.openxmlformats.org/drawingml/2006/main">
              <a:ext uri="{FF2B5EF4-FFF2-40B4-BE49-F238E27FC236}">
                <a16:creationId xmlns:a16="http://schemas.microsoft.com/office/drawing/2014/main" id="{3FF7F08E-27F4-4814-B9EA-1C62443BA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9677400" y="3190875"/>
            <a:ext cx="228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B7C8D6"/>
            </a:solidFill>
            <a:prstDash val="solid"/>
          </a:ln>
        </p:spPr>
      </p:sp>
      <p:sp>
        <p:nvSpPr>
          <p:cNvPr id="12" name="flow-box-1">
            <a:extLst xmlns:a="http://schemas.openxmlformats.org/drawingml/2006/main">
              <a:ext uri="{FF2B5EF4-FFF2-40B4-BE49-F238E27FC236}">
                <a16:creationId xmlns:a16="http://schemas.microsoft.com/office/drawing/2014/main" id="{A088A2E4-5779-4705-B15C-B198B4E9A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33625"/>
            <a:ext cx="1695450" cy="1714500"/>
          </a:xfrm>
          <a:prstGeom xmlns:a="http://schemas.openxmlformats.org/drawingml/2006/main" prst="roundRect">
            <a:avLst>
              <a:gd name="adj" fmla="val 22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7C8D6"/>
            </a:solidFill>
            <a:prstDash val="solid"/>
          </a:ln>
        </p:spPr>
      </p:sp>
      <p:sp>
        <p:nvSpPr>
          <p:cNvPr id="13" name="flow-title-1">
            <a:extLst xmlns:a="http://schemas.openxmlformats.org/drawingml/2006/main">
              <a:ext uri="{FF2B5EF4-FFF2-40B4-BE49-F238E27FC236}">
                <a16:creationId xmlns:a16="http://schemas.microsoft.com/office/drawing/2014/main" id="{C61820BE-EE2B-468B-8414-A4FE2CD4E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0325"/>
            <a:ext cx="142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4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CanView</a:t>
            </a:r>
          </a:p>
        </p:txBody>
      </p:sp>
      <p:sp>
        <p:nvSpPr>
          <p:cNvPr id="14" name="flow-body-1">
            <a:extLst xmlns:a="http://schemas.openxmlformats.org/drawingml/2006/main">
              <a:ext uri="{FF2B5EF4-FFF2-40B4-BE49-F238E27FC236}">
                <a16:creationId xmlns:a16="http://schemas.microsoft.com/office/drawing/2014/main" id="{492B20B9-0C04-4E0F-A73C-EA35BCCA5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81350"/>
            <a:ext cx="142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既存確認を継続</a:t>
            </a:r>
          </a:p>
        </p:txBody>
      </p:sp>
      <p:sp>
        <p:nvSpPr>
          <p:cNvPr id="15" name="flow-box-2">
            <a:extLst xmlns:a="http://schemas.openxmlformats.org/drawingml/2006/main">
              <a:ext uri="{FF2B5EF4-FFF2-40B4-BE49-F238E27FC236}">
                <a16:creationId xmlns:a16="http://schemas.microsoft.com/office/drawing/2014/main" id="{33EAA83E-D56E-4263-9F59-FEB606CEE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333625"/>
            <a:ext cx="1695450" cy="1714500"/>
          </a:xfrm>
          <a:prstGeom xmlns:a="http://schemas.openxmlformats.org/drawingml/2006/main" prst="roundRect">
            <a:avLst>
              <a:gd name="adj" fmla="val 22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7C8D6"/>
            </a:solidFill>
            <a:prstDash val="solid"/>
          </a:ln>
        </p:spPr>
      </p:sp>
      <p:sp>
        <p:nvSpPr>
          <p:cNvPr id="16" name="flow-title-2">
            <a:extLst xmlns:a="http://schemas.openxmlformats.org/drawingml/2006/main">
              <a:ext uri="{FF2B5EF4-FFF2-40B4-BE49-F238E27FC236}">
                <a16:creationId xmlns:a16="http://schemas.microsoft.com/office/drawing/2014/main" id="{DCDF98B7-FD32-4030-AC02-F0C1F8C73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600325"/>
            <a:ext cx="142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4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社内</a:t>
            </a:r>
          </a:p>
        </p:txBody>
      </p:sp>
      <p:sp>
        <p:nvSpPr>
          <p:cNvPr id="17" name="flow-body-2">
            <a:extLst xmlns:a="http://schemas.openxmlformats.org/drawingml/2006/main">
              <a:ext uri="{FF2B5EF4-FFF2-40B4-BE49-F238E27FC236}">
                <a16:creationId xmlns:a16="http://schemas.microsoft.com/office/drawing/2014/main" id="{7A7103A8-036A-44A4-843A-B144FFB13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181350"/>
            <a:ext cx="142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評価定義を決める</a:t>
            </a:r>
          </a:p>
          <a:p xmlns:a="http://schemas.openxmlformats.org/drawingml/2006/main">
            <a:pPr algn="ctr">
              <a:buNone/>
              <a:defRPr sz="120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/>
            </a:r>
          </a:p>
        </p:txBody>
      </p:sp>
      <p:sp>
        <p:nvSpPr>
          <p:cNvPr id="18" name="flow-box-3">
            <a:extLst xmlns:a="http://schemas.openxmlformats.org/drawingml/2006/main">
              <a:ext uri="{FF2B5EF4-FFF2-40B4-BE49-F238E27FC236}">
                <a16:creationId xmlns:a16="http://schemas.microsoft.com/office/drawing/2014/main" id="{40B06EBC-6CA4-4A54-AFEB-5F6E19FA1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333625"/>
            <a:ext cx="1695450" cy="1714500"/>
          </a:xfrm>
          <a:prstGeom xmlns:a="http://schemas.openxmlformats.org/drawingml/2006/main" prst="roundRect">
            <a:avLst>
              <a:gd name="adj" fmla="val 22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7C8D6"/>
            </a:solidFill>
            <a:prstDash val="solid"/>
          </a:ln>
        </p:spPr>
      </p:sp>
      <p:sp>
        <p:nvSpPr>
          <p:cNvPr id="19" name="flow-title-3">
            <a:extLst xmlns:a="http://schemas.openxmlformats.org/drawingml/2006/main">
              <a:ext uri="{FF2B5EF4-FFF2-40B4-BE49-F238E27FC236}">
                <a16:creationId xmlns:a16="http://schemas.microsoft.com/office/drawing/2014/main" id="{8CFCBE8D-038E-4DEA-AF86-46D2E7A33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600325"/>
            <a:ext cx="142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4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HIENG</a:t>
            </a:r>
          </a:p>
        </p:txBody>
      </p:sp>
      <p:sp>
        <p:nvSpPr>
          <p:cNvPr id="20" name="flow-body-3">
            <a:extLst xmlns:a="http://schemas.openxmlformats.org/drawingml/2006/main">
              <a:ext uri="{FF2B5EF4-FFF2-40B4-BE49-F238E27FC236}">
                <a16:creationId xmlns:a16="http://schemas.microsoft.com/office/drawing/2014/main" id="{9F67A01A-E845-4032-A60B-5FBE06A5A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181350"/>
            <a:ext cx="142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Code Review・
Module実装</a:t>
            </a:r>
          </a:p>
        </p:txBody>
      </p:sp>
      <p:sp>
        <p:nvSpPr>
          <p:cNvPr id="21" name="flow-box-4">
            <a:extLst xmlns:a="http://schemas.openxmlformats.org/drawingml/2006/main">
              <a:ext uri="{FF2B5EF4-FFF2-40B4-BE49-F238E27FC236}">
                <a16:creationId xmlns:a16="http://schemas.microsoft.com/office/drawing/2014/main" id="{3DBBF726-7BA7-4752-921B-9CF0E36E9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333625"/>
            <a:ext cx="1695450" cy="1714500"/>
          </a:xfrm>
          <a:prstGeom xmlns:a="http://schemas.openxmlformats.org/drawingml/2006/main" prst="roundRect">
            <a:avLst>
              <a:gd name="adj" fmla="val 22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7C8D6"/>
            </a:solidFill>
            <a:prstDash val="solid"/>
          </a:ln>
        </p:spPr>
      </p:sp>
      <p:sp>
        <p:nvSpPr>
          <p:cNvPr id="22" name="flow-title-4">
            <a:extLst xmlns:a="http://schemas.openxmlformats.org/drawingml/2006/main">
              <a:ext uri="{FF2B5EF4-FFF2-40B4-BE49-F238E27FC236}">
                <a16:creationId xmlns:a16="http://schemas.microsoft.com/office/drawing/2014/main" id="{3057DAC3-F07C-4068-94B9-0E08FF122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600325"/>
            <a:ext cx="142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4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Interface</a:t>
            </a:r>
          </a:p>
        </p:txBody>
      </p:sp>
      <p:sp>
        <p:nvSpPr>
          <p:cNvPr id="23" name="flow-body-4">
            <a:extLst xmlns:a="http://schemas.openxmlformats.org/drawingml/2006/main">
              <a:ext uri="{FF2B5EF4-FFF2-40B4-BE49-F238E27FC236}">
                <a16:creationId xmlns:a16="http://schemas.microsoft.com/office/drawing/2014/main" id="{2D55E78B-C5C2-4DFB-A34F-5043C49DA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181350"/>
            <a:ext cx="142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固定入出力で接続</a:t>
            </a:r>
          </a:p>
        </p:txBody>
      </p:sp>
      <p:sp>
        <p:nvSpPr>
          <p:cNvPr id="24" name="flow-box-5">
            <a:extLst xmlns:a="http://schemas.openxmlformats.org/drawingml/2006/main">
              <a:ext uri="{FF2B5EF4-FFF2-40B4-BE49-F238E27FC236}">
                <a16:creationId xmlns:a16="http://schemas.microsoft.com/office/drawing/2014/main" id="{FB870EE1-B56F-449B-9DF2-760A1B24B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33625"/>
            <a:ext cx="1695450" cy="1714500"/>
          </a:xfrm>
          <a:prstGeom xmlns:a="http://schemas.openxmlformats.org/drawingml/2006/main" prst="roundRect">
            <a:avLst>
              <a:gd name="adj" fmla="val 22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7C8D6"/>
            </a:solidFill>
            <a:prstDash val="solid"/>
          </a:ln>
        </p:spPr>
      </p:sp>
      <p:sp>
        <p:nvSpPr>
          <p:cNvPr id="25" name="flow-title-5">
            <a:extLst xmlns:a="http://schemas.openxmlformats.org/drawingml/2006/main">
              <a:ext uri="{FF2B5EF4-FFF2-40B4-BE49-F238E27FC236}">
                <a16:creationId xmlns:a16="http://schemas.microsoft.com/office/drawing/2014/main" id="{83784CC1-3D5D-4FB8-92A5-A62A67883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600325"/>
            <a:ext cx="142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4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実車確認</a:t>
            </a:r>
          </a:p>
        </p:txBody>
      </p:sp>
      <p:sp>
        <p:nvSpPr>
          <p:cNvPr id="26" name="flow-body-5">
            <a:extLst xmlns:a="http://schemas.openxmlformats.org/drawingml/2006/main">
              <a:ext uri="{FF2B5EF4-FFF2-40B4-BE49-F238E27FC236}">
                <a16:creationId xmlns:a16="http://schemas.microsoft.com/office/drawing/2014/main" id="{CF5F06B8-8ABF-44B7-8FB2-A9F5980CE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181350"/>
            <a:ext cx="142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U003で意味を確認</a:t>
            </a:r>
          </a:p>
        </p:txBody>
      </p:sp>
      <p:sp>
        <p:nvSpPr>
          <p:cNvPr id="27" name="flow-box-6">
            <a:extLst xmlns:a="http://schemas.openxmlformats.org/drawingml/2006/main">
              <a:ext uri="{FF2B5EF4-FFF2-40B4-BE49-F238E27FC236}">
                <a16:creationId xmlns:a16="http://schemas.microsoft.com/office/drawing/2014/main" id="{EEE93533-BA63-41CE-958D-F4AC9D203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333625"/>
            <a:ext cx="1695450" cy="1714500"/>
          </a:xfrm>
          <a:prstGeom xmlns:a="http://schemas.openxmlformats.org/drawingml/2006/main" prst="roundRect">
            <a:avLst>
              <a:gd name="adj" fmla="val 2247"/>
            </a:avLst>
          </a:prstGeom>
          <a:solidFill xmlns:a="http://schemas.openxmlformats.org/drawingml/2006/main">
            <a:srgbClr val="E5F2EE"/>
          </a:solidFill>
          <a:ln xmlns:a="http://schemas.openxmlformats.org/drawingml/2006/main" w="14288">
            <a:solidFill>
              <a:srgbClr val="2F7D68"/>
            </a:solidFill>
            <a:prstDash val="solid"/>
          </a:ln>
        </p:spPr>
      </p:sp>
      <p:sp>
        <p:nvSpPr>
          <p:cNvPr id="28" name="flow-title-6">
            <a:extLst xmlns:a="http://schemas.openxmlformats.org/drawingml/2006/main">
              <a:ext uri="{FF2B5EF4-FFF2-40B4-BE49-F238E27FC236}">
                <a16:creationId xmlns:a16="http://schemas.microsoft.com/office/drawing/2014/main" id="{14231920-2C03-425E-9A6D-AA7FA40C4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600325"/>
            <a:ext cx="142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4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Profile</a:t>
            </a:r>
          </a:p>
        </p:txBody>
      </p:sp>
      <p:sp>
        <p:nvSpPr>
          <p:cNvPr id="29" name="flow-body-6">
            <a:extLst xmlns:a="http://schemas.openxmlformats.org/drawingml/2006/main">
              <a:ext uri="{FF2B5EF4-FFF2-40B4-BE49-F238E27FC236}">
                <a16:creationId xmlns:a16="http://schemas.microsoft.com/office/drawing/2014/main" id="{E1E2F060-7F73-41DE-8C6E-734E7609E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181350"/>
            <a:ext cx="142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適用条件を社内に残す</a:t>
            </a:r>
          </a:p>
          <a:p xmlns:a="http://schemas.openxmlformats.org/drawingml/2006/main">
            <a:pPr algn="ctr">
              <a:buNone/>
              <a:defRPr sz="120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/>
            </a:r>
          </a:p>
        </p:txBody>
      </p:sp>
      <p:sp>
        <p:nvSpPr>
          <p:cNvPr id="30" name="flow-conclusion">
            <a:extLst xmlns:a="http://schemas.openxmlformats.org/drawingml/2006/main">
              <a:ext uri="{FF2B5EF4-FFF2-40B4-BE49-F238E27FC236}">
                <a16:creationId xmlns:a16="http://schemas.microsoft.com/office/drawing/2014/main" id="{1A468857-ED6E-4BCB-B158-2203B07B4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953000"/>
            <a:ext cx="10096500" cy="7239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E7F0F6"/>
          </a:solidFill>
          <a:ln xmlns:a="http://schemas.openxmlformats.org/drawingml/2006/main" w="14288">
            <a:solidFill>
              <a:srgbClr val="173F5F"/>
            </a:solidFill>
            <a:prstDash val="solid"/>
          </a:ln>
        </p:spPr>
      </p:sp>
      <p:sp>
        <p:nvSpPr>
          <p:cNvPr id="31" name="flow-conclusion-text">
            <a:extLst xmlns:a="http://schemas.openxmlformats.org/drawingml/2006/main">
              <a:ext uri="{FF2B5EF4-FFF2-40B4-BE49-F238E27FC236}">
                <a16:creationId xmlns:a16="http://schemas.microsoft.com/office/drawing/2014/main" id="{98B85BF1-D65E-4AB8-B803-3BE8DD5AB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114925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7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外部実装を活用しても、評価定義と共通Data規則は管理する</a:t>
            </a:r>
          </a:p>
        </p:txBody>
      </p:sp>
    </p:spTree>
    <p:extLst>
      <p:ext uri="{BB962C8B-B14F-4D97-AF65-F5344CB8AC3E}">
        <p14:creationId xmlns:p14="http://schemas.microsoft.com/office/powerpoint/2010/main" val="586225296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top-accent">
            <a:extLst xmlns:a="http://schemas.openxmlformats.org/drawingml/2006/main">
              <a:ext uri="{FF2B5EF4-FFF2-40B4-BE49-F238E27FC236}">
                <a16:creationId xmlns:a16="http://schemas.microsoft.com/office/drawing/2014/main" id="{867D244C-5535-471F-A9A1-1E894EF59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F5F"/>
          </a:solidFill>
          <a:ln xmlns:a="http://schemas.openxmlformats.org/drawingml/2006/main" w="0">
            <a:solidFill>
              <a:srgbClr val="173F5F"/>
            </a:solidFill>
            <a:prstDash val="solid"/>
          </a:ln>
        </p:spPr>
      </p:sp>
      <p:sp>
        <p:nvSpPr>
          <p:cNvPr id="2" name="deck-name">
            <a:extLst xmlns:a="http://schemas.openxmlformats.org/drawingml/2006/main">
              <a:ext uri="{FF2B5EF4-FFF2-40B4-BE49-F238E27FC236}">
                <a16:creationId xmlns:a16="http://schemas.microsoft.com/office/drawing/2014/main" id="{055ED64B-6F35-4651-A022-F4D71F812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670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U001–U003 詳細説明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2D0DF82-6F1B-435D-A5F1-A3F032764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"/>
            <a:ext cx="11010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17324D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550" b="1">
                <a:solidFill>
                  <a:srgbClr val="17324D"/>
                </a:solidFill>
                <a:latin typeface="Hiragino Kaku Gothic ProN"/>
                <a:ea typeface="Hiragino Kaku Gothic ProN"/>
                <a:cs typeface="Hiragino Kaku Gothic ProN"/>
              </a:rPr>
              <a:t>補足：Projectを継続する価値は、工程結論で示す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ACFE170D-56EB-40FD-BB5B-DD7345C53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90550" y="1381125"/>
            <a:ext cx="110109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7C8D6"/>
            </a:solidFill>
            <a:prstDash val="solid"/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765AE7CC-62BB-46A5-9524-DCC1A2542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34150"/>
            <a:ext cx="781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97222"/>
          </a:bodyPr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900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rPr>
              <a:t>ZHAO ZHILI  |  U-Series Detailed Review  |  2026-09-01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0680B74-4583-494E-9002-CFD51A26D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524625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97222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900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rPr>
              <a:t>35</a:t>
            </a:r>
          </a:p>
        </p:txBody>
      </p:sp>
      <p:sp>
        <p:nvSpPr>
          <p:cNvPr id="7" name="flow-arrow-1">
            <a:extLst xmlns:a="http://schemas.openxmlformats.org/drawingml/2006/main">
              <a:ext uri="{FF2B5EF4-FFF2-40B4-BE49-F238E27FC236}">
                <a16:creationId xmlns:a16="http://schemas.microsoft.com/office/drawing/2014/main" id="{591C86C6-D8B5-475B-ABD9-554FEB818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2286000" y="3190875"/>
            <a:ext cx="228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B7C8D6"/>
            </a:solidFill>
            <a:prstDash val="solid"/>
          </a:ln>
        </p:spPr>
      </p:sp>
      <p:sp>
        <p:nvSpPr>
          <p:cNvPr id="8" name="flow-arrow-2">
            <a:extLst xmlns:a="http://schemas.openxmlformats.org/drawingml/2006/main">
              <a:ext uri="{FF2B5EF4-FFF2-40B4-BE49-F238E27FC236}">
                <a16:creationId xmlns:a16="http://schemas.microsoft.com/office/drawing/2014/main" id="{0AE02D62-3441-4F21-9034-A72572EF8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4133850" y="3190875"/>
            <a:ext cx="228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B7C8D6"/>
            </a:solidFill>
            <a:prstDash val="solid"/>
          </a:ln>
        </p:spPr>
      </p:sp>
      <p:sp>
        <p:nvSpPr>
          <p:cNvPr id="9" name="flow-arrow-3">
            <a:extLst xmlns:a="http://schemas.openxmlformats.org/drawingml/2006/main">
              <a:ext uri="{FF2B5EF4-FFF2-40B4-BE49-F238E27FC236}">
                <a16:creationId xmlns:a16="http://schemas.microsoft.com/office/drawing/2014/main" id="{EA0CD59C-6867-431D-9C2A-8A62C4EBC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981700" y="3190875"/>
            <a:ext cx="228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B7C8D6"/>
            </a:solidFill>
            <a:prstDash val="solid"/>
          </a:ln>
        </p:spPr>
      </p:sp>
      <p:sp>
        <p:nvSpPr>
          <p:cNvPr id="10" name="flow-arrow-4">
            <a:extLst xmlns:a="http://schemas.openxmlformats.org/drawingml/2006/main">
              <a:ext uri="{FF2B5EF4-FFF2-40B4-BE49-F238E27FC236}">
                <a16:creationId xmlns:a16="http://schemas.microsoft.com/office/drawing/2014/main" id="{FA5163AE-4F90-4180-A153-CB5787200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7829550" y="3190875"/>
            <a:ext cx="228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B7C8D6"/>
            </a:solidFill>
            <a:prstDash val="solid"/>
          </a:ln>
        </p:spPr>
      </p:sp>
      <p:sp>
        <p:nvSpPr>
          <p:cNvPr id="11" name="flow-arrow-5">
            <a:extLst xmlns:a="http://schemas.openxmlformats.org/drawingml/2006/main">
              <a:ext uri="{FF2B5EF4-FFF2-40B4-BE49-F238E27FC236}">
                <a16:creationId xmlns:a16="http://schemas.microsoft.com/office/drawing/2014/main" id="{AB2435DD-00F5-48C8-9428-56B6130FC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9677400" y="3190875"/>
            <a:ext cx="228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B7C8D6"/>
            </a:solidFill>
            <a:prstDash val="solid"/>
          </a:ln>
        </p:spPr>
      </p:sp>
      <p:sp>
        <p:nvSpPr>
          <p:cNvPr id="12" name="flow-box-1">
            <a:extLst xmlns:a="http://schemas.openxmlformats.org/drawingml/2006/main">
              <a:ext uri="{FF2B5EF4-FFF2-40B4-BE49-F238E27FC236}">
                <a16:creationId xmlns:a16="http://schemas.microsoft.com/office/drawing/2014/main" id="{3F7CED79-7990-4B3E-AE9B-5414CB860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33625"/>
            <a:ext cx="1695450" cy="1714500"/>
          </a:xfrm>
          <a:prstGeom xmlns:a="http://schemas.openxmlformats.org/drawingml/2006/main" prst="roundRect">
            <a:avLst>
              <a:gd name="adj" fmla="val 22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7C8D6"/>
            </a:solidFill>
            <a:prstDash val="solid"/>
          </a:ln>
        </p:spPr>
      </p:sp>
      <p:sp>
        <p:nvSpPr>
          <p:cNvPr id="13" name="flow-title-1">
            <a:extLst xmlns:a="http://schemas.openxmlformats.org/drawingml/2006/main">
              <a:ext uri="{FF2B5EF4-FFF2-40B4-BE49-F238E27FC236}">
                <a16:creationId xmlns:a16="http://schemas.microsoft.com/office/drawing/2014/main" id="{C5AB5390-3AB9-4548-9422-4617226F0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0325"/>
            <a:ext cx="142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4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基盤</a:t>
            </a:r>
          </a:p>
        </p:txBody>
      </p:sp>
      <p:sp>
        <p:nvSpPr>
          <p:cNvPr id="14" name="flow-body-1">
            <a:extLst xmlns:a="http://schemas.openxmlformats.org/drawingml/2006/main">
              <a:ext uri="{FF2B5EF4-FFF2-40B4-BE49-F238E27FC236}">
                <a16:creationId xmlns:a16="http://schemas.microsoft.com/office/drawing/2014/main" id="{DC24D2B1-ED98-4A53-BAE7-2F468F5AE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81350"/>
            <a:ext cx="142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9280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基本経路は成立</a:t>
            </a:r>
          </a:p>
          <a:p xmlns:a="http://schemas.openxmlformats.org/drawingml/2006/main">
            <a:pPr algn="ctr">
              <a:buNone/>
              <a:defRPr sz="120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/>
            </a:r>
          </a:p>
        </p:txBody>
      </p:sp>
      <p:sp>
        <p:nvSpPr>
          <p:cNvPr id="15" name="flow-box-2">
            <a:extLst xmlns:a="http://schemas.openxmlformats.org/drawingml/2006/main">
              <a:ext uri="{FF2B5EF4-FFF2-40B4-BE49-F238E27FC236}">
                <a16:creationId xmlns:a16="http://schemas.microsoft.com/office/drawing/2014/main" id="{2D9A0A43-4738-4AD6-9864-2DBAAA29C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333625"/>
            <a:ext cx="1695450" cy="1714500"/>
          </a:xfrm>
          <a:prstGeom xmlns:a="http://schemas.openxmlformats.org/drawingml/2006/main" prst="roundRect">
            <a:avLst>
              <a:gd name="adj" fmla="val 22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7C8D6"/>
            </a:solidFill>
            <a:prstDash val="solid"/>
          </a:ln>
        </p:spPr>
      </p:sp>
      <p:sp>
        <p:nvSpPr>
          <p:cNvPr id="16" name="flow-title-2">
            <a:extLst xmlns:a="http://schemas.openxmlformats.org/drawingml/2006/main">
              <a:ext uri="{FF2B5EF4-FFF2-40B4-BE49-F238E27FC236}">
                <a16:creationId xmlns:a16="http://schemas.microsoft.com/office/drawing/2014/main" id="{CF74FE5D-1B22-4329-9030-E013D1CBA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600325"/>
            <a:ext cx="142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4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工程課題</a:t>
            </a:r>
          </a:p>
        </p:txBody>
      </p:sp>
      <p:sp>
        <p:nvSpPr>
          <p:cNvPr id="17" name="flow-body-2">
            <a:extLst xmlns:a="http://schemas.openxmlformats.org/drawingml/2006/main">
              <a:ext uri="{FF2B5EF4-FFF2-40B4-BE49-F238E27FC236}">
                <a16:creationId xmlns:a16="http://schemas.microsoft.com/office/drawing/2014/main" id="{A7B05740-727F-4E05-A49B-DE2E6C245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181350"/>
            <a:ext cx="142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Camera要求を受ける</a:t>
            </a:r>
          </a:p>
          <a:p xmlns:a="http://schemas.openxmlformats.org/drawingml/2006/main">
            <a:pPr algn="ctr">
              <a:buNone/>
              <a:defRPr sz="120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/>
            </a:r>
          </a:p>
        </p:txBody>
      </p:sp>
      <p:sp>
        <p:nvSpPr>
          <p:cNvPr id="18" name="flow-box-3">
            <a:extLst xmlns:a="http://schemas.openxmlformats.org/drawingml/2006/main">
              <a:ext uri="{FF2B5EF4-FFF2-40B4-BE49-F238E27FC236}">
                <a16:creationId xmlns:a16="http://schemas.microsoft.com/office/drawing/2014/main" id="{AB7DB3CB-39B9-4DC3-8906-C783AB106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333625"/>
            <a:ext cx="1695450" cy="1714500"/>
          </a:xfrm>
          <a:prstGeom xmlns:a="http://schemas.openxmlformats.org/drawingml/2006/main" prst="roundRect">
            <a:avLst>
              <a:gd name="adj" fmla="val 22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7C8D6"/>
            </a:solidFill>
            <a:prstDash val="solid"/>
          </a:ln>
        </p:spPr>
      </p:sp>
      <p:sp>
        <p:nvSpPr>
          <p:cNvPr id="19" name="flow-title-3">
            <a:extLst xmlns:a="http://schemas.openxmlformats.org/drawingml/2006/main">
              <a:ext uri="{FF2B5EF4-FFF2-40B4-BE49-F238E27FC236}">
                <a16:creationId xmlns:a16="http://schemas.microsoft.com/office/drawing/2014/main" id="{3F82C685-7A74-47BF-9F07-12F8FA9D7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600325"/>
            <a:ext cx="142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4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学習</a:t>
            </a:r>
          </a:p>
        </p:txBody>
      </p:sp>
      <p:sp>
        <p:nvSpPr>
          <p:cNvPr id="20" name="flow-body-3">
            <a:extLst xmlns:a="http://schemas.openxmlformats.org/drawingml/2006/main">
              <a:ext uri="{FF2B5EF4-FFF2-40B4-BE49-F238E27FC236}">
                <a16:creationId xmlns:a16="http://schemas.microsoft.com/office/drawing/2014/main" id="{709631CA-8B64-4ACE-A934-8C8AC0C6D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181350"/>
            <a:ext cx="142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必要知識を補う</a:t>
            </a:r>
          </a:p>
        </p:txBody>
      </p:sp>
      <p:sp>
        <p:nvSpPr>
          <p:cNvPr id="21" name="flow-box-4">
            <a:extLst xmlns:a="http://schemas.openxmlformats.org/drawingml/2006/main">
              <a:ext uri="{FF2B5EF4-FFF2-40B4-BE49-F238E27FC236}">
                <a16:creationId xmlns:a16="http://schemas.microsoft.com/office/drawing/2014/main" id="{4DC2ADD3-37A2-4CD2-853E-546DD92BD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333625"/>
            <a:ext cx="1695450" cy="1714500"/>
          </a:xfrm>
          <a:prstGeom xmlns:a="http://schemas.openxmlformats.org/drawingml/2006/main" prst="roundRect">
            <a:avLst>
              <a:gd name="adj" fmla="val 22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7C8D6"/>
            </a:solidFill>
            <a:prstDash val="solid"/>
          </a:ln>
        </p:spPr>
      </p:sp>
      <p:sp>
        <p:nvSpPr>
          <p:cNvPr id="22" name="flow-title-4">
            <a:extLst xmlns:a="http://schemas.openxmlformats.org/drawingml/2006/main">
              <a:ext uri="{FF2B5EF4-FFF2-40B4-BE49-F238E27FC236}">
                <a16:creationId xmlns:a16="http://schemas.microsoft.com/office/drawing/2014/main" id="{AD1D3577-AFF7-4E12-AE37-F6D851B95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600325"/>
            <a:ext cx="142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4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Module</a:t>
            </a:r>
          </a:p>
        </p:txBody>
      </p:sp>
      <p:sp>
        <p:nvSpPr>
          <p:cNvPr id="23" name="flow-body-4">
            <a:extLst xmlns:a="http://schemas.openxmlformats.org/drawingml/2006/main">
              <a:ext uri="{FF2B5EF4-FFF2-40B4-BE49-F238E27FC236}">
                <a16:creationId xmlns:a16="http://schemas.microsoft.com/office/drawing/2014/main" id="{BE17810F-6119-42AB-AEE3-1483EC252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181350"/>
            <a:ext cx="142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分析能力を追加</a:t>
            </a:r>
          </a:p>
        </p:txBody>
      </p:sp>
      <p:sp>
        <p:nvSpPr>
          <p:cNvPr id="24" name="flow-box-5">
            <a:extLst xmlns:a="http://schemas.openxmlformats.org/drawingml/2006/main">
              <a:ext uri="{FF2B5EF4-FFF2-40B4-BE49-F238E27FC236}">
                <a16:creationId xmlns:a16="http://schemas.microsoft.com/office/drawing/2014/main" id="{4E434097-8B1C-4403-859B-18F8023AC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33625"/>
            <a:ext cx="1695450" cy="1714500"/>
          </a:xfrm>
          <a:prstGeom xmlns:a="http://schemas.openxmlformats.org/drawingml/2006/main" prst="roundRect">
            <a:avLst>
              <a:gd name="adj" fmla="val 22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7C8D6"/>
            </a:solidFill>
            <a:prstDash val="solid"/>
          </a:ln>
        </p:spPr>
      </p:sp>
      <p:sp>
        <p:nvSpPr>
          <p:cNvPr id="25" name="flow-title-5">
            <a:extLst xmlns:a="http://schemas.openxmlformats.org/drawingml/2006/main">
              <a:ext uri="{FF2B5EF4-FFF2-40B4-BE49-F238E27FC236}">
                <a16:creationId xmlns:a16="http://schemas.microsoft.com/office/drawing/2014/main" id="{81E14005-63ED-4B45-9EE3-8325DB5C1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600325"/>
            <a:ext cx="142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4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実車確認</a:t>
            </a:r>
          </a:p>
        </p:txBody>
      </p:sp>
      <p:sp>
        <p:nvSpPr>
          <p:cNvPr id="26" name="flow-body-5">
            <a:extLst xmlns:a="http://schemas.openxmlformats.org/drawingml/2006/main">
              <a:ext uri="{FF2B5EF4-FFF2-40B4-BE49-F238E27FC236}">
                <a16:creationId xmlns:a16="http://schemas.microsoft.com/office/drawing/2014/main" id="{15AF96C9-379D-4616-B8FF-10F38B07B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181350"/>
            <a:ext cx="142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結論と限界を確認</a:t>
            </a:r>
          </a:p>
        </p:txBody>
      </p:sp>
      <p:sp>
        <p:nvSpPr>
          <p:cNvPr id="27" name="flow-box-6">
            <a:extLst xmlns:a="http://schemas.openxmlformats.org/drawingml/2006/main">
              <a:ext uri="{FF2B5EF4-FFF2-40B4-BE49-F238E27FC236}">
                <a16:creationId xmlns:a16="http://schemas.microsoft.com/office/drawing/2014/main" id="{44AFD022-D47E-4B89-990A-E9B28F1E0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333625"/>
            <a:ext cx="1695450" cy="1714500"/>
          </a:xfrm>
          <a:prstGeom xmlns:a="http://schemas.openxmlformats.org/drawingml/2006/main" prst="roundRect">
            <a:avLst>
              <a:gd name="adj" fmla="val 2247"/>
            </a:avLst>
          </a:prstGeom>
          <a:solidFill xmlns:a="http://schemas.openxmlformats.org/drawingml/2006/main">
            <a:srgbClr val="E5F2EE"/>
          </a:solidFill>
          <a:ln xmlns:a="http://schemas.openxmlformats.org/drawingml/2006/main" w="14288">
            <a:solidFill>
              <a:srgbClr val="2F7D68"/>
            </a:solidFill>
            <a:prstDash val="solid"/>
          </a:ln>
        </p:spPr>
      </p:sp>
      <p:sp>
        <p:nvSpPr>
          <p:cNvPr id="28" name="flow-title-6">
            <a:extLst xmlns:a="http://schemas.openxmlformats.org/drawingml/2006/main">
              <a:ext uri="{FF2B5EF4-FFF2-40B4-BE49-F238E27FC236}">
                <a16:creationId xmlns:a16="http://schemas.microsoft.com/office/drawing/2014/main" id="{68A2584B-A239-4C78-AC5A-C3E778E97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600325"/>
            <a:ext cx="142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4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Team資産</a:t>
            </a:r>
          </a:p>
        </p:txBody>
      </p:sp>
      <p:sp>
        <p:nvSpPr>
          <p:cNvPr id="29" name="flow-body-6">
            <a:extLst xmlns:a="http://schemas.openxmlformats.org/drawingml/2006/main">
              <a:ext uri="{FF2B5EF4-FFF2-40B4-BE49-F238E27FC236}">
                <a16:creationId xmlns:a16="http://schemas.microsoft.com/office/drawing/2014/main" id="{85C5ACB4-F36E-4CB4-A6A1-91E7738C2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181350"/>
            <a:ext cx="142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検証済みProfileを蓄積</a:t>
            </a:r>
          </a:p>
        </p:txBody>
      </p:sp>
      <p:sp>
        <p:nvSpPr>
          <p:cNvPr id="30" name="flow-conclusion">
            <a:extLst xmlns:a="http://schemas.openxmlformats.org/drawingml/2006/main">
              <a:ext uri="{FF2B5EF4-FFF2-40B4-BE49-F238E27FC236}">
                <a16:creationId xmlns:a16="http://schemas.microsoft.com/office/drawing/2014/main" id="{EB667461-51A9-449C-98E7-94DB2ECE1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953000"/>
            <a:ext cx="10096500" cy="7239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E7F0F6"/>
          </a:solidFill>
          <a:ln xmlns:a="http://schemas.openxmlformats.org/drawingml/2006/main" w="14288">
            <a:solidFill>
              <a:srgbClr val="173F5F"/>
            </a:solidFill>
            <a:prstDash val="solid"/>
          </a:ln>
        </p:spPr>
      </p:sp>
      <p:sp>
        <p:nvSpPr>
          <p:cNvPr id="31" name="flow-conclusion-text">
            <a:extLst xmlns:a="http://schemas.openxmlformats.org/drawingml/2006/main">
              <a:ext uri="{FF2B5EF4-FFF2-40B4-BE49-F238E27FC236}">
                <a16:creationId xmlns:a16="http://schemas.microsoft.com/office/drawing/2014/main" id="{80610380-53FB-4656-8482-E71ECCAB1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114925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7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次の成果はProgram数ではなく、Cameraに関する再利用可能な工程結論</a:t>
            </a:r>
          </a:p>
        </p:txBody>
      </p:sp>
    </p:spTree>
    <p:extLst>
      <p:ext uri="{BB962C8B-B14F-4D97-AF65-F5344CB8AC3E}">
        <p14:creationId xmlns:p14="http://schemas.microsoft.com/office/powerpoint/2010/main" val="48799541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2026-09-01T05:56:42.1220000Z</dcterms:created>
  <dcterms:modified xsi:type="dcterms:W3CDTF">2026-09-01T05:56:42.1220000Z</dcterms:modified>
</coreProperties>
</file>